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14" r:id="rId1"/>
  </p:sldMasterIdLst>
  <p:notesMasterIdLst>
    <p:notesMasterId r:id="rId28"/>
  </p:notesMasterIdLst>
  <p:sldIdLst>
    <p:sldId id="256" r:id="rId2"/>
    <p:sldId id="257" r:id="rId3"/>
    <p:sldId id="258" r:id="rId4"/>
    <p:sldId id="259" r:id="rId5"/>
    <p:sldId id="260" r:id="rId6"/>
    <p:sldId id="261" r:id="rId7"/>
    <p:sldId id="279" r:id="rId8"/>
    <p:sldId id="263" r:id="rId9"/>
    <p:sldId id="264" r:id="rId10"/>
    <p:sldId id="265" r:id="rId11"/>
    <p:sldId id="285" r:id="rId12"/>
    <p:sldId id="278" r:id="rId13"/>
    <p:sldId id="269" r:id="rId14"/>
    <p:sldId id="270" r:id="rId15"/>
    <p:sldId id="271" r:id="rId16"/>
    <p:sldId id="282" r:id="rId17"/>
    <p:sldId id="280" r:id="rId18"/>
    <p:sldId id="281" r:id="rId19"/>
    <p:sldId id="283" r:id="rId20"/>
    <p:sldId id="284" r:id="rId21"/>
    <p:sldId id="274" r:id="rId22"/>
    <p:sldId id="288" r:id="rId23"/>
    <p:sldId id="286" r:id="rId24"/>
    <p:sldId id="275" r:id="rId25"/>
    <p:sldId id="277" r:id="rId26"/>
    <p:sldId id="287" r:id="rId27"/>
  </p:sldIdLst>
  <p:sldSz cx="9144000" cy="5143500" type="screen16x9"/>
  <p:notesSz cx="6858000" cy="9144000"/>
  <p:embeddedFontLst>
    <p:embeddedFont>
      <p:font typeface="Roboto" panose="02000000000000000000" pitchFamily="2" charset="0"/>
      <p:regular r:id="rId29"/>
      <p:bold r:id="rId30"/>
      <p:italic r:id="rId31"/>
      <p:boldItalic r:id="rId32"/>
    </p:embeddedFont>
    <p:embeddedFont>
      <p:font typeface="Trebuchet MS" panose="020B0603020202020204" pitchFamily="34" charset="0"/>
      <p:regular r:id="rId33"/>
      <p:bold r:id="rId34"/>
      <p:italic r:id="rId35"/>
      <p:boldItalic r:id="rId36"/>
    </p:embeddedFont>
    <p:embeddedFont>
      <p:font typeface="Wingdings 3" panose="05040102010807070707" pitchFamily="18" charset="2"/>
      <p:regular r:id="rId37"/>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2D5E"/>
    <a:srgbClr val="FFCF0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858"/>
    <p:restoredTop sz="92096" autoAdjust="0"/>
  </p:normalViewPr>
  <p:slideViewPr>
    <p:cSldViewPr snapToGrid="0">
      <p:cViewPr varScale="1">
        <p:scale>
          <a:sx n="188" d="100"/>
          <a:sy n="188" d="100"/>
        </p:scale>
        <p:origin x="1452" y="156"/>
      </p:cViewPr>
      <p:guideLst>
        <p:guide orient="horz" pos="1620"/>
        <p:guide pos="2880"/>
      </p:guideLst>
    </p:cSldViewPr>
  </p:slideViewPr>
  <p:notesTextViewPr>
    <p:cViewPr>
      <p:scale>
        <a:sx n="1" d="1"/>
        <a:sy n="1" d="1"/>
      </p:scale>
      <p:origin x="0" y="0"/>
    </p:cViewPr>
  </p:notesTextViewPr>
  <p:sorterViewPr>
    <p:cViewPr>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6.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pubmed.ncbi.nlm.nih.gov/34370014/" TargetMode="External"/><Relationship Id="rId2" Type="http://schemas.openxmlformats.org/officeDocument/2006/relationships/slide" Target="../slides/slide3.xml"/><Relationship Id="rId1" Type="http://schemas.openxmlformats.org/officeDocument/2006/relationships/notesMaster" Target="../notesMasters/notesMaster1.xml"/><Relationship Id="rId4" Type="http://schemas.openxmlformats.org/officeDocument/2006/relationships/hyperlink" Target="https://www.cambridge.org/core/journals/infection-control-and-hospital-epidemiology/article/continued-increases-in-hai-incidence-during-the-second-year-of-the-covid19-pandemic/6521FF7F27B97AD5B21BA4B8EA9888A4" TargetMode="Externa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pubmed.ncbi.nlm.nih.gov/32008720/"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pubmed.ncbi.nlm.nih.gov/29971436/" TargetMode="External"/><Relationship Id="rId2" Type="http://schemas.openxmlformats.org/officeDocument/2006/relationships/slide" Target="../slides/slide9.xml"/><Relationship Id="rId1" Type="http://schemas.openxmlformats.org/officeDocument/2006/relationships/notesMaster" Target="../notesMasters/notesMaster1.xml"/><Relationship Id="rId4" Type="http://schemas.openxmlformats.org/officeDocument/2006/relationships/hyperlink" Target="https://pubmed.ncbi.nlm.nih.gov/27317985/" TargetMode="Externa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g11a6c0d02c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 name="Google Shape;54;g11a6c0d02c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11ea81d1c24_0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11ea81d1c24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11a6c0d02c3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11a6c0d02c3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11150" algn="l" rtl="0">
              <a:lnSpc>
                <a:spcPct val="115000"/>
              </a:lnSpc>
              <a:spcBef>
                <a:spcPts val="0"/>
              </a:spcBef>
              <a:spcAft>
                <a:spcPts val="0"/>
              </a:spcAft>
              <a:buClr>
                <a:srgbClr val="595959"/>
              </a:buClr>
              <a:buSzPts val="1300"/>
              <a:buAutoNum type="arabicPeriod"/>
            </a:pPr>
            <a:r>
              <a:rPr lang="en" sz="1300">
                <a:solidFill>
                  <a:srgbClr val="595959"/>
                </a:solidFill>
              </a:rPr>
              <a:t>With so many demands at this time (COVID, Short-staffing, supply chain), we would like to explain why this project is important for our adult surgical patients – both ambulatory and inpatient- now.  </a:t>
            </a:r>
            <a:endParaRPr sz="1300">
              <a:solidFill>
                <a:srgbClr val="595959"/>
              </a:solidFill>
            </a:endParaRPr>
          </a:p>
          <a:p>
            <a:pPr marL="914400" lvl="1" indent="-311150" algn="l" rtl="0">
              <a:lnSpc>
                <a:spcPct val="115000"/>
              </a:lnSpc>
              <a:spcBef>
                <a:spcPts val="0"/>
              </a:spcBef>
              <a:spcAft>
                <a:spcPts val="0"/>
              </a:spcAft>
              <a:buClr>
                <a:srgbClr val="595959"/>
              </a:buClr>
              <a:buSzPts val="1300"/>
              <a:buAutoNum type="alphaLcPeriod"/>
            </a:pPr>
            <a:r>
              <a:rPr lang="en" sz="1300">
                <a:solidFill>
                  <a:srgbClr val="595959"/>
                </a:solidFill>
              </a:rPr>
              <a:t>HAI rates are increasing with COVID </a:t>
            </a:r>
            <a:endParaRPr sz="1300">
              <a:solidFill>
                <a:srgbClr val="595959"/>
              </a:solidFill>
            </a:endParaRPr>
          </a:p>
          <a:p>
            <a:pPr marL="0" lvl="0" indent="0" algn="l" rtl="0">
              <a:lnSpc>
                <a:spcPct val="115000"/>
              </a:lnSpc>
              <a:spcBef>
                <a:spcPts val="1200"/>
              </a:spcBef>
              <a:spcAft>
                <a:spcPts val="0"/>
              </a:spcAft>
              <a:buNone/>
            </a:pPr>
            <a:endParaRPr sz="1300">
              <a:solidFill>
                <a:srgbClr val="595959"/>
              </a:solidFill>
            </a:endParaRPr>
          </a:p>
          <a:p>
            <a:pPr marL="0" lvl="0" indent="0" algn="l" rtl="0">
              <a:lnSpc>
                <a:spcPct val="115000"/>
              </a:lnSpc>
              <a:spcBef>
                <a:spcPts val="1200"/>
              </a:spcBef>
              <a:spcAft>
                <a:spcPts val="0"/>
              </a:spcAft>
              <a:buNone/>
            </a:pPr>
            <a:r>
              <a:rPr lang="en" sz="1300">
                <a:solidFill>
                  <a:srgbClr val="595959"/>
                </a:solidFill>
              </a:rPr>
              <a:t>	Supporting documents: </a:t>
            </a:r>
            <a:endParaRPr sz="1300">
              <a:solidFill>
                <a:srgbClr val="595959"/>
              </a:solidFill>
            </a:endParaRPr>
          </a:p>
          <a:p>
            <a:pPr marL="0" lvl="0" indent="0" algn="l" rtl="0">
              <a:lnSpc>
                <a:spcPct val="115000"/>
              </a:lnSpc>
              <a:spcBef>
                <a:spcPts val="1200"/>
              </a:spcBef>
              <a:spcAft>
                <a:spcPts val="0"/>
              </a:spcAft>
              <a:buNone/>
            </a:pPr>
            <a:r>
              <a:rPr lang="en" sz="1300">
                <a:solidFill>
                  <a:srgbClr val="595959"/>
                </a:solidFill>
              </a:rPr>
              <a:t>			</a:t>
            </a:r>
            <a:r>
              <a:rPr lang="en" u="sng">
                <a:solidFill>
                  <a:schemeClr val="hlink"/>
                </a:solidFill>
                <a:hlinkClick r:id="rId3"/>
              </a:rPr>
              <a:t>The Impact of Coronavirus Disease 2019 (COVID-19) on Healthcare-Associated Infections - PubMed (nih.gov)</a:t>
            </a:r>
            <a:endParaRPr sz="1300">
              <a:solidFill>
                <a:srgbClr val="595959"/>
              </a:solidFill>
            </a:endParaRPr>
          </a:p>
          <a:p>
            <a:pPr marL="914400" lvl="0" indent="0" algn="l" rtl="0">
              <a:lnSpc>
                <a:spcPct val="115000"/>
              </a:lnSpc>
              <a:spcBef>
                <a:spcPts val="1200"/>
              </a:spcBef>
              <a:spcAft>
                <a:spcPts val="0"/>
              </a:spcAft>
              <a:buNone/>
            </a:pPr>
            <a:r>
              <a:rPr lang="en" sz="1300">
                <a:solidFill>
                  <a:srgbClr val="595959"/>
                </a:solidFill>
              </a:rPr>
              <a:t>           </a:t>
            </a:r>
            <a:r>
              <a:rPr lang="en" u="sng">
                <a:solidFill>
                  <a:schemeClr val="hlink"/>
                </a:solidFill>
                <a:hlinkClick r:id="rId4"/>
              </a:rPr>
              <a:t>Continued Increases in HAI Incidence During the Second Year of the COVID-19 Pandemic | Infection Control &amp; Hospital Epidemiology | Cambridge Core</a:t>
            </a:r>
            <a:endParaRPr sz="1300">
              <a:solidFill>
                <a:srgbClr val="595959"/>
              </a:solidFill>
            </a:endParaRPr>
          </a:p>
          <a:p>
            <a:pPr marL="914400" lvl="0" indent="0" algn="l" rtl="0">
              <a:lnSpc>
                <a:spcPct val="115000"/>
              </a:lnSpc>
              <a:spcBef>
                <a:spcPts val="1200"/>
              </a:spcBef>
              <a:spcAft>
                <a:spcPts val="0"/>
              </a:spcAft>
              <a:buNone/>
            </a:pPr>
            <a:endParaRPr sz="1300">
              <a:solidFill>
                <a:srgbClr val="595959"/>
              </a:solidFill>
            </a:endParaRPr>
          </a:p>
          <a:p>
            <a:pPr marL="914400" lvl="1" indent="-311150" algn="l" rtl="0">
              <a:lnSpc>
                <a:spcPct val="115000"/>
              </a:lnSpc>
              <a:spcBef>
                <a:spcPts val="1200"/>
              </a:spcBef>
              <a:spcAft>
                <a:spcPts val="0"/>
              </a:spcAft>
              <a:buClr>
                <a:srgbClr val="595959"/>
              </a:buClr>
              <a:buSzPts val="1300"/>
              <a:buAutoNum type="alphaLcPeriod"/>
            </a:pPr>
            <a:r>
              <a:rPr lang="en" sz="1300">
                <a:solidFill>
                  <a:srgbClr val="595959"/>
                </a:solidFill>
              </a:rPr>
              <a:t>Patients with noninfectious catheter complications such as POUR and urethral injury will further strain bed capacity.  This is especially true for ambulatory surgeries that may require inpatient beds.  Increased beds = increased nursing staff.</a:t>
            </a:r>
            <a:endParaRPr sz="1300">
              <a:solidFill>
                <a:srgbClr val="595959"/>
              </a:solidFill>
            </a:endParaRPr>
          </a:p>
          <a:p>
            <a:pPr marL="914400" lvl="0" indent="0" algn="l" rtl="0">
              <a:lnSpc>
                <a:spcPct val="115000"/>
              </a:lnSpc>
              <a:spcBef>
                <a:spcPts val="1200"/>
              </a:spcBef>
              <a:spcAft>
                <a:spcPts val="0"/>
              </a:spcAft>
              <a:buNone/>
            </a:pPr>
            <a:endParaRPr sz="1300">
              <a:solidFill>
                <a:srgbClr val="595959"/>
              </a:solidFill>
            </a:endParaRPr>
          </a:p>
          <a:p>
            <a:pPr marL="914400" lvl="1" indent="-311150" algn="l" rtl="0">
              <a:lnSpc>
                <a:spcPct val="115000"/>
              </a:lnSpc>
              <a:spcBef>
                <a:spcPts val="1200"/>
              </a:spcBef>
              <a:spcAft>
                <a:spcPts val="0"/>
              </a:spcAft>
              <a:buClr>
                <a:srgbClr val="595959"/>
              </a:buClr>
              <a:buSzPts val="1300"/>
              <a:buAutoNum type="alphaLcPeriod"/>
            </a:pPr>
            <a:r>
              <a:rPr lang="en" sz="1300">
                <a:solidFill>
                  <a:srgbClr val="595959"/>
                </a:solidFill>
              </a:rPr>
              <a:t>Emerging  fungal infections- resistant to traditional fungal treatments are also a threat. </a:t>
            </a:r>
            <a:endParaRPr sz="1300">
              <a:solidFill>
                <a:srgbClr val="595959"/>
              </a:solidFill>
            </a:endParaRPr>
          </a:p>
          <a:p>
            <a:pPr marL="914400" lvl="0" indent="0" algn="l" rtl="0">
              <a:lnSpc>
                <a:spcPct val="115000"/>
              </a:lnSpc>
              <a:spcBef>
                <a:spcPts val="1200"/>
              </a:spcBef>
              <a:spcAft>
                <a:spcPts val="0"/>
              </a:spcAft>
              <a:buNone/>
            </a:pPr>
            <a:endParaRPr sz="1300">
              <a:solidFill>
                <a:srgbClr val="595959"/>
              </a:solidFill>
            </a:endParaRPr>
          </a:p>
          <a:p>
            <a:pPr marL="457200" lvl="0" indent="-311150" algn="l" rtl="0">
              <a:lnSpc>
                <a:spcPct val="115000"/>
              </a:lnSpc>
              <a:spcBef>
                <a:spcPts val="1200"/>
              </a:spcBef>
              <a:spcAft>
                <a:spcPts val="0"/>
              </a:spcAft>
              <a:buClr>
                <a:srgbClr val="595959"/>
              </a:buClr>
              <a:buSzPts val="1300"/>
              <a:buAutoNum type="arabicPeriod"/>
            </a:pPr>
            <a:r>
              <a:rPr lang="en" sz="1300">
                <a:solidFill>
                  <a:srgbClr val="595959"/>
                </a:solidFill>
              </a:rPr>
              <a:t>Discuss the </a:t>
            </a:r>
            <a:r>
              <a:rPr lang="en" sz="1300" u="sng">
                <a:solidFill>
                  <a:srgbClr val="595959"/>
                </a:solidFill>
              </a:rPr>
              <a:t>data - </a:t>
            </a:r>
            <a:r>
              <a:rPr lang="en" sz="1300">
                <a:solidFill>
                  <a:srgbClr val="595959"/>
                </a:solidFill>
              </a:rPr>
              <a:t> This will go over specific data of how our hospital is doing compared to other Michigan hospitals in terms of catheter appropriateness and safety (not only CAUTI). [NOTE:  If this information is not available, then MSQC can supply a similar hospital data as a proxy for incidence/rates]</a:t>
            </a:r>
            <a:endParaRPr sz="1300">
              <a:solidFill>
                <a:srgbClr val="595959"/>
              </a:solidFill>
            </a:endParaRPr>
          </a:p>
          <a:p>
            <a:pPr marL="457200" lvl="0" indent="0" algn="l" rtl="0">
              <a:lnSpc>
                <a:spcPct val="115000"/>
              </a:lnSpc>
              <a:spcBef>
                <a:spcPts val="1200"/>
              </a:spcBef>
              <a:spcAft>
                <a:spcPts val="0"/>
              </a:spcAft>
              <a:buNone/>
            </a:pPr>
            <a:endParaRPr sz="1300">
              <a:solidFill>
                <a:srgbClr val="595959"/>
              </a:solidFill>
            </a:endParaRPr>
          </a:p>
          <a:p>
            <a:pPr marL="457200" lvl="0" indent="-311150" algn="l" rtl="0">
              <a:lnSpc>
                <a:spcPct val="115000"/>
              </a:lnSpc>
              <a:spcBef>
                <a:spcPts val="1200"/>
              </a:spcBef>
              <a:spcAft>
                <a:spcPts val="0"/>
              </a:spcAft>
              <a:buClr>
                <a:srgbClr val="595959"/>
              </a:buClr>
              <a:buSzPts val="1300"/>
              <a:buAutoNum type="arabicPeriod"/>
            </a:pPr>
            <a:r>
              <a:rPr lang="en" sz="1300">
                <a:solidFill>
                  <a:srgbClr val="595959"/>
                </a:solidFill>
              </a:rPr>
              <a:t>Provide strategies for how we can enhance catheter care and safety </a:t>
            </a:r>
            <a:endParaRPr sz="1300">
              <a:solidFill>
                <a:srgbClr val="595959"/>
              </a:solidFill>
            </a:endParaRPr>
          </a:p>
          <a:p>
            <a:pPr marL="457200" lvl="0" indent="0" algn="l" rtl="0">
              <a:lnSpc>
                <a:spcPct val="115000"/>
              </a:lnSpc>
              <a:spcBef>
                <a:spcPts val="1200"/>
              </a:spcBef>
              <a:spcAft>
                <a:spcPts val="0"/>
              </a:spcAft>
              <a:buNone/>
            </a:pPr>
            <a:endParaRPr sz="1300">
              <a:solidFill>
                <a:srgbClr val="595959"/>
              </a:solidFill>
            </a:endParaRPr>
          </a:p>
          <a:p>
            <a:pPr marL="457200" lvl="0" indent="-311150" algn="l" rtl="0">
              <a:lnSpc>
                <a:spcPct val="115000"/>
              </a:lnSpc>
              <a:spcBef>
                <a:spcPts val="1200"/>
              </a:spcBef>
              <a:spcAft>
                <a:spcPts val="0"/>
              </a:spcAft>
              <a:buClr>
                <a:srgbClr val="595959"/>
              </a:buClr>
              <a:buSzPts val="1300"/>
              <a:buAutoNum type="arabicPeriod"/>
            </a:pPr>
            <a:r>
              <a:rPr lang="en" sz="1300">
                <a:solidFill>
                  <a:srgbClr val="595959"/>
                </a:solidFill>
              </a:rPr>
              <a:t>Finally, we would like to request your support. </a:t>
            </a:r>
            <a:endParaRPr sz="1300" u="sng">
              <a:solidFill>
                <a:srgbClr val="595959"/>
              </a:solidFill>
            </a:endParaRPr>
          </a:p>
          <a:p>
            <a:pPr marL="0" lvl="0" indent="0" algn="l" rtl="0">
              <a:spcBef>
                <a:spcPts val="1200"/>
              </a:spcBef>
              <a:spcAft>
                <a:spcPts val="0"/>
              </a:spcAft>
              <a:buNone/>
            </a:pPr>
            <a:endParaRPr sz="4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1258ac6fa20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1258ac6fa20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11ea81d1c24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11ea81d1c24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12c801538b7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12c801538b7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best method to illustrate the significance of catheter safety and appropriateness is with a case study.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12e8304016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12e8304016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NOTE:  WHen presenting this slide emphasize the (1) inappropriate catheter placement for surgery (2) urethral trauma on repeated catheter attempts (3) Unstandardized treatment of POUR (4) Poor outcomes (5) Patient distress!</a:t>
            </a:r>
            <a:endParaRPr/>
          </a:p>
        </p:txBody>
      </p:sp>
    </p:spTree>
    <p:extLst>
      <p:ext uri="{BB962C8B-B14F-4D97-AF65-F5344CB8AC3E}">
        <p14:creationId xmlns:p14="http://schemas.microsoft.com/office/powerpoint/2010/main" val="15101430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12c801538b7_1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12c801538b7_1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dirty="0">
                <a:solidFill>
                  <a:schemeClr val="dk1"/>
                </a:solidFill>
                <a:highlight>
                  <a:srgbClr val="FFFFFF"/>
                </a:highlight>
              </a:rPr>
              <a:t>The first step to increase safe catheter care and reduce the cascade of preventable complications,</a:t>
            </a:r>
            <a:r>
              <a:rPr lang="en" u="sng" dirty="0">
                <a:solidFill>
                  <a:schemeClr val="dk1"/>
                </a:solidFill>
                <a:highlight>
                  <a:srgbClr val="FFFFFF"/>
                </a:highlight>
              </a:rPr>
              <a:t> is to reduce the use of catheters outright</a:t>
            </a:r>
            <a:r>
              <a:rPr lang="en" dirty="0">
                <a:solidFill>
                  <a:schemeClr val="dk1"/>
                </a:solidFill>
                <a:highlight>
                  <a:srgbClr val="FFFFFF"/>
                </a:highlight>
              </a:rPr>
              <a:t>.  Surgical patients, who routinely have catheters placed during surgery are candidates to be evaluated for more appropriate use.  Surgical patients, who routinely have catheters placed during surgery are candidates to be evaluated for more appropriate use. Approximately 5.5 % of surgeries have the potential to reduce use ( full reference below) </a:t>
            </a:r>
            <a:endParaRPr dirty="0">
              <a:solidFill>
                <a:schemeClr val="dk1"/>
              </a:solidFill>
              <a:highlight>
                <a:srgbClr val="FFFFFF"/>
              </a:highlight>
            </a:endParaRPr>
          </a:p>
          <a:p>
            <a:pPr marL="0" lvl="0" indent="0" algn="l" rtl="0">
              <a:lnSpc>
                <a:spcPct val="115000"/>
              </a:lnSpc>
              <a:spcBef>
                <a:spcPts val="0"/>
              </a:spcBef>
              <a:spcAft>
                <a:spcPts val="0"/>
              </a:spcAft>
              <a:buClr>
                <a:schemeClr val="dk1"/>
              </a:buClr>
              <a:buSzPts val="1100"/>
              <a:buFont typeface="Arial"/>
              <a:buNone/>
            </a:pPr>
            <a:endParaRPr dirty="0">
              <a:solidFill>
                <a:schemeClr val="dk1"/>
              </a:solidFill>
              <a:highlight>
                <a:srgbClr val="FFFFFF"/>
              </a:highlight>
            </a:endParaRPr>
          </a:p>
          <a:p>
            <a:pPr marL="0" lvl="0" indent="0" algn="l" rtl="0">
              <a:lnSpc>
                <a:spcPct val="115000"/>
              </a:lnSpc>
              <a:spcBef>
                <a:spcPts val="0"/>
              </a:spcBef>
              <a:spcAft>
                <a:spcPts val="0"/>
              </a:spcAft>
              <a:buClr>
                <a:schemeClr val="dk1"/>
              </a:buClr>
              <a:buSzPts val="1100"/>
              <a:buFont typeface="Arial"/>
              <a:buNone/>
            </a:pPr>
            <a:r>
              <a:rPr lang="en" dirty="0">
                <a:solidFill>
                  <a:srgbClr val="303030"/>
                </a:solidFill>
                <a:highlight>
                  <a:schemeClr val="lt1"/>
                </a:highlight>
                <a:latin typeface="Roboto"/>
                <a:ea typeface="Roboto"/>
                <a:cs typeface="Roboto"/>
                <a:sym typeface="Roboto"/>
              </a:rPr>
              <a:t>Using appropriateness criteria to identify opportunities to improve perioperative urinary catheter use. Am J Surg. 2020</a:t>
            </a:r>
            <a:endParaRPr dirty="0">
              <a:solidFill>
                <a:srgbClr val="303030"/>
              </a:solidFill>
              <a:highlight>
                <a:schemeClr val="lt1"/>
              </a:highlight>
              <a:latin typeface="Roboto"/>
              <a:ea typeface="Roboto"/>
              <a:cs typeface="Roboto"/>
              <a:sym typeface="Roboto"/>
            </a:endParaRPr>
          </a:p>
          <a:p>
            <a:pPr marL="0" lvl="0" indent="0" algn="l" rtl="0">
              <a:lnSpc>
                <a:spcPct val="115000"/>
              </a:lnSpc>
              <a:spcBef>
                <a:spcPts val="1200"/>
              </a:spcBef>
              <a:spcAft>
                <a:spcPts val="0"/>
              </a:spcAft>
              <a:buClr>
                <a:schemeClr val="dk1"/>
              </a:buClr>
              <a:buSzPts val="1100"/>
              <a:buFont typeface="Arial"/>
              <a:buNone/>
            </a:pPr>
            <a:r>
              <a:rPr lang="en" u="sng" dirty="0">
                <a:solidFill>
                  <a:schemeClr val="hlink"/>
                </a:solidFill>
                <a:highlight>
                  <a:srgbClr val="FFFFFF"/>
                </a:highlight>
                <a:hlinkClick r:id="rId3"/>
              </a:rPr>
              <a:t>https://pubmed.ncbi.nlm.nih.gov/32008720/</a:t>
            </a:r>
            <a:endParaRPr dirty="0">
              <a:solidFill>
                <a:schemeClr val="dk1"/>
              </a:solidFill>
              <a:highlight>
                <a:srgbClr val="FFFFFF"/>
              </a:highlight>
            </a:endParaRPr>
          </a:p>
          <a:p>
            <a:pPr marL="0" lvl="0" indent="0" algn="l" rtl="0">
              <a:lnSpc>
                <a:spcPct val="115000"/>
              </a:lnSpc>
              <a:spcBef>
                <a:spcPts val="1200"/>
              </a:spcBef>
              <a:spcAft>
                <a:spcPts val="0"/>
              </a:spcAft>
              <a:buClr>
                <a:schemeClr val="dk1"/>
              </a:buClr>
              <a:buSzPts val="1100"/>
              <a:buFont typeface="Arial"/>
              <a:buNone/>
            </a:pPr>
            <a:endParaRPr dirty="0">
              <a:solidFill>
                <a:schemeClr val="dk1"/>
              </a:solidFill>
              <a:highlight>
                <a:srgbClr val="FFFFFF"/>
              </a:highlight>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12c801538b7_1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12c801538b7_1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a:p>
            <a:pPr marL="0" lvl="0" indent="0" algn="l" rtl="0">
              <a:spcBef>
                <a:spcPts val="0"/>
              </a:spcBef>
              <a:spcAft>
                <a:spcPts val="0"/>
              </a:spcAft>
              <a:buNone/>
            </a:pPr>
            <a:r>
              <a:rPr lang="en" b="1"/>
              <a:t>Bullet #1</a:t>
            </a:r>
            <a:r>
              <a:rPr lang="en"/>
              <a:t> - read and add -  </a:t>
            </a:r>
            <a:r>
              <a:rPr lang="en">
                <a:solidFill>
                  <a:schemeClr val="dk1"/>
                </a:solidFill>
                <a:highlight>
                  <a:schemeClr val="lt1"/>
                </a:highlight>
              </a:rPr>
              <a:t>Infectious urinary catheter complications such as symptomatic CAUTI, CAUTI-associated bloodstream infection, and asymptomatic bacteriuria outcome are routinely collected by standardized medical record review for mandated public reporting and used in multiple Medicare programs to compare hospital performance and financially penalize hospitals.  Unfortunately, noninfectious catheter complications from traumatic injury to the urethra during catheter placement or removal are not routinely measured or reported despite being an invasive procedure.  </a:t>
            </a:r>
            <a:endParaRPr>
              <a:solidFill>
                <a:schemeClr val="dk1"/>
              </a:solidFill>
              <a:highlight>
                <a:schemeClr val="lt1"/>
              </a:highlight>
            </a:endParaRPr>
          </a:p>
          <a:p>
            <a:pPr marL="0" lvl="0" indent="0" algn="l" rtl="0">
              <a:lnSpc>
                <a:spcPct val="115000"/>
              </a:lnSpc>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r>
              <a:rPr lang="en" b="1"/>
              <a:t>Bullet #2</a:t>
            </a:r>
            <a:r>
              <a:rPr lang="en"/>
              <a:t> - Read and add  –  data collected from patient </a:t>
            </a:r>
            <a:r>
              <a:rPr lang="en">
                <a:solidFill>
                  <a:schemeClr val="dk1"/>
                </a:solidFill>
                <a:highlight>
                  <a:schemeClr val="lt1"/>
                </a:highlight>
              </a:rPr>
              <a:t>patient interview demonstrate much higher rates of complications than rates to billed or documented events.  Rates in billed and documented events capture the most serious events like those requiring more surgery. </a:t>
            </a:r>
            <a:endParaRPr>
              <a:solidFill>
                <a:schemeClr val="dk1"/>
              </a:solidFill>
              <a:highlight>
                <a:schemeClr val="lt1"/>
              </a:highlight>
            </a:endParaRPr>
          </a:p>
          <a:p>
            <a:pPr marL="0" lvl="0" indent="0" algn="l" rtl="0">
              <a:spcBef>
                <a:spcPts val="0"/>
              </a:spcBef>
              <a:spcAft>
                <a:spcPts val="0"/>
              </a:spcAft>
              <a:buNone/>
            </a:pPr>
            <a:endParaRPr>
              <a:solidFill>
                <a:schemeClr val="dk1"/>
              </a:solidFill>
              <a:highlight>
                <a:schemeClr val="lt1"/>
              </a:highlight>
            </a:endParaRPr>
          </a:p>
          <a:p>
            <a:pPr marL="0" lvl="0" indent="0" algn="l" rtl="0">
              <a:spcBef>
                <a:spcPts val="0"/>
              </a:spcBef>
              <a:spcAft>
                <a:spcPts val="0"/>
              </a:spcAft>
              <a:buNone/>
            </a:pPr>
            <a:r>
              <a:rPr lang="en" b="1">
                <a:solidFill>
                  <a:schemeClr val="dk1"/>
                </a:solidFill>
                <a:highlight>
                  <a:schemeClr val="lt1"/>
                </a:highlight>
              </a:rPr>
              <a:t>Bullet #3</a:t>
            </a:r>
            <a:r>
              <a:rPr lang="en">
                <a:solidFill>
                  <a:schemeClr val="dk1"/>
                </a:solidFill>
                <a:highlight>
                  <a:schemeClr val="lt1"/>
                </a:highlight>
              </a:rPr>
              <a:t> - Read.  [Full reference below]</a:t>
            </a:r>
            <a:endParaRPr>
              <a:solidFill>
                <a:schemeClr val="dk1"/>
              </a:solidFill>
              <a:highlight>
                <a:schemeClr val="lt1"/>
              </a:highlight>
            </a:endParaRPr>
          </a:p>
          <a:p>
            <a:pPr marL="0" lvl="0" indent="0" algn="l" rtl="0">
              <a:spcBef>
                <a:spcPts val="0"/>
              </a:spcBef>
              <a:spcAft>
                <a:spcPts val="0"/>
              </a:spcAft>
              <a:buNone/>
            </a:pPr>
            <a:endParaRPr>
              <a:solidFill>
                <a:srgbClr val="212121"/>
              </a:solidFill>
              <a:highlight>
                <a:schemeClr val="lt1"/>
              </a:highlight>
              <a:latin typeface="Roboto"/>
              <a:ea typeface="Roboto"/>
              <a:cs typeface="Roboto"/>
              <a:sym typeface="Roboto"/>
            </a:endParaRPr>
          </a:p>
          <a:p>
            <a:pPr marL="0" lvl="0" indent="0" algn="l" rtl="0">
              <a:spcBef>
                <a:spcPts val="0"/>
              </a:spcBef>
              <a:spcAft>
                <a:spcPts val="0"/>
              </a:spcAft>
              <a:buNone/>
            </a:pPr>
            <a:r>
              <a:rPr lang="en">
                <a:solidFill>
                  <a:srgbClr val="212121"/>
                </a:solidFill>
                <a:highlight>
                  <a:schemeClr val="lt1"/>
                </a:highlight>
                <a:latin typeface="Roboto"/>
                <a:ea typeface="Roboto"/>
                <a:cs typeface="Roboto"/>
                <a:sym typeface="Roboto"/>
              </a:rPr>
              <a:t>Multicenter Study of Patient-Reported Infectious and Noninfectious Complications Associated With Indwelling Urethral Catheters. JAMA Intern Med. 2018 Aug.</a:t>
            </a:r>
            <a:endParaRPr>
              <a:solidFill>
                <a:schemeClr val="dk1"/>
              </a:solidFill>
              <a:highlight>
                <a:schemeClr val="lt1"/>
              </a:highlight>
            </a:endParaRPr>
          </a:p>
          <a:p>
            <a:pPr marL="0" lvl="0" indent="0" algn="l" rtl="0">
              <a:spcBef>
                <a:spcPts val="0"/>
              </a:spcBef>
              <a:spcAft>
                <a:spcPts val="0"/>
              </a:spcAft>
              <a:buNone/>
            </a:pPr>
            <a:r>
              <a:rPr lang="en" u="sng">
                <a:solidFill>
                  <a:schemeClr val="hlink"/>
                </a:solidFill>
                <a:hlinkClick r:id="rId3"/>
              </a:rPr>
              <a:t>https://pubmed.ncbi.nlm.nih.gov/29971436/</a:t>
            </a:r>
            <a:endParaRPr/>
          </a:p>
          <a:p>
            <a:pPr marL="0" lvl="0" indent="0" algn="l" rtl="0">
              <a:spcBef>
                <a:spcPts val="0"/>
              </a:spcBef>
              <a:spcAft>
                <a:spcPts val="0"/>
              </a:spcAft>
              <a:buNone/>
            </a:pPr>
            <a:endParaRPr/>
          </a:p>
          <a:p>
            <a:pPr marL="0" lvl="0" indent="0" algn="l" rtl="0">
              <a:spcBef>
                <a:spcPts val="0"/>
              </a:spcBef>
              <a:spcAft>
                <a:spcPts val="0"/>
              </a:spcAft>
              <a:buNone/>
            </a:pPr>
            <a:r>
              <a:rPr lang="en" b="1"/>
              <a:t>Bullet #4</a:t>
            </a:r>
            <a:r>
              <a:rPr lang="en"/>
              <a:t> - Read [ Full reference below] </a:t>
            </a:r>
            <a:endParaRPr/>
          </a:p>
          <a:p>
            <a:pPr marL="0" lvl="0" indent="0" algn="l" rtl="0">
              <a:spcBef>
                <a:spcPts val="0"/>
              </a:spcBef>
              <a:spcAft>
                <a:spcPts val="0"/>
              </a:spcAft>
              <a:buNone/>
            </a:pPr>
            <a:endParaRPr/>
          </a:p>
          <a:p>
            <a:pPr marL="0" lvl="0" indent="0" algn="l" rtl="0">
              <a:spcBef>
                <a:spcPts val="0"/>
              </a:spcBef>
              <a:spcAft>
                <a:spcPts val="0"/>
              </a:spcAft>
              <a:buNone/>
            </a:pPr>
            <a:r>
              <a:rPr lang="en">
                <a:solidFill>
                  <a:srgbClr val="212121"/>
                </a:solidFill>
                <a:highlight>
                  <a:srgbClr val="FFFFFF"/>
                </a:highlight>
                <a:latin typeface="Roboto"/>
                <a:ea typeface="Roboto"/>
                <a:cs typeface="Roboto"/>
                <a:sym typeface="Roboto"/>
              </a:rPr>
              <a:t>Incidence, Cost, Complications and Clinical Outcomes of Iatrogenic Urethral Catheterization Injuries: A Prospective Multi-Institutional Study. J Urol. 2016 </a:t>
            </a:r>
            <a:endParaRPr/>
          </a:p>
          <a:p>
            <a:pPr marL="0" lvl="0" indent="0" algn="l" rtl="0">
              <a:spcBef>
                <a:spcPts val="0"/>
              </a:spcBef>
              <a:spcAft>
                <a:spcPts val="0"/>
              </a:spcAft>
              <a:buNone/>
            </a:pPr>
            <a:r>
              <a:rPr lang="en" u="sng">
                <a:solidFill>
                  <a:schemeClr val="hlink"/>
                </a:solidFill>
                <a:hlinkClick r:id="rId4"/>
              </a:rPr>
              <a:t>https://pubmed.ncbi.nlm.nih.gov/27317985/</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 b="1"/>
              <a:t>MSQC Pilot Study data</a:t>
            </a:r>
            <a:endParaRPr b="1"/>
          </a:p>
          <a:p>
            <a:pPr marL="0" lvl="0" indent="0" algn="l" rtl="0">
              <a:spcBef>
                <a:spcPts val="0"/>
              </a:spcBef>
              <a:spcAft>
                <a:spcPts val="0"/>
              </a:spcAft>
              <a:buNone/>
            </a:pPr>
            <a:endParaRPr/>
          </a:p>
          <a:p>
            <a:pPr marL="0" lvl="0" indent="0" algn="l" rtl="0">
              <a:spcBef>
                <a:spcPts val="0"/>
              </a:spcBef>
              <a:spcAft>
                <a:spcPts val="0"/>
              </a:spcAft>
              <a:buNone/>
            </a:pPr>
            <a:r>
              <a:rPr lang="en"/>
              <a:t>Note:  Pilot data includes these surgical categories :</a:t>
            </a: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100"/>
              <a:buFont typeface="Arial"/>
              <a:buNone/>
            </a:pPr>
            <a:r>
              <a:rPr lang="en">
                <a:solidFill>
                  <a:schemeClr val="dk1"/>
                </a:solidFill>
              </a:rPr>
              <a:t>Surgical Categories:  Appendectomy, Cholecystectomy, Colorectal, Inguinal, femoral and ventral hernia</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12c801538b7_1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12c801538b7_1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a:solidFill>
                <a:schemeClr val="dk1"/>
              </a:solidFill>
              <a:highlight>
                <a:schemeClr val="lt1"/>
              </a:highlight>
            </a:endParaRPr>
          </a:p>
          <a:p>
            <a:pPr marL="0" lvl="0" indent="0" algn="l" rtl="0">
              <a:lnSpc>
                <a:spcPct val="115000"/>
              </a:lnSpc>
              <a:spcBef>
                <a:spcPts val="0"/>
              </a:spcBef>
              <a:spcAft>
                <a:spcPts val="0"/>
              </a:spcAft>
              <a:buNone/>
            </a:pPr>
            <a:endParaRPr>
              <a:solidFill>
                <a:schemeClr val="dk1"/>
              </a:solidFill>
              <a:highlight>
                <a:schemeClr val="lt1"/>
              </a:highlight>
            </a:endParaRPr>
          </a:p>
          <a:p>
            <a:pPr marL="0" lvl="0" indent="0" algn="l" rtl="0">
              <a:lnSpc>
                <a:spcPct val="115000"/>
              </a:lnSpc>
              <a:spcBef>
                <a:spcPts val="0"/>
              </a:spcBef>
              <a:spcAft>
                <a:spcPts val="0"/>
              </a:spcAft>
              <a:buNone/>
            </a:pPr>
            <a:r>
              <a:rPr lang="en">
                <a:solidFill>
                  <a:schemeClr val="dk1"/>
                </a:solidFill>
                <a:highlight>
                  <a:schemeClr val="lt1"/>
                </a:highlight>
              </a:rPr>
              <a:t>Another important step to reduce catheter-related complications is to improve the treatment of  postoperative urinary retention (POUR), a common complication of inpatient and outpatient surgical procedures. POUR is the inability to urinate after a surgical procedure despite having a full bladder and it is one of the main reasons why patients are catheterized postoperatively.</a:t>
            </a:r>
            <a:endParaRPr>
              <a:solidFill>
                <a:schemeClr val="dk1"/>
              </a:solidFill>
              <a:highlight>
                <a:schemeClr val="lt1"/>
              </a:highlight>
            </a:endParaRPr>
          </a:p>
          <a:p>
            <a:pPr marL="0" lvl="0" indent="0" algn="l" rtl="0">
              <a:lnSpc>
                <a:spcPct val="115000"/>
              </a:lnSpc>
              <a:spcBef>
                <a:spcPts val="0"/>
              </a:spcBef>
              <a:spcAft>
                <a:spcPts val="0"/>
              </a:spcAft>
              <a:buNone/>
            </a:pPr>
            <a:endParaRPr>
              <a:solidFill>
                <a:schemeClr val="dk1"/>
              </a:solidFill>
              <a:highlight>
                <a:schemeClr val="lt1"/>
              </a:highlight>
            </a:endParaRPr>
          </a:p>
          <a:p>
            <a:pPr marL="0" lvl="0" indent="0" algn="l" rtl="0">
              <a:lnSpc>
                <a:spcPct val="115000"/>
              </a:lnSpc>
              <a:spcBef>
                <a:spcPts val="0"/>
              </a:spcBef>
              <a:spcAft>
                <a:spcPts val="0"/>
              </a:spcAft>
              <a:buNone/>
            </a:pPr>
            <a:r>
              <a:rPr lang="en" b="1">
                <a:solidFill>
                  <a:schemeClr val="dk1"/>
                </a:solidFill>
                <a:highlight>
                  <a:schemeClr val="lt1"/>
                </a:highlight>
              </a:rPr>
              <a:t>Bullet #1</a:t>
            </a:r>
            <a:r>
              <a:rPr lang="en">
                <a:solidFill>
                  <a:schemeClr val="dk1"/>
                </a:solidFill>
                <a:highlight>
                  <a:schemeClr val="lt1"/>
                </a:highlight>
              </a:rPr>
              <a:t> - Read </a:t>
            </a:r>
            <a:endParaRPr>
              <a:solidFill>
                <a:schemeClr val="dk1"/>
              </a:solidFill>
              <a:highlight>
                <a:schemeClr val="lt1"/>
              </a:highlight>
            </a:endParaRPr>
          </a:p>
          <a:p>
            <a:pPr marL="0" lvl="0" indent="0" algn="l" rtl="0">
              <a:lnSpc>
                <a:spcPct val="115000"/>
              </a:lnSpc>
              <a:spcBef>
                <a:spcPts val="0"/>
              </a:spcBef>
              <a:spcAft>
                <a:spcPts val="0"/>
              </a:spcAft>
              <a:buNone/>
            </a:pPr>
            <a:endParaRPr>
              <a:solidFill>
                <a:schemeClr val="dk1"/>
              </a:solidFill>
              <a:highlight>
                <a:schemeClr val="lt1"/>
              </a:highlight>
            </a:endParaRPr>
          </a:p>
          <a:p>
            <a:pPr marL="0" lvl="0" indent="0" algn="l" rtl="0">
              <a:lnSpc>
                <a:spcPct val="115000"/>
              </a:lnSpc>
              <a:spcBef>
                <a:spcPts val="0"/>
              </a:spcBef>
              <a:spcAft>
                <a:spcPts val="0"/>
              </a:spcAft>
              <a:buNone/>
            </a:pPr>
            <a:r>
              <a:rPr lang="en" b="1">
                <a:solidFill>
                  <a:schemeClr val="dk1"/>
                </a:solidFill>
                <a:highlight>
                  <a:schemeClr val="lt1"/>
                </a:highlight>
              </a:rPr>
              <a:t>Bullet #2</a:t>
            </a:r>
            <a:r>
              <a:rPr lang="en">
                <a:solidFill>
                  <a:schemeClr val="dk1"/>
                </a:solidFill>
                <a:highlight>
                  <a:schemeClr val="lt1"/>
                </a:highlight>
              </a:rPr>
              <a:t>-   Although once considered a minor complication, POUR can be traced to preventable patient morbidity such as </a:t>
            </a:r>
            <a:r>
              <a:rPr lang="en">
                <a:solidFill>
                  <a:schemeClr val="dk1"/>
                </a:solidFill>
              </a:rPr>
              <a:t>UTI, sepsis and urethral trauma.  </a:t>
            </a:r>
            <a:endParaRPr>
              <a:solidFill>
                <a:schemeClr val="dk1"/>
              </a:solidFill>
            </a:endParaRPr>
          </a:p>
          <a:p>
            <a:pPr marL="0" lvl="0" indent="0" algn="l" rtl="0">
              <a:lnSpc>
                <a:spcPct val="115000"/>
              </a:lnSpc>
              <a:spcBef>
                <a:spcPts val="0"/>
              </a:spcBef>
              <a:spcAft>
                <a:spcPts val="0"/>
              </a:spcAft>
              <a:buNone/>
            </a:pPr>
            <a:endParaRPr>
              <a:solidFill>
                <a:schemeClr val="dk1"/>
              </a:solidFill>
            </a:endParaRPr>
          </a:p>
          <a:p>
            <a:pPr marL="0" lvl="0" indent="0" algn="l" rtl="0">
              <a:lnSpc>
                <a:spcPct val="115000"/>
              </a:lnSpc>
              <a:spcBef>
                <a:spcPts val="0"/>
              </a:spcBef>
              <a:spcAft>
                <a:spcPts val="0"/>
              </a:spcAft>
              <a:buNone/>
            </a:pPr>
            <a:r>
              <a:rPr lang="en" b="1">
                <a:solidFill>
                  <a:schemeClr val="dk1"/>
                </a:solidFill>
              </a:rPr>
              <a:t>Bullet #3</a:t>
            </a:r>
            <a:r>
              <a:rPr lang="en">
                <a:solidFill>
                  <a:schemeClr val="dk1"/>
                </a:solidFill>
              </a:rPr>
              <a:t>- Additionally, POUR is attributed to adverse hospital-level outcomes </a:t>
            </a:r>
            <a:endParaRPr>
              <a:solidFill>
                <a:schemeClr val="dk1"/>
              </a:solidFill>
            </a:endParaRPr>
          </a:p>
          <a:p>
            <a:pPr marL="0" lvl="0" indent="0" algn="l" rtl="0">
              <a:lnSpc>
                <a:spcPct val="115000"/>
              </a:lnSpc>
              <a:spcBef>
                <a:spcPts val="0"/>
              </a:spcBef>
              <a:spcAft>
                <a:spcPts val="0"/>
              </a:spcAft>
              <a:buNone/>
            </a:pPr>
            <a:endParaRPr b="1">
              <a:solidFill>
                <a:schemeClr val="dk1"/>
              </a:solidFill>
            </a:endParaRPr>
          </a:p>
          <a:p>
            <a:pPr marL="0" lvl="0" indent="0" algn="l" rtl="0">
              <a:lnSpc>
                <a:spcPct val="115000"/>
              </a:lnSpc>
              <a:spcBef>
                <a:spcPts val="0"/>
              </a:spcBef>
              <a:spcAft>
                <a:spcPts val="0"/>
              </a:spcAft>
              <a:buNone/>
            </a:pPr>
            <a:r>
              <a:rPr lang="en" b="1">
                <a:solidFill>
                  <a:schemeClr val="dk1"/>
                </a:solidFill>
              </a:rPr>
              <a:t>Bullet #4</a:t>
            </a:r>
            <a:r>
              <a:rPr lang="en">
                <a:solidFill>
                  <a:schemeClr val="dk1"/>
                </a:solidFill>
              </a:rPr>
              <a:t> - [Consider repeating the information below]</a:t>
            </a:r>
            <a:endParaRPr>
              <a:solidFill>
                <a:schemeClr val="dk1"/>
              </a:solidFill>
            </a:endParaRPr>
          </a:p>
          <a:p>
            <a:pPr marL="0" lvl="0" indent="0" algn="l" rtl="0">
              <a:lnSpc>
                <a:spcPct val="115000"/>
              </a:lnSpc>
              <a:spcBef>
                <a:spcPts val="0"/>
              </a:spcBef>
              <a:spcAft>
                <a:spcPts val="0"/>
              </a:spcAft>
              <a:buNone/>
            </a:pPr>
            <a:endParaRPr>
              <a:solidFill>
                <a:schemeClr val="dk1"/>
              </a:solidFill>
            </a:endParaRPr>
          </a:p>
          <a:p>
            <a:pPr marL="0" lvl="0" indent="0" algn="l" rtl="0">
              <a:lnSpc>
                <a:spcPct val="115000"/>
              </a:lnSpc>
              <a:spcBef>
                <a:spcPts val="0"/>
              </a:spcBef>
              <a:spcAft>
                <a:spcPts val="0"/>
              </a:spcAft>
              <a:buNone/>
            </a:pPr>
            <a:r>
              <a:rPr lang="en">
                <a:solidFill>
                  <a:srgbClr val="595959"/>
                </a:solidFill>
              </a:rPr>
              <a:t>Patients with POUR will further strain bed capacity.  This is especially true for ambulatory surgeries that may require unplanned  inpatient beds. </a:t>
            </a:r>
            <a:endParaRPr>
              <a:solidFill>
                <a:srgbClr val="595959"/>
              </a:solidFill>
            </a:endParaRPr>
          </a:p>
          <a:p>
            <a:pPr marL="0" lvl="0" indent="0" algn="l" rtl="0">
              <a:spcBef>
                <a:spcPts val="1200"/>
              </a:spcBef>
              <a:spcAft>
                <a:spcPts val="0"/>
              </a:spcAft>
              <a:buNone/>
            </a:pPr>
            <a:endParaRPr b="1">
              <a:solidFill>
                <a:schemeClr val="dk1"/>
              </a:solidFill>
            </a:endParaRPr>
          </a:p>
          <a:p>
            <a:pPr marL="0" lvl="0" indent="0" algn="l" rtl="0">
              <a:spcBef>
                <a:spcPts val="0"/>
              </a:spcBef>
              <a:spcAft>
                <a:spcPts val="0"/>
              </a:spcAft>
              <a:buNone/>
            </a:pPr>
            <a:endParaRPr b="1">
              <a:solidFill>
                <a:schemeClr val="dk1"/>
              </a:solidFill>
            </a:endParaRPr>
          </a:p>
          <a:p>
            <a:pPr marL="0" lvl="0" indent="0" algn="l" rtl="0">
              <a:spcBef>
                <a:spcPts val="0"/>
              </a:spcBef>
              <a:spcAft>
                <a:spcPts val="0"/>
              </a:spcAft>
              <a:buNone/>
            </a:pPr>
            <a:r>
              <a:rPr lang="en" b="1">
                <a:solidFill>
                  <a:schemeClr val="dk1"/>
                </a:solidFill>
              </a:rPr>
              <a:t>MSQC Pilot Study data</a:t>
            </a:r>
            <a:endParaRPr b="1">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
                <a:solidFill>
                  <a:schemeClr val="dk1"/>
                </a:solidFill>
              </a:rPr>
              <a:t>Note:  Pilot data includes these surgical categories :</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
                <a:solidFill>
                  <a:schemeClr val="dk1"/>
                </a:solidFill>
              </a:rPr>
              <a:t>Surgical Categories:  Appendectomy, Cholecystectomy, Colorectal, Inguinal, femoral and ventral hernia</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Still more room for improvement, collaborative sites not as good as SUCCESS sites yet</a:t>
            </a:r>
          </a:p>
        </p:txBody>
      </p:sp>
    </p:spTree>
    <p:extLst>
      <p:ext uri="{BB962C8B-B14F-4D97-AF65-F5344CB8AC3E}">
        <p14:creationId xmlns:p14="http://schemas.microsoft.com/office/powerpoint/2010/main" val="16507448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12e8304016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12e8304016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NOTE:  WHen presenting this slide emphasize the (1) inappropriate catheter placement for surgery (2) urethral trauma on repeated catheter attempts (3) Unstandardized treatment of POUR (4) Poor outcomes (5) Patient distress!</a:t>
            </a:r>
            <a:endParaRPr/>
          </a:p>
        </p:txBody>
      </p:sp>
    </p:spTree>
    <p:extLst>
      <p:ext uri="{BB962C8B-B14F-4D97-AF65-F5344CB8AC3E}">
        <p14:creationId xmlns:p14="http://schemas.microsoft.com/office/powerpoint/2010/main" val="35799489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1258ac6fa20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g1258ac6fa20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12c801538b7_1_2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12c801538b7_1_2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rgbClr val="595959"/>
                </a:solidFill>
              </a:rPr>
              <a:t>[Below is a summary of the bullets]  </a:t>
            </a:r>
            <a:endParaRPr>
              <a:solidFill>
                <a:srgbClr val="595959"/>
              </a:solidFill>
            </a:endParaRPr>
          </a:p>
          <a:p>
            <a:pPr marL="0" lvl="0" indent="0" algn="l" rtl="0">
              <a:lnSpc>
                <a:spcPct val="115000"/>
              </a:lnSpc>
              <a:spcBef>
                <a:spcPts val="1200"/>
              </a:spcBef>
              <a:spcAft>
                <a:spcPts val="0"/>
              </a:spcAft>
              <a:buNone/>
            </a:pPr>
            <a:endParaRPr>
              <a:solidFill>
                <a:srgbClr val="595959"/>
              </a:solidFill>
            </a:endParaRPr>
          </a:p>
          <a:p>
            <a:pPr marL="0" lvl="0" indent="0" algn="l" rtl="0">
              <a:lnSpc>
                <a:spcPct val="115000"/>
              </a:lnSpc>
              <a:spcBef>
                <a:spcPts val="1200"/>
              </a:spcBef>
              <a:spcAft>
                <a:spcPts val="0"/>
              </a:spcAft>
              <a:buClr>
                <a:schemeClr val="dk1"/>
              </a:buClr>
              <a:buSzPts val="1100"/>
              <a:buFont typeface="Arial"/>
              <a:buNone/>
            </a:pPr>
            <a:r>
              <a:rPr lang="en">
                <a:solidFill>
                  <a:srgbClr val="595959"/>
                </a:solidFill>
              </a:rPr>
              <a:t>Decrease use of unnecessary catheters during surgery</a:t>
            </a:r>
            <a:endParaRPr>
              <a:solidFill>
                <a:srgbClr val="595959"/>
              </a:solidFill>
            </a:endParaRPr>
          </a:p>
          <a:p>
            <a:pPr marL="0" lvl="0" indent="0" algn="l" rtl="0">
              <a:lnSpc>
                <a:spcPct val="115000"/>
              </a:lnSpc>
              <a:spcBef>
                <a:spcPts val="1200"/>
              </a:spcBef>
              <a:spcAft>
                <a:spcPts val="0"/>
              </a:spcAft>
              <a:buClr>
                <a:schemeClr val="dk1"/>
              </a:buClr>
              <a:buSzPts val="1100"/>
              <a:buFont typeface="Arial"/>
              <a:buNone/>
            </a:pPr>
            <a:r>
              <a:rPr lang="en">
                <a:solidFill>
                  <a:srgbClr val="595959"/>
                </a:solidFill>
              </a:rPr>
              <a:t>And if you do have to use a catheter, ensure the highest standards of safety and efficiency – to reduce discomfort and distress to the patient.  </a:t>
            </a:r>
            <a:endParaRPr>
              <a:solidFill>
                <a:srgbClr val="595959"/>
              </a:solidFill>
            </a:endParaRPr>
          </a:p>
          <a:p>
            <a:pPr marL="0" lvl="0" indent="0" algn="l" rtl="0">
              <a:lnSpc>
                <a:spcPct val="115000"/>
              </a:lnSpc>
              <a:spcBef>
                <a:spcPts val="1200"/>
              </a:spcBef>
              <a:spcAft>
                <a:spcPts val="0"/>
              </a:spcAft>
              <a:buNone/>
            </a:pPr>
            <a:r>
              <a:rPr lang="en">
                <a:solidFill>
                  <a:srgbClr val="595959"/>
                </a:solidFill>
              </a:rPr>
              <a:t>Standardized management of POUR</a:t>
            </a:r>
            <a:endParaRPr>
              <a:solidFill>
                <a:srgbClr val="595959"/>
              </a:solidFill>
            </a:endParaRPr>
          </a:p>
          <a:p>
            <a:pPr marL="0" lvl="0" indent="0" algn="l" rtl="0">
              <a:lnSpc>
                <a:spcPct val="115000"/>
              </a:lnSpc>
              <a:spcBef>
                <a:spcPts val="1200"/>
              </a:spcBef>
              <a:spcAft>
                <a:spcPts val="0"/>
              </a:spcAft>
              <a:buClr>
                <a:schemeClr val="dk1"/>
              </a:buClr>
              <a:buSzPts val="1100"/>
              <a:buFont typeface="Arial"/>
              <a:buNone/>
            </a:pPr>
            <a:r>
              <a:rPr lang="en">
                <a:solidFill>
                  <a:srgbClr val="595959"/>
                </a:solidFill>
              </a:rPr>
              <a:t> </a:t>
            </a:r>
            <a:r>
              <a:rPr lang="en">
                <a:solidFill>
                  <a:schemeClr val="dk1"/>
                </a:solidFill>
              </a:rPr>
              <a:t>Ensure necessary equipment and resources</a:t>
            </a:r>
            <a:endParaRPr>
              <a:solidFill>
                <a:srgbClr val="595959"/>
              </a:solidFill>
            </a:endParaRPr>
          </a:p>
          <a:p>
            <a:pPr marL="0" lvl="0" indent="0" algn="l" rtl="0">
              <a:lnSpc>
                <a:spcPct val="115000"/>
              </a:lnSpc>
              <a:spcBef>
                <a:spcPts val="1200"/>
              </a:spcBef>
              <a:spcAft>
                <a:spcPts val="0"/>
              </a:spcAft>
              <a:buClr>
                <a:schemeClr val="dk1"/>
              </a:buClr>
              <a:buSzPts val="1100"/>
              <a:buFont typeface="Arial"/>
              <a:buNone/>
            </a:pPr>
            <a:r>
              <a:rPr lang="en">
                <a:solidFill>
                  <a:srgbClr val="595959"/>
                </a:solidFill>
              </a:rPr>
              <a:t>Increase refresher and new employee training for catheter insertion</a:t>
            </a:r>
            <a:endParaRPr>
              <a:solidFill>
                <a:srgbClr val="595959"/>
              </a:solidFill>
            </a:endParaRPr>
          </a:p>
          <a:p>
            <a:pPr marL="0" lvl="0" indent="0" algn="l" rtl="0">
              <a:lnSpc>
                <a:spcPct val="115000"/>
              </a:lnSpc>
              <a:spcBef>
                <a:spcPts val="1200"/>
              </a:spcBef>
              <a:spcAft>
                <a:spcPts val="0"/>
              </a:spcAft>
              <a:buClr>
                <a:schemeClr val="dk1"/>
              </a:buClr>
              <a:buSzPts val="1100"/>
              <a:buFont typeface="Arial"/>
              <a:buNone/>
            </a:pPr>
            <a:r>
              <a:rPr lang="en">
                <a:solidFill>
                  <a:srgbClr val="595959"/>
                </a:solidFill>
              </a:rPr>
              <a:t>Collect, analyze and report measures routinely</a:t>
            </a:r>
            <a:endParaRPr>
              <a:solidFill>
                <a:srgbClr val="595959"/>
              </a:solidFill>
            </a:endParaRPr>
          </a:p>
          <a:p>
            <a:pPr marL="0" lvl="0" indent="0" algn="l" rtl="0">
              <a:spcBef>
                <a:spcPts val="120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12d770b9fa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 name="Google Shape;241;g12d770b9fa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f42c0f6c82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2" name="Google Shape;292;gf42c0f6c82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0000FF"/>
                </a:solidFill>
              </a:rPr>
              <a:t>..</a:t>
            </a:r>
            <a:endParaRPr>
              <a:solidFill>
                <a:srgbClr val="0000FF"/>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f42c0f6c82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2" name="Google Shape;292;gf42c0f6c82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0000FF"/>
                </a:solidFill>
              </a:rPr>
              <a:t>..</a:t>
            </a:r>
            <a:endParaRPr>
              <a:solidFill>
                <a:srgbClr val="0000FF"/>
              </a:solidFill>
            </a:endParaRPr>
          </a:p>
        </p:txBody>
      </p:sp>
    </p:spTree>
    <p:extLst>
      <p:ext uri="{BB962C8B-B14F-4D97-AF65-F5344CB8AC3E}">
        <p14:creationId xmlns:p14="http://schemas.microsoft.com/office/powerpoint/2010/main" val="31050608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12d770b9fa1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 name="Google Shape;298;g12d770b9fa1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sz="1300">
              <a:solidFill>
                <a:srgbClr val="595959"/>
              </a:solidFill>
            </a:endParaRPr>
          </a:p>
          <a:p>
            <a:pPr marL="0" lvl="0" indent="0" algn="l" rtl="0">
              <a:spcBef>
                <a:spcPts val="1200"/>
              </a:spcBef>
              <a:spcAft>
                <a:spcPts val="0"/>
              </a:spcAft>
              <a:buNone/>
            </a:pPr>
            <a:endParaRPr sz="4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111d00148c9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g111d00148c9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076536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30300" y="1803400"/>
            <a:ext cx="5825202" cy="1234727"/>
          </a:xfrm>
        </p:spPr>
        <p:txBody>
          <a:bodyPr anchor="b">
            <a:noAutofit/>
          </a:bodyPr>
          <a:lstStyle>
            <a:lvl1pPr algn="r">
              <a:defRPr sz="4050">
                <a:solidFill>
                  <a:schemeClr val="accent1"/>
                </a:solidFill>
              </a:defRPr>
            </a:lvl1pPr>
          </a:lstStyle>
          <a:p>
            <a:r>
              <a:rPr lang="en-US" dirty="0"/>
              <a:t>Click to edit Master title style</a:t>
            </a:r>
          </a:p>
        </p:txBody>
      </p:sp>
      <p:sp>
        <p:nvSpPr>
          <p:cNvPr id="3" name="Subtitle 2"/>
          <p:cNvSpPr>
            <a:spLocks noGrp="1"/>
          </p:cNvSpPr>
          <p:nvPr>
            <p:ph type="subTitle" idx="1"/>
          </p:nvPr>
        </p:nvSpPr>
        <p:spPr>
          <a:xfrm>
            <a:off x="1130300" y="3038125"/>
            <a:ext cx="5825202" cy="822674"/>
          </a:xfrm>
        </p:spPr>
        <p:txBody>
          <a:bodyPr anchor="t"/>
          <a:lstStyle>
            <a:lvl1pPr marL="0" indent="0" algn="r">
              <a:buNone/>
              <a:defRPr>
                <a:solidFill>
                  <a:schemeClr val="tx1">
                    <a:lumMod val="50000"/>
                    <a:lumOff val="5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grpSp>
        <p:nvGrpSpPr>
          <p:cNvPr id="45" name="Group 44">
            <a:extLst>
              <a:ext uri="{FF2B5EF4-FFF2-40B4-BE49-F238E27FC236}">
                <a16:creationId xmlns:a16="http://schemas.microsoft.com/office/drawing/2014/main" id="{E234AE20-A8F4-3BBD-1ABC-DDA2CCCBA3DB}"/>
              </a:ext>
            </a:extLst>
          </p:cNvPr>
          <p:cNvGrpSpPr/>
          <p:nvPr userDrawn="1"/>
        </p:nvGrpSpPr>
        <p:grpSpPr>
          <a:xfrm>
            <a:off x="0" y="17372"/>
            <a:ext cx="9144001" cy="5149852"/>
            <a:chOff x="0" y="-8467"/>
            <a:chExt cx="12192001" cy="6866471"/>
          </a:xfrm>
        </p:grpSpPr>
        <p:sp>
          <p:nvSpPr>
            <p:cNvPr id="46" name="Rectangle 23">
              <a:extLst>
                <a:ext uri="{FF2B5EF4-FFF2-40B4-BE49-F238E27FC236}">
                  <a16:creationId xmlns:a16="http://schemas.microsoft.com/office/drawing/2014/main" id="{FEAA03D2-5105-AC12-B75F-DD6D76837E48}"/>
                </a:ext>
              </a:extLst>
            </p:cNvPr>
            <p:cNvSpPr/>
            <p:nvPr/>
          </p:nvSpPr>
          <p:spPr>
            <a:xfrm>
              <a:off x="11216217" y="-8467"/>
              <a:ext cx="972605"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47" name="Rectangle 25">
              <a:extLst>
                <a:ext uri="{FF2B5EF4-FFF2-40B4-BE49-F238E27FC236}">
                  <a16:creationId xmlns:a16="http://schemas.microsoft.com/office/drawing/2014/main" id="{58D4A13C-2A0F-FB5C-0492-5C9AB76E2C9B}"/>
                </a:ext>
              </a:extLst>
            </p:cNvPr>
            <p:cNvSpPr/>
            <p:nvPr/>
          </p:nvSpPr>
          <p:spPr>
            <a:xfrm>
              <a:off x="11387137" y="-8467"/>
              <a:ext cx="804864"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48" name="Isosceles Triangle 47">
              <a:extLst>
                <a:ext uri="{FF2B5EF4-FFF2-40B4-BE49-F238E27FC236}">
                  <a16:creationId xmlns:a16="http://schemas.microsoft.com/office/drawing/2014/main" id="{9938C0FA-CBF0-C9AF-98CC-9C43449D8E27}"/>
                </a:ext>
              </a:extLst>
            </p:cNvPr>
            <p:cNvSpPr/>
            <p:nvPr/>
          </p:nvSpPr>
          <p:spPr>
            <a:xfrm>
              <a:off x="10687222" y="3048000"/>
              <a:ext cx="1504779" cy="3810001"/>
            </a:xfrm>
            <a:prstGeom prst="triangle">
              <a:avLst>
                <a:gd name="adj" fmla="val 100000"/>
              </a:avLst>
            </a:prstGeom>
            <a:solidFill>
              <a:schemeClr val="accent3">
                <a:lumMod val="75000"/>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49" name="Rectangle 27">
              <a:extLst>
                <a:ext uri="{FF2B5EF4-FFF2-40B4-BE49-F238E27FC236}">
                  <a16:creationId xmlns:a16="http://schemas.microsoft.com/office/drawing/2014/main" id="{AFB3E74B-5857-CDC3-54D9-E31B614414D5}"/>
                </a:ext>
              </a:extLst>
            </p:cNvPr>
            <p:cNvSpPr/>
            <p:nvPr/>
          </p:nvSpPr>
          <p:spPr>
            <a:xfrm>
              <a:off x="11390311" y="-8467"/>
              <a:ext cx="798513"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50" name="Rectangle 28">
              <a:extLst>
                <a:ext uri="{FF2B5EF4-FFF2-40B4-BE49-F238E27FC236}">
                  <a16:creationId xmlns:a16="http://schemas.microsoft.com/office/drawing/2014/main" id="{3360CA98-B509-1D33-04B3-1FAED0628B7F}"/>
                </a:ext>
              </a:extLst>
            </p:cNvPr>
            <p:cNvSpPr/>
            <p:nvPr/>
          </p:nvSpPr>
          <p:spPr>
            <a:xfrm>
              <a:off x="11174233" y="71437"/>
              <a:ext cx="948804" cy="6786564"/>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6">
                <a:lumMod val="40000"/>
                <a:lumOff val="6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51" name="Rectangle 29">
              <a:extLst>
                <a:ext uri="{FF2B5EF4-FFF2-40B4-BE49-F238E27FC236}">
                  <a16:creationId xmlns:a16="http://schemas.microsoft.com/office/drawing/2014/main" id="{AD9DC62E-F70B-DC53-E334-A6CD74107487}"/>
                </a:ext>
              </a:extLst>
            </p:cNvPr>
            <p:cNvSpPr/>
            <p:nvPr/>
          </p:nvSpPr>
          <p:spPr>
            <a:xfrm>
              <a:off x="11694053" y="-8467"/>
              <a:ext cx="49476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6">
                <a:lumMod val="75000"/>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52" name="Isosceles Triangle 51">
              <a:extLst>
                <a:ext uri="{FF2B5EF4-FFF2-40B4-BE49-F238E27FC236}">
                  <a16:creationId xmlns:a16="http://schemas.microsoft.com/office/drawing/2014/main" id="{D5328B96-9D2A-C38F-0053-1A1CC6312994}"/>
                </a:ext>
              </a:extLst>
            </p:cNvPr>
            <p:cNvSpPr/>
            <p:nvPr/>
          </p:nvSpPr>
          <p:spPr>
            <a:xfrm>
              <a:off x="10973781" y="4866377"/>
              <a:ext cx="1215047" cy="1991627"/>
            </a:xfrm>
            <a:prstGeom prst="triangle">
              <a:avLst>
                <a:gd name="adj" fmla="val 100000"/>
              </a:avLst>
            </a:prstGeom>
            <a:solidFill>
              <a:schemeClr val="accent6">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53" name="Isosceles Triangle 52">
              <a:extLst>
                <a:ext uri="{FF2B5EF4-FFF2-40B4-BE49-F238E27FC236}">
                  <a16:creationId xmlns:a16="http://schemas.microsoft.com/office/drawing/2014/main" id="{30A78599-EC2C-7374-AF11-7CD0182FFF8F}"/>
                </a:ext>
              </a:extLst>
            </p:cNvPr>
            <p:cNvSpPr/>
            <p:nvPr/>
          </p:nvSpPr>
          <p:spPr>
            <a:xfrm>
              <a:off x="0" y="4013200"/>
              <a:ext cx="448733" cy="2799095"/>
            </a:xfrm>
            <a:prstGeom prst="triangle">
              <a:avLst>
                <a:gd name="adj" fmla="val 0"/>
              </a:avLst>
            </a:prstGeom>
            <a:solidFill>
              <a:schemeClr val="accent6">
                <a:lumMod val="75000"/>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grpSp>
      <p:cxnSp>
        <p:nvCxnSpPr>
          <p:cNvPr id="54" name="Straight Connector 53">
            <a:extLst>
              <a:ext uri="{FF2B5EF4-FFF2-40B4-BE49-F238E27FC236}">
                <a16:creationId xmlns:a16="http://schemas.microsoft.com/office/drawing/2014/main" id="{CB653BB4-A8B2-002D-5F90-90ECC2E694BD}"/>
              </a:ext>
            </a:extLst>
          </p:cNvPr>
          <p:cNvCxnSpPr>
            <a:cxnSpLocks/>
          </p:cNvCxnSpPr>
          <p:nvPr userDrawn="1"/>
        </p:nvCxnSpPr>
        <p:spPr>
          <a:xfrm flipV="1">
            <a:off x="35720" y="17372"/>
            <a:ext cx="9070846" cy="14774"/>
          </a:xfrm>
          <a:prstGeom prst="line">
            <a:avLst/>
          </a:prstGeom>
          <a:ln w="76200" cap="sq">
            <a:solidFill>
              <a:schemeClr val="accent6">
                <a:lumMod val="75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21406663"/>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7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31056178"/>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08001" y="2025651"/>
            <a:ext cx="6447501" cy="1369936"/>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3395586"/>
            <a:ext cx="6447501" cy="645300"/>
          </a:xfrm>
        </p:spPr>
        <p:txBody>
          <a:bodyPr anchor="t"/>
          <a:lstStyle>
            <a:lvl1pPr marL="0" indent="0" algn="l">
              <a:buNone/>
              <a:defRPr sz="150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56405463"/>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08001" y="1620442"/>
            <a:ext cx="3138026" cy="29105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17477" y="1620442"/>
            <a:ext cx="3138026" cy="29105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799221392"/>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506809" y="1620737"/>
            <a:ext cx="3139217" cy="432197"/>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506809" y="2052934"/>
            <a:ext cx="3139217" cy="24780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16287" y="1620737"/>
            <a:ext cx="3139214" cy="432197"/>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816288" y="2052934"/>
            <a:ext cx="3139213" cy="24780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732320906"/>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08001" y="457200"/>
            <a:ext cx="6447501" cy="990600"/>
          </a:xfrm>
        </p:spPr>
        <p:txBody>
          <a:bodyPr/>
          <a:lstStyle/>
          <a:p>
            <a:r>
              <a:rPr lang="en-US"/>
              <a:t>Click to edit Master title style</a:t>
            </a:r>
            <a:endParaRPr lang="en-US" dirty="0"/>
          </a:p>
        </p:txBody>
      </p:sp>
    </p:spTree>
    <p:extLst>
      <p:ext uri="{BB962C8B-B14F-4D97-AF65-F5344CB8AC3E}">
        <p14:creationId xmlns:p14="http://schemas.microsoft.com/office/powerpoint/2010/main" val="1872362241"/>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BDD7FB1-E67C-C700-32AB-E1156FEAC21D}"/>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8344632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1123953"/>
            <a:ext cx="2890896" cy="958850"/>
          </a:xfrm>
        </p:spPr>
        <p:txBody>
          <a:bodyPr anchor="b">
            <a:normAutofit/>
          </a:bodyPr>
          <a:lstStyle>
            <a:lvl1pPr>
              <a:defRPr sz="1500"/>
            </a:lvl1pPr>
          </a:lstStyle>
          <a:p>
            <a:r>
              <a:rPr lang="en-US"/>
              <a:t>Click to edit Master title style</a:t>
            </a:r>
            <a:endParaRPr lang="en-US" dirty="0"/>
          </a:p>
        </p:txBody>
      </p:sp>
      <p:sp>
        <p:nvSpPr>
          <p:cNvPr id="3" name="Content Placeholder 2"/>
          <p:cNvSpPr>
            <a:spLocks noGrp="1"/>
          </p:cNvSpPr>
          <p:nvPr>
            <p:ph idx="1"/>
          </p:nvPr>
        </p:nvSpPr>
        <p:spPr>
          <a:xfrm>
            <a:off x="3570346" y="386193"/>
            <a:ext cx="3385156" cy="41448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08001" y="2082802"/>
            <a:ext cx="2890896" cy="1938337"/>
          </a:xfrm>
        </p:spPr>
        <p:txBody>
          <a:bodyPr>
            <a:normAutofit/>
          </a:bodyPr>
          <a:lstStyle>
            <a:lvl1pPr marL="0" indent="0">
              <a:buNone/>
              <a:defRPr sz="1050"/>
            </a:lvl1pPr>
            <a:lvl2pPr marL="342797" indent="0">
              <a:buNone/>
              <a:defRPr sz="1050"/>
            </a:lvl2pPr>
            <a:lvl3pPr marL="685595" indent="0">
              <a:buNone/>
              <a:defRPr sz="900"/>
            </a:lvl3pPr>
            <a:lvl4pPr marL="1028392" indent="0">
              <a:buNone/>
              <a:defRPr sz="750"/>
            </a:lvl4pPr>
            <a:lvl5pPr marL="1371188" indent="0">
              <a:buNone/>
              <a:defRPr sz="750"/>
            </a:lvl5pPr>
            <a:lvl6pPr marL="1713986" indent="0">
              <a:buNone/>
              <a:defRPr sz="750"/>
            </a:lvl6pPr>
            <a:lvl7pPr marL="2056783" indent="0">
              <a:buNone/>
              <a:defRPr sz="750"/>
            </a:lvl7pPr>
            <a:lvl8pPr marL="2399580" indent="0">
              <a:buNone/>
              <a:defRPr sz="750"/>
            </a:lvl8pPr>
            <a:lvl9pPr marL="2742377" indent="0">
              <a:buNone/>
              <a:defRPr sz="750"/>
            </a:lvl9pPr>
          </a:lstStyle>
          <a:p>
            <a:pPr lvl="0"/>
            <a:r>
              <a:rPr lang="en-US"/>
              <a:t>Click to edit Master text styles</a:t>
            </a:r>
          </a:p>
        </p:txBody>
      </p:sp>
    </p:spTree>
    <p:extLst>
      <p:ext uri="{BB962C8B-B14F-4D97-AF65-F5344CB8AC3E}">
        <p14:creationId xmlns:p14="http://schemas.microsoft.com/office/powerpoint/2010/main" val="1358090922"/>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3600450"/>
            <a:ext cx="6447500" cy="425054"/>
          </a:xfrm>
        </p:spPr>
        <p:txBody>
          <a:bodyPr anchor="b">
            <a:normAutofit/>
          </a:bodyPr>
          <a:lstStyle>
            <a:lvl1pPr algn="l">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08001" y="457200"/>
            <a:ext cx="6447501" cy="2884289"/>
          </a:xfrm>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508001" y="4025504"/>
            <a:ext cx="6447500" cy="505518"/>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Tree>
    <p:extLst>
      <p:ext uri="{BB962C8B-B14F-4D97-AF65-F5344CB8AC3E}">
        <p14:creationId xmlns:p14="http://schemas.microsoft.com/office/powerpoint/2010/main" val="1623196232"/>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457200"/>
            <a:ext cx="6447501" cy="2552700"/>
          </a:xfrm>
        </p:spPr>
        <p:txBody>
          <a:bodyPr anchor="ctr">
            <a:normAutofit/>
          </a:bodyPr>
          <a:lstStyle>
            <a:lvl1pPr algn="l">
              <a:defRPr sz="33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3352800"/>
            <a:ext cx="6447501" cy="117822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29118989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8500" y="457200"/>
            <a:ext cx="6070601" cy="226695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024604" y="2724150"/>
            <a:ext cx="5418393" cy="285750"/>
          </a:xfrm>
        </p:spPr>
        <p:txBody>
          <a:bodyPr anchor="ctr">
            <a:noAutofit/>
          </a:bodyPr>
          <a:lstStyle>
            <a:lvl1pPr marL="0" indent="0">
              <a:buFontTx/>
              <a:buNone/>
              <a:defRPr sz="1200">
                <a:solidFill>
                  <a:schemeClr val="tx1">
                    <a:lumMod val="50000"/>
                    <a:lumOff val="50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3352800"/>
            <a:ext cx="6447501" cy="117822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20" name="TextBox 19"/>
          <p:cNvSpPr txBox="1"/>
          <p:nvPr/>
        </p:nvSpPr>
        <p:spPr>
          <a:xfrm>
            <a:off x="406403" y="592784"/>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6669758" y="2164917"/>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latin typeface="Arial"/>
              </a:rPr>
              <a:t>”</a:t>
            </a:r>
            <a:endParaRPr lang="en-US" sz="1350" dirty="0">
              <a:solidFill>
                <a:schemeClr val="accent1">
                  <a:lumMod val="60000"/>
                  <a:lumOff val="40000"/>
                </a:schemeClr>
              </a:solidFill>
              <a:latin typeface="Arial"/>
            </a:endParaRPr>
          </a:p>
        </p:txBody>
      </p:sp>
    </p:spTree>
    <p:extLst>
      <p:ext uri="{BB962C8B-B14F-4D97-AF65-F5344CB8AC3E}">
        <p14:creationId xmlns:p14="http://schemas.microsoft.com/office/powerpoint/2010/main" val="185314248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508001" y="1448991"/>
            <a:ext cx="6447501" cy="1946595"/>
          </a:xfrm>
        </p:spPr>
        <p:txBody>
          <a:bodyPr anchor="b">
            <a:normAutofit/>
          </a:bodyPr>
          <a:lstStyle>
            <a:lvl1pPr algn="l">
              <a:defRPr sz="33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017351732"/>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698500" y="457200"/>
            <a:ext cx="6070601" cy="226695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507999" y="3009900"/>
            <a:ext cx="6447502" cy="385686"/>
          </a:xfrm>
        </p:spPr>
        <p:txBody>
          <a:bodyPr anchor="b">
            <a:noAutofit/>
          </a:bodyPr>
          <a:lstStyle>
            <a:lvl1pPr marL="0" indent="0">
              <a:buFontTx/>
              <a:buNone/>
              <a:defRPr sz="1800">
                <a:solidFill>
                  <a:schemeClr val="tx1">
                    <a:lumMod val="75000"/>
                    <a:lumOff val="25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24" name="TextBox 23"/>
          <p:cNvSpPr txBox="1"/>
          <p:nvPr/>
        </p:nvSpPr>
        <p:spPr>
          <a:xfrm>
            <a:off x="406403" y="592784"/>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669758" y="2164917"/>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695496948"/>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514350" y="457200"/>
            <a:ext cx="6441152" cy="226695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507999" y="3009900"/>
            <a:ext cx="6447502" cy="385686"/>
          </a:xfrm>
        </p:spPr>
        <p:txBody>
          <a:bodyPr anchor="b">
            <a:noAutofit/>
          </a:bodyPr>
          <a:lstStyle>
            <a:lvl1pPr marL="0" indent="0">
              <a:buFontTx/>
              <a:buNone/>
              <a:defRPr sz="1800">
                <a:solidFill>
                  <a:schemeClr val="accent1"/>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219499016"/>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17617326"/>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5755" y="457200"/>
            <a:ext cx="978557" cy="3938588"/>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508001" y="457200"/>
            <a:ext cx="5295113" cy="39385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561213726"/>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8"/>
        <p:cNvGrpSpPr/>
        <p:nvPr/>
      </p:nvGrpSpPr>
      <p:grpSpPr>
        <a:xfrm>
          <a:off x="0" y="0"/>
          <a:ext cx="0" cy="0"/>
          <a:chOff x="0" y="0"/>
          <a:chExt cx="0" cy="0"/>
        </a:xfrm>
      </p:grpSpPr>
      <p:sp>
        <p:nvSpPr>
          <p:cNvPr id="19" name="Google Shape;19;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0" name="Google Shape;20;p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Tree>
    <p:extLst>
      <p:ext uri="{BB962C8B-B14F-4D97-AF65-F5344CB8AC3E}">
        <p14:creationId xmlns:p14="http://schemas.microsoft.com/office/powerpoint/2010/main" val="236064110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2"/>
        <p:cNvGrpSpPr/>
        <p:nvPr/>
      </p:nvGrpSpPr>
      <p:grpSpPr>
        <a:xfrm>
          <a:off x="0" y="0"/>
          <a:ext cx="0" cy="0"/>
          <a:chOff x="0" y="0"/>
          <a:chExt cx="0" cy="0"/>
        </a:xfrm>
      </p:grpSpPr>
      <p:sp>
        <p:nvSpPr>
          <p:cNvPr id="23" name="Google Shape;23;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4" name="Google Shape;24;p6"/>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dirty="0"/>
          </a:p>
        </p:txBody>
      </p:sp>
      <p:sp>
        <p:nvSpPr>
          <p:cNvPr id="25" name="Google Shape;25;p6"/>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dirty="0"/>
          </a:p>
        </p:txBody>
      </p:sp>
    </p:spTree>
    <p:extLst>
      <p:ext uri="{BB962C8B-B14F-4D97-AF65-F5344CB8AC3E}">
        <p14:creationId xmlns:p14="http://schemas.microsoft.com/office/powerpoint/2010/main" val="18443489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2.jp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17372"/>
            <a:ext cx="9144001" cy="5149852"/>
            <a:chOff x="0" y="-8467"/>
            <a:chExt cx="12192001" cy="6866471"/>
          </a:xfrm>
        </p:grpSpPr>
        <p:sp>
          <p:nvSpPr>
            <p:cNvPr id="22" name="Rectangle 23"/>
            <p:cNvSpPr/>
            <p:nvPr/>
          </p:nvSpPr>
          <p:spPr>
            <a:xfrm>
              <a:off x="11216217" y="-8467"/>
              <a:ext cx="972605"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3" name="Rectangle 25"/>
            <p:cNvSpPr/>
            <p:nvPr/>
          </p:nvSpPr>
          <p:spPr>
            <a:xfrm>
              <a:off x="11387137" y="-8467"/>
              <a:ext cx="804864"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4" name="Isosceles Triangle 23"/>
            <p:cNvSpPr/>
            <p:nvPr/>
          </p:nvSpPr>
          <p:spPr>
            <a:xfrm>
              <a:off x="10687222" y="3048000"/>
              <a:ext cx="1504779" cy="3810001"/>
            </a:xfrm>
            <a:prstGeom prst="triangle">
              <a:avLst>
                <a:gd name="adj" fmla="val 100000"/>
              </a:avLst>
            </a:prstGeom>
            <a:solidFill>
              <a:schemeClr val="accent3">
                <a:lumMod val="75000"/>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5" name="Rectangle 27"/>
            <p:cNvSpPr/>
            <p:nvPr/>
          </p:nvSpPr>
          <p:spPr>
            <a:xfrm>
              <a:off x="11390311" y="-8467"/>
              <a:ext cx="798513"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6" name="Rectangle 28"/>
            <p:cNvSpPr/>
            <p:nvPr/>
          </p:nvSpPr>
          <p:spPr>
            <a:xfrm>
              <a:off x="11174233" y="71437"/>
              <a:ext cx="948804" cy="6786564"/>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6">
                <a:lumMod val="40000"/>
                <a:lumOff val="6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7" name="Rectangle 29"/>
            <p:cNvSpPr/>
            <p:nvPr/>
          </p:nvSpPr>
          <p:spPr>
            <a:xfrm>
              <a:off x="11694053" y="-8467"/>
              <a:ext cx="49476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6">
                <a:lumMod val="75000"/>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8" name="Isosceles Triangle 27"/>
            <p:cNvSpPr/>
            <p:nvPr/>
          </p:nvSpPr>
          <p:spPr>
            <a:xfrm>
              <a:off x="10973781" y="4866377"/>
              <a:ext cx="1215047" cy="1991627"/>
            </a:xfrm>
            <a:prstGeom prst="triangle">
              <a:avLst>
                <a:gd name="adj" fmla="val 100000"/>
              </a:avLst>
            </a:prstGeom>
            <a:solidFill>
              <a:schemeClr val="accent6">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9" name="Isosceles Triangle 28"/>
            <p:cNvSpPr/>
            <p:nvPr/>
          </p:nvSpPr>
          <p:spPr>
            <a:xfrm>
              <a:off x="0" y="4013200"/>
              <a:ext cx="448733" cy="2799095"/>
            </a:xfrm>
            <a:prstGeom prst="triangle">
              <a:avLst>
                <a:gd name="adj" fmla="val 0"/>
              </a:avLst>
            </a:prstGeom>
            <a:solidFill>
              <a:schemeClr val="accent6">
                <a:lumMod val="75000"/>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grpSp>
      <p:sp>
        <p:nvSpPr>
          <p:cNvPr id="2" name="Title Placeholder 1"/>
          <p:cNvSpPr>
            <a:spLocks noGrp="1"/>
          </p:cNvSpPr>
          <p:nvPr>
            <p:ph type="title"/>
          </p:nvPr>
        </p:nvSpPr>
        <p:spPr>
          <a:xfrm>
            <a:off x="508001" y="457200"/>
            <a:ext cx="6447501" cy="99060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p:cNvSpPr>
            <a:spLocks noGrp="1"/>
          </p:cNvSpPr>
          <p:nvPr>
            <p:ph type="body" idx="1"/>
          </p:nvPr>
        </p:nvSpPr>
        <p:spPr>
          <a:xfrm>
            <a:off x="508001" y="1620442"/>
            <a:ext cx="6447501" cy="291058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3850" y="4531022"/>
            <a:ext cx="683954" cy="273844"/>
          </a:xfrm>
          <a:prstGeom prst="rect">
            <a:avLst/>
          </a:prstGeom>
        </p:spPr>
        <p:txBody>
          <a:bodyPr vert="horz" lIns="91440" tIns="45720" rIns="91440" bIns="45720" rtlCol="0" anchor="ctr"/>
          <a:lstStyle>
            <a:lvl1pPr algn="r">
              <a:defRPr sz="675">
                <a:solidFill>
                  <a:schemeClr val="tx1">
                    <a:tint val="75000"/>
                  </a:schemeClr>
                </a:solidFill>
              </a:defRPr>
            </a:lvl1pPr>
          </a:lstStyle>
          <a:p>
            <a:fld id="{B61BEF0D-F0BB-DE4B-95CE-6DB70DBA9567}" type="datetimeFigureOut">
              <a:rPr lang="en-US" dirty="0"/>
              <a:pPr/>
              <a:t>9/18/2026</a:t>
            </a:fld>
            <a:endParaRPr lang="en-US" dirty="0"/>
          </a:p>
        </p:txBody>
      </p:sp>
      <p:sp>
        <p:nvSpPr>
          <p:cNvPr id="5" name="Footer Placeholder 4"/>
          <p:cNvSpPr>
            <a:spLocks noGrp="1"/>
          </p:cNvSpPr>
          <p:nvPr>
            <p:ph type="ftr" sz="quarter" idx="3"/>
          </p:nvPr>
        </p:nvSpPr>
        <p:spPr>
          <a:xfrm>
            <a:off x="508001" y="4531022"/>
            <a:ext cx="4723209" cy="273844"/>
          </a:xfrm>
          <a:prstGeom prst="rect">
            <a:avLst/>
          </a:prstGeom>
        </p:spPr>
        <p:txBody>
          <a:bodyPr vert="horz" lIns="91440" tIns="45720" rIns="91440" bIns="45720" rtlCol="0" anchor="ctr"/>
          <a:lstStyle>
            <a:lvl1pPr algn="l">
              <a:defRPr sz="675">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42998" y="4531022"/>
            <a:ext cx="512504" cy="273844"/>
          </a:xfrm>
          <a:prstGeom prst="rect">
            <a:avLst/>
          </a:prstGeom>
        </p:spPr>
        <p:txBody>
          <a:bodyPr vert="horz" lIns="91440" tIns="45720" rIns="91440" bIns="45720" rtlCol="0" anchor="ctr"/>
          <a:lstStyle>
            <a:lvl1pPr algn="r">
              <a:defRPr sz="675">
                <a:solidFill>
                  <a:schemeClr val="accent1"/>
                </a:solidFill>
              </a:defRPr>
            </a:lvl1pPr>
          </a:lstStyle>
          <a:p>
            <a:fld id="{D57F1E4F-1CFF-5643-939E-217C01CDF565}" type="slidenum">
              <a:rPr lang="en-US" dirty="0"/>
              <a:pPr/>
              <a:t>‹#›</a:t>
            </a:fld>
            <a:endParaRPr lang="en-US" dirty="0"/>
          </a:p>
        </p:txBody>
      </p:sp>
      <p:pic>
        <p:nvPicPr>
          <p:cNvPr id="8" name="Picture 7" descr="Text&#10;&#10;Description automatically generated">
            <a:extLst>
              <a:ext uri="{FF2B5EF4-FFF2-40B4-BE49-F238E27FC236}">
                <a16:creationId xmlns:a16="http://schemas.microsoft.com/office/drawing/2014/main" id="{3B10095E-81CB-CFC9-69E5-AD8AA35EBD2E}"/>
              </a:ext>
            </a:extLst>
          </p:cNvPr>
          <p:cNvPicPr>
            <a:picLocks noChangeAspect="1"/>
          </p:cNvPicPr>
          <p:nvPr userDrawn="1"/>
        </p:nvPicPr>
        <p:blipFill>
          <a:blip r:embed="rId20"/>
          <a:stretch>
            <a:fillRect/>
          </a:stretch>
        </p:blipFill>
        <p:spPr>
          <a:xfrm>
            <a:off x="913664" y="4684128"/>
            <a:ext cx="1343762" cy="459371"/>
          </a:xfrm>
          <a:prstGeom prst="rect">
            <a:avLst/>
          </a:prstGeom>
        </p:spPr>
      </p:pic>
      <p:pic>
        <p:nvPicPr>
          <p:cNvPr id="9" name="Picture 8" descr="Logo, company name&#10;&#10;Description automatically generated">
            <a:extLst>
              <a:ext uri="{FF2B5EF4-FFF2-40B4-BE49-F238E27FC236}">
                <a16:creationId xmlns:a16="http://schemas.microsoft.com/office/drawing/2014/main" id="{FDB917F3-8D4F-D12D-57B9-968F10A9840D}"/>
              </a:ext>
            </a:extLst>
          </p:cNvPr>
          <p:cNvPicPr>
            <a:picLocks noChangeAspect="1"/>
          </p:cNvPicPr>
          <p:nvPr userDrawn="1"/>
        </p:nvPicPr>
        <p:blipFill>
          <a:blip r:embed="rId21"/>
          <a:stretch>
            <a:fillRect/>
          </a:stretch>
        </p:blipFill>
        <p:spPr>
          <a:xfrm>
            <a:off x="3939555" y="4710464"/>
            <a:ext cx="1025352" cy="415664"/>
          </a:xfrm>
          <a:prstGeom prst="rect">
            <a:avLst/>
          </a:prstGeom>
        </p:spPr>
      </p:pic>
      <p:pic>
        <p:nvPicPr>
          <p:cNvPr id="10" name="Picture 9" descr="Text&#10;&#10;Description automatically generated with medium confidence">
            <a:extLst>
              <a:ext uri="{FF2B5EF4-FFF2-40B4-BE49-F238E27FC236}">
                <a16:creationId xmlns:a16="http://schemas.microsoft.com/office/drawing/2014/main" id="{F12CBEC9-A598-778C-1779-FE331842C192}"/>
              </a:ext>
            </a:extLst>
          </p:cNvPr>
          <p:cNvPicPr>
            <a:picLocks noChangeAspect="1"/>
          </p:cNvPicPr>
          <p:nvPr userDrawn="1"/>
        </p:nvPicPr>
        <p:blipFill>
          <a:blip r:embed="rId22"/>
          <a:stretch>
            <a:fillRect/>
          </a:stretch>
        </p:blipFill>
        <p:spPr>
          <a:xfrm>
            <a:off x="7003835" y="4689048"/>
            <a:ext cx="804284" cy="443895"/>
          </a:xfrm>
          <a:prstGeom prst="rect">
            <a:avLst/>
          </a:prstGeom>
        </p:spPr>
      </p:pic>
      <p:cxnSp>
        <p:nvCxnSpPr>
          <p:cNvPr id="12" name="Straight Connector 11">
            <a:extLst>
              <a:ext uri="{FF2B5EF4-FFF2-40B4-BE49-F238E27FC236}">
                <a16:creationId xmlns:a16="http://schemas.microsoft.com/office/drawing/2014/main" id="{7275E142-CA65-CB41-ED17-B963086E8AD6}"/>
              </a:ext>
            </a:extLst>
          </p:cNvPr>
          <p:cNvCxnSpPr>
            <a:cxnSpLocks/>
          </p:cNvCxnSpPr>
          <p:nvPr userDrawn="1"/>
        </p:nvCxnSpPr>
        <p:spPr>
          <a:xfrm flipV="1">
            <a:off x="35720" y="17372"/>
            <a:ext cx="9070846" cy="14774"/>
          </a:xfrm>
          <a:prstGeom prst="line">
            <a:avLst/>
          </a:prstGeom>
          <a:ln w="76200" cap="sq">
            <a:solidFill>
              <a:schemeClr val="accent6">
                <a:lumMod val="75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5495799"/>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 id="2147483732" r:id="rId18"/>
  </p:sldLayoutIdLst>
  <p:hf sldNum="0" hdr="0" ftr="0" dt="0"/>
  <p:txStyles>
    <p:titleStyle>
      <a:lvl1pPr algn="l" defTabSz="342900" rtl="0" eaLnBrk="1" latinLnBrk="0" hangingPunct="1">
        <a:spcBef>
          <a:spcPct val="0"/>
        </a:spcBef>
        <a:buNone/>
        <a:defRPr sz="27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accent1"/>
        </a:buClr>
        <a:buSzPct val="80000"/>
        <a:buFont typeface="Wingdings 3" charset="2"/>
        <a:buChar char=""/>
        <a:defRPr sz="1350" kern="1200">
          <a:solidFill>
            <a:schemeClr val="tx1">
              <a:lumMod val="75000"/>
              <a:lumOff val="25000"/>
            </a:schemeClr>
          </a:solidFill>
          <a:latin typeface="+mn-lt"/>
          <a:ea typeface="+mn-ea"/>
          <a:cs typeface="+mn-cs"/>
        </a:defRPr>
      </a:lvl1pPr>
      <a:lvl2pPr marL="557213" indent="-214313" algn="l" defTabSz="342900" rtl="0" eaLnBrk="1" latinLnBrk="0" hangingPunct="1">
        <a:spcBef>
          <a:spcPts val="75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2pPr>
      <a:lvl3pPr marL="857250" indent="-171450" algn="l" defTabSz="342900" rtl="0" eaLnBrk="1" latinLnBrk="0" hangingPunct="1">
        <a:spcBef>
          <a:spcPts val="750"/>
        </a:spcBef>
        <a:spcAft>
          <a:spcPts val="0"/>
        </a:spcAft>
        <a:buClr>
          <a:schemeClr val="accent1"/>
        </a:buClr>
        <a:buSzPct val="80000"/>
        <a:buFont typeface="Wingdings 3" charset="2"/>
        <a:buChar char=""/>
        <a:defRPr sz="1050" kern="1200">
          <a:solidFill>
            <a:schemeClr val="tx1">
              <a:lumMod val="75000"/>
              <a:lumOff val="25000"/>
            </a:schemeClr>
          </a:solidFill>
          <a:latin typeface="+mn-lt"/>
          <a:ea typeface="+mn-ea"/>
          <a:cs typeface="+mn-cs"/>
        </a:defRPr>
      </a:lvl3pPr>
      <a:lvl4pPr marL="12001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4pPr>
      <a:lvl5pPr marL="15430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msqc.org/" TargetMode="External"/><Relationship Id="rId2" Type="http://schemas.openxmlformats.org/officeDocument/2006/relationships/notesSlide" Target="../notesSlides/notesSlide2.xml"/><Relationship Id="rId1" Type="http://schemas.openxmlformats.org/officeDocument/2006/relationships/slideLayout" Target="../slideLayouts/slideLayout17.xml"/><Relationship Id="rId5" Type="http://schemas.openxmlformats.org/officeDocument/2006/relationships/image" Target="../media/image4.png"/><Relationship Id="rId4" Type="http://schemas.openxmlformats.org/officeDocument/2006/relationships/hyperlink" Target="https://msqc.org/success/"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7.xml"/><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jpe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8.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8.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jpe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17.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3" Type="http://schemas.openxmlformats.org/officeDocument/2006/relationships/hyperlink" Target="mailto:jameling@umich.edu" TargetMode="External"/><Relationship Id="rId2" Type="http://schemas.openxmlformats.org/officeDocument/2006/relationships/notesSlide" Target="../notesSlides/notesSlide19.xml"/><Relationship Id="rId1" Type="http://schemas.openxmlformats.org/officeDocument/2006/relationships/slideLayout" Target="../slideLayouts/slideLayout17.xml"/><Relationship Id="rId5" Type="http://schemas.openxmlformats.org/officeDocument/2006/relationships/hyperlink" Target="mailto:ccrocker@med.umich.edu" TargetMode="External"/><Relationship Id="rId4" Type="http://schemas.openxmlformats.org/officeDocument/2006/relationships/hyperlink" Target="mailto:hendren@med.umich.edu"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25.jpg"/><Relationship Id="rId7" Type="http://schemas.openxmlformats.org/officeDocument/2006/relationships/image" Target="../media/image29.jpeg"/><Relationship Id="rId2" Type="http://schemas.openxmlformats.org/officeDocument/2006/relationships/notesSlide" Target="../notesSlides/notesSlide20.xml"/><Relationship Id="rId1" Type="http://schemas.openxmlformats.org/officeDocument/2006/relationships/slideLayout" Target="../slideLayouts/slideLayout17.xml"/><Relationship Id="rId6" Type="http://schemas.openxmlformats.org/officeDocument/2006/relationships/image" Target="../media/image28.jpeg"/><Relationship Id="rId5" Type="http://schemas.openxmlformats.org/officeDocument/2006/relationships/image" Target="../media/image27.jpeg"/><Relationship Id="rId4" Type="http://schemas.openxmlformats.org/officeDocument/2006/relationships/image" Target="../media/image26.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14"/>
          <p:cNvSpPr txBox="1">
            <a:spLocks noGrp="1"/>
          </p:cNvSpPr>
          <p:nvPr>
            <p:ph type="ctrTitle"/>
          </p:nvPr>
        </p:nvSpPr>
        <p:spPr>
          <a:xfrm>
            <a:off x="142240" y="3094800"/>
            <a:ext cx="8520600" cy="11712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sz="1500" dirty="0"/>
              <a:t>Michigan Surgical Quality Collaborative: </a:t>
            </a:r>
            <a:endParaRPr sz="1500" dirty="0"/>
          </a:p>
          <a:p>
            <a:pPr marL="0" lvl="0" indent="0" algn="ctr" rtl="0">
              <a:spcBef>
                <a:spcPts val="0"/>
              </a:spcBef>
              <a:spcAft>
                <a:spcPts val="0"/>
              </a:spcAft>
              <a:buNone/>
            </a:pPr>
            <a:r>
              <a:rPr lang="en" sz="1500" dirty="0"/>
              <a:t>SUCCESS Performance Improvement Project </a:t>
            </a:r>
            <a:br>
              <a:rPr lang="en" sz="1500" dirty="0"/>
            </a:br>
            <a:r>
              <a:rPr lang="en" sz="1500" dirty="0"/>
              <a:t>Project Kick-off Video</a:t>
            </a:r>
            <a:br>
              <a:rPr lang="en" sz="1500" dirty="0"/>
            </a:br>
            <a:r>
              <a:rPr lang="en" sz="1500" dirty="0"/>
              <a:t>January 2024</a:t>
            </a:r>
            <a:endParaRPr sz="1500" dirty="0"/>
          </a:p>
        </p:txBody>
      </p:sp>
      <p:sp>
        <p:nvSpPr>
          <p:cNvPr id="58" name="Google Shape;58;p14"/>
          <p:cNvSpPr txBox="1"/>
          <p:nvPr/>
        </p:nvSpPr>
        <p:spPr>
          <a:xfrm>
            <a:off x="142240" y="413825"/>
            <a:ext cx="8674585" cy="2524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3400" b="1" dirty="0"/>
              <a:t>Enhancing Urinary Catheter  Appropriateness and Safety </a:t>
            </a:r>
            <a:endParaRPr sz="3400" b="1" dirty="0"/>
          </a:p>
          <a:p>
            <a:pPr marL="0" lvl="0" indent="0" algn="ctr" rtl="0">
              <a:spcBef>
                <a:spcPts val="0"/>
              </a:spcBef>
              <a:spcAft>
                <a:spcPts val="0"/>
              </a:spcAft>
              <a:buNone/>
            </a:pPr>
            <a:r>
              <a:rPr lang="en" sz="3400" b="1" dirty="0"/>
              <a:t>for Adult Surgical Patients:</a:t>
            </a:r>
            <a:endParaRPr sz="3400" b="1" dirty="0"/>
          </a:p>
          <a:p>
            <a:pPr marL="0" lvl="0" indent="0" algn="ctr" rtl="0">
              <a:spcBef>
                <a:spcPts val="0"/>
              </a:spcBef>
              <a:spcAft>
                <a:spcPts val="0"/>
              </a:spcAft>
              <a:buNone/>
            </a:pPr>
            <a:r>
              <a:rPr lang="en" sz="2500" b="1" dirty="0">
                <a:solidFill>
                  <a:schemeClr val="dk2"/>
                </a:solidFill>
              </a:rPr>
              <a:t>Beyond Catheter-Associated Urinary Tract Infection (CAUTI) Prevention</a:t>
            </a:r>
            <a:endParaRPr sz="2500" b="1" dirty="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5"/>
          <p:cNvSpPr txBox="1">
            <a:spLocks noGrp="1"/>
          </p:cNvSpPr>
          <p:nvPr>
            <p:ph type="body" idx="1"/>
          </p:nvPr>
        </p:nvSpPr>
        <p:spPr>
          <a:xfrm>
            <a:off x="311700" y="446562"/>
            <a:ext cx="8520600" cy="4093028"/>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000" dirty="0">
                <a:solidFill>
                  <a:schemeClr val="accent6">
                    <a:lumMod val="75000"/>
                  </a:schemeClr>
                </a:solidFill>
              </a:rPr>
              <a:t>Evidence and support of this project provided by the: </a:t>
            </a:r>
          </a:p>
          <a:p>
            <a:pPr marL="0" lvl="0" indent="0" algn="l" rtl="0">
              <a:spcBef>
                <a:spcPts val="0"/>
              </a:spcBef>
              <a:spcAft>
                <a:spcPts val="0"/>
              </a:spcAft>
              <a:buNone/>
            </a:pPr>
            <a:endParaRPr sz="2000" dirty="0"/>
          </a:p>
          <a:p>
            <a:pPr marL="0" lvl="0" indent="0" algn="l" rtl="0">
              <a:spcBef>
                <a:spcPts val="1200"/>
              </a:spcBef>
              <a:spcAft>
                <a:spcPts val="0"/>
              </a:spcAft>
              <a:buNone/>
            </a:pPr>
            <a:r>
              <a:rPr lang="en" sz="2000" u="sng" dirty="0">
                <a:solidFill>
                  <a:schemeClr val="hlink"/>
                </a:solidFill>
                <a:hlinkClick r:id="rId3"/>
              </a:rPr>
              <a:t>Michigan Surgical Quality Collaborative (MSQC)</a:t>
            </a:r>
            <a:r>
              <a:rPr lang="en" sz="2000" dirty="0"/>
              <a:t> in partnership with the </a:t>
            </a:r>
            <a:endParaRPr sz="2000" dirty="0"/>
          </a:p>
          <a:p>
            <a:pPr marL="0" lvl="0" indent="0" algn="l" rtl="0">
              <a:spcBef>
                <a:spcPts val="1200"/>
              </a:spcBef>
              <a:spcAft>
                <a:spcPts val="0"/>
              </a:spcAft>
              <a:buNone/>
            </a:pPr>
            <a:r>
              <a:rPr lang="en" sz="2000" u="sng" dirty="0">
                <a:solidFill>
                  <a:schemeClr val="hlink"/>
                </a:solidFill>
                <a:hlinkClick r:id="rId4"/>
              </a:rPr>
              <a:t>Surgical Urinary Catheter Care Enhancement Safety Study (SUCCESS)</a:t>
            </a:r>
            <a:endParaRPr sz="2000" dirty="0"/>
          </a:p>
          <a:p>
            <a:pPr marL="0" lvl="0" indent="0" algn="l" rtl="0">
              <a:spcBef>
                <a:spcPts val="1200"/>
              </a:spcBef>
              <a:spcAft>
                <a:spcPts val="0"/>
              </a:spcAft>
              <a:buNone/>
            </a:pPr>
            <a:endParaRPr sz="2000" dirty="0"/>
          </a:p>
          <a:p>
            <a:pPr marL="0" lvl="0" indent="0" algn="l" rtl="0">
              <a:spcBef>
                <a:spcPts val="1200"/>
              </a:spcBef>
              <a:spcAft>
                <a:spcPts val="1200"/>
              </a:spcAft>
              <a:buNone/>
            </a:pPr>
            <a:endParaRPr dirty="0"/>
          </a:p>
        </p:txBody>
      </p:sp>
      <p:pic>
        <p:nvPicPr>
          <p:cNvPr id="64" name="Google Shape;64;p15"/>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311700" y="2222239"/>
            <a:ext cx="3860474" cy="1329725"/>
          </a:xfrm>
          <a:prstGeom prst="rect">
            <a:avLst/>
          </a:prstGeom>
          <a:noFill/>
          <a:ln>
            <a:noFill/>
          </a:ln>
        </p:spPr>
      </p:pic>
      <p:sp>
        <p:nvSpPr>
          <p:cNvPr id="65" name="Google Shape;65;p15"/>
          <p:cNvSpPr txBox="1"/>
          <p:nvPr/>
        </p:nvSpPr>
        <p:spPr>
          <a:xfrm>
            <a:off x="311700" y="3551964"/>
            <a:ext cx="7572460" cy="1077188"/>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 sz="1500" dirty="0"/>
              <a:t>This work was supported by the Agency for Healthcare Research and Quality (AHRQ) grant number 1R01HS026912 and Blue Cross Blue Shield of Michigan (BCBSM).</a:t>
            </a:r>
            <a:endParaRPr sz="1500" dirty="0"/>
          </a:p>
          <a:p>
            <a:pPr marL="0" lvl="0" indent="0" algn="l" rtl="0">
              <a:spcBef>
                <a:spcPts val="0"/>
              </a:spcBef>
              <a:spcAft>
                <a:spcPts val="0"/>
              </a:spcAft>
              <a:buClr>
                <a:schemeClr val="dk1"/>
              </a:buClr>
              <a:buSzPts val="1100"/>
              <a:buFont typeface="Arial"/>
              <a:buNone/>
            </a:pPr>
            <a:endParaRPr sz="1000" dirty="0"/>
          </a:p>
          <a:p>
            <a:pPr marL="0" lvl="0" indent="0" algn="l" rtl="0">
              <a:spcBef>
                <a:spcPts val="0"/>
              </a:spcBef>
              <a:spcAft>
                <a:spcPts val="0"/>
              </a:spcAft>
              <a:buNone/>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16"/>
          <p:cNvSpPr txBox="1">
            <a:spLocks noGrp="1"/>
          </p:cNvSpPr>
          <p:nvPr>
            <p:ph type="title"/>
          </p:nvPr>
        </p:nvSpPr>
        <p:spPr>
          <a:xfrm>
            <a:off x="210375" y="2852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dirty="0"/>
              <a:t>Purpose of this presentation: </a:t>
            </a:r>
            <a:endParaRPr b="1" dirty="0"/>
          </a:p>
        </p:txBody>
      </p:sp>
      <p:sp>
        <p:nvSpPr>
          <p:cNvPr id="71" name="Google Shape;71;p16"/>
          <p:cNvSpPr txBox="1">
            <a:spLocks noGrp="1"/>
          </p:cNvSpPr>
          <p:nvPr>
            <p:ph type="body" idx="1"/>
          </p:nvPr>
        </p:nvSpPr>
        <p:spPr>
          <a:xfrm>
            <a:off x="311700" y="1152475"/>
            <a:ext cx="8232860" cy="3416400"/>
          </a:xfrm>
          <a:prstGeom prst="rect">
            <a:avLst/>
          </a:prstGeom>
        </p:spPr>
        <p:txBody>
          <a:bodyPr spcFirstLastPara="1" wrap="square" lIns="91425" tIns="91425" rIns="91425" bIns="91425" anchor="t" anchorCtr="0">
            <a:normAutofit/>
          </a:bodyPr>
          <a:lstStyle/>
          <a:p>
            <a:pPr marL="577850" lvl="0" indent="-457200" algn="l" rtl="0">
              <a:spcBef>
                <a:spcPts val="0"/>
              </a:spcBef>
              <a:spcAft>
                <a:spcPts val="0"/>
              </a:spcAft>
              <a:buSzPct val="100000"/>
              <a:buFont typeface="+mj-lt"/>
              <a:buAutoNum type="arabicPeriod"/>
            </a:pPr>
            <a:r>
              <a:rPr lang="en" sz="2000" dirty="0">
                <a:solidFill>
                  <a:srgbClr val="002D5E"/>
                </a:solidFill>
              </a:rPr>
              <a:t>Explain why urinary catheter safety needs to be a priority now. </a:t>
            </a:r>
            <a:endParaRPr sz="2000" dirty="0">
              <a:solidFill>
                <a:srgbClr val="002D5E"/>
              </a:solidFill>
            </a:endParaRPr>
          </a:p>
          <a:p>
            <a:pPr marL="914400" lvl="0" indent="-457200" algn="l" rtl="0">
              <a:spcBef>
                <a:spcPts val="1200"/>
              </a:spcBef>
              <a:spcAft>
                <a:spcPts val="0"/>
              </a:spcAft>
              <a:buFont typeface="+mj-lt"/>
              <a:buAutoNum type="arabicPeriod"/>
            </a:pPr>
            <a:endParaRPr sz="2000" dirty="0">
              <a:solidFill>
                <a:srgbClr val="002D5E"/>
              </a:solidFill>
            </a:endParaRPr>
          </a:p>
          <a:p>
            <a:pPr marL="577850" lvl="0" indent="-457200" algn="l" rtl="0">
              <a:spcBef>
                <a:spcPts val="1200"/>
              </a:spcBef>
              <a:spcAft>
                <a:spcPts val="0"/>
              </a:spcAft>
              <a:buSzPct val="100000"/>
              <a:buFont typeface="+mj-lt"/>
              <a:buAutoNum type="arabicPeriod"/>
            </a:pPr>
            <a:r>
              <a:rPr lang="en" sz="2000" dirty="0">
                <a:solidFill>
                  <a:srgbClr val="002D5E"/>
                </a:solidFill>
              </a:rPr>
              <a:t>Discuss the data from MSQC about catheter safety and appropriateness.</a:t>
            </a:r>
          </a:p>
          <a:p>
            <a:pPr marL="577850" lvl="0" indent="-457200" algn="l" rtl="0">
              <a:spcBef>
                <a:spcPts val="1200"/>
              </a:spcBef>
              <a:spcAft>
                <a:spcPts val="0"/>
              </a:spcAft>
              <a:buSzPct val="100000"/>
              <a:buFont typeface="+mj-lt"/>
              <a:buAutoNum type="arabicPeriod"/>
            </a:pPr>
            <a:endParaRPr sz="2000" dirty="0">
              <a:solidFill>
                <a:srgbClr val="002D5E"/>
              </a:solidFill>
            </a:endParaRPr>
          </a:p>
          <a:p>
            <a:pPr marL="577850" lvl="0" indent="-457200" algn="l" rtl="0">
              <a:spcBef>
                <a:spcPts val="1200"/>
              </a:spcBef>
              <a:spcAft>
                <a:spcPts val="0"/>
              </a:spcAft>
              <a:buClr>
                <a:schemeClr val="accent6"/>
              </a:buClr>
              <a:buSzPct val="100000"/>
              <a:buFont typeface="+mj-lt"/>
              <a:buAutoNum type="arabicPeriod"/>
            </a:pPr>
            <a:r>
              <a:rPr lang="en" sz="2000" dirty="0">
                <a:solidFill>
                  <a:srgbClr val="002D5E"/>
                </a:solidFill>
              </a:rPr>
              <a:t>Introduce SUCCESS toolkit items for reducing unnecessary catheter use, optimize catheter insertion safety, and improve the patient experience.</a:t>
            </a:r>
          </a:p>
        </p:txBody>
      </p:sp>
      <p:sp>
        <p:nvSpPr>
          <p:cNvPr id="72" name="Google Shape;72;p16"/>
          <p:cNvSpPr txBox="1"/>
          <p:nvPr/>
        </p:nvSpPr>
        <p:spPr>
          <a:xfrm>
            <a:off x="7825675" y="2972000"/>
            <a:ext cx="2649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7"/>
          <p:cNvSpPr txBox="1">
            <a:spLocks noGrp="1"/>
          </p:cNvSpPr>
          <p:nvPr>
            <p:ph type="title"/>
          </p:nvPr>
        </p:nvSpPr>
        <p:spPr>
          <a:xfrm>
            <a:off x="64194" y="19990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dirty="0"/>
              <a:t> </a:t>
            </a:r>
            <a:r>
              <a:rPr lang="en" sz="2800" b="1" dirty="0"/>
              <a:t>Why urinary catheter safety needs to be a priority now</a:t>
            </a:r>
            <a:endParaRPr sz="2800"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8"/>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dirty="0"/>
              <a:t>Bottom line:</a:t>
            </a:r>
            <a:endParaRPr b="1" dirty="0"/>
          </a:p>
        </p:txBody>
      </p:sp>
      <p:sp>
        <p:nvSpPr>
          <p:cNvPr id="83" name="Google Shape;83;p18"/>
          <p:cNvSpPr txBox="1">
            <a:spLocks noGrp="1"/>
          </p:cNvSpPr>
          <p:nvPr>
            <p:ph type="body" idx="1"/>
          </p:nvPr>
        </p:nvSpPr>
        <p:spPr>
          <a:xfrm>
            <a:off x="235975" y="1017725"/>
            <a:ext cx="8007375" cy="3551150"/>
          </a:xfrm>
          <a:prstGeom prst="rect">
            <a:avLst/>
          </a:prstGeom>
        </p:spPr>
        <p:txBody>
          <a:bodyPr spcFirstLastPara="1" wrap="square" lIns="91425" tIns="91425" rIns="91425" bIns="91425" anchor="t" anchorCtr="0">
            <a:normAutofit/>
          </a:bodyPr>
          <a:lstStyle/>
          <a:p>
            <a:pPr marL="463233" lvl="0" algn="l" rtl="0">
              <a:spcBef>
                <a:spcPts val="0"/>
              </a:spcBef>
              <a:spcAft>
                <a:spcPts val="0"/>
              </a:spcAft>
              <a:buSzPct val="100000"/>
              <a:buFont typeface="Arial" panose="020B0604020202020204" pitchFamily="34" charset="0"/>
              <a:buChar char="•"/>
            </a:pPr>
            <a:r>
              <a:rPr lang="en-US" sz="1800" dirty="0">
                <a:solidFill>
                  <a:srgbClr val="002D5E"/>
                </a:solidFill>
              </a:rPr>
              <a:t>Urinary catheter-associated injury is </a:t>
            </a:r>
            <a:r>
              <a:rPr lang="en-US" sz="1800" u="sng" dirty="0">
                <a:solidFill>
                  <a:schemeClr val="accent2"/>
                </a:solidFill>
              </a:rPr>
              <a:t>not minor or rare</a:t>
            </a:r>
          </a:p>
          <a:p>
            <a:pPr marL="120333" lvl="0" indent="0" algn="l" rtl="0">
              <a:spcBef>
                <a:spcPts val="0"/>
              </a:spcBef>
              <a:spcAft>
                <a:spcPts val="0"/>
              </a:spcAft>
              <a:buSzPct val="100000"/>
              <a:buNone/>
            </a:pPr>
            <a:endParaRPr lang="en-US" sz="1800" dirty="0">
              <a:solidFill>
                <a:schemeClr val="accent2"/>
              </a:solidFill>
            </a:endParaRPr>
          </a:p>
          <a:p>
            <a:pPr marL="463233" lvl="0" algn="l" rtl="0">
              <a:spcBef>
                <a:spcPts val="0"/>
              </a:spcBef>
              <a:spcAft>
                <a:spcPts val="0"/>
              </a:spcAft>
              <a:buSzPct val="100000"/>
              <a:buFont typeface="Arial" panose="020B0604020202020204" pitchFamily="34" charset="0"/>
              <a:buChar char="•"/>
            </a:pPr>
            <a:r>
              <a:rPr lang="en-US" sz="1800" dirty="0">
                <a:solidFill>
                  <a:srgbClr val="002D5E"/>
                </a:solidFill>
              </a:rPr>
              <a:t>Urinary catheter-associated complications and urethral injuries are </a:t>
            </a:r>
            <a:r>
              <a:rPr lang="en-US" sz="1800" u="sng" dirty="0">
                <a:solidFill>
                  <a:schemeClr val="accent2"/>
                </a:solidFill>
              </a:rPr>
              <a:t>preventable and costly</a:t>
            </a:r>
            <a:r>
              <a:rPr lang="en-US" sz="1800" dirty="0">
                <a:solidFill>
                  <a:schemeClr val="accent2"/>
                </a:solidFill>
              </a:rPr>
              <a:t> </a:t>
            </a:r>
          </a:p>
          <a:p>
            <a:pPr marL="120333" lvl="0" indent="0" algn="l" rtl="0">
              <a:spcBef>
                <a:spcPts val="0"/>
              </a:spcBef>
              <a:spcAft>
                <a:spcPts val="0"/>
              </a:spcAft>
              <a:buSzPct val="100000"/>
              <a:buNone/>
            </a:pPr>
            <a:endParaRPr lang="en-US" sz="1800" u="sng" dirty="0">
              <a:solidFill>
                <a:srgbClr val="002D5E"/>
              </a:solidFill>
            </a:endParaRPr>
          </a:p>
          <a:p>
            <a:pPr marL="463233" lvl="0" algn="l" rtl="0">
              <a:spcBef>
                <a:spcPts val="0"/>
              </a:spcBef>
              <a:spcAft>
                <a:spcPts val="0"/>
              </a:spcAft>
              <a:buSzPct val="100000"/>
              <a:buFont typeface="Arial" panose="020B0604020202020204" pitchFamily="34" charset="0"/>
              <a:buChar char="•"/>
            </a:pPr>
            <a:r>
              <a:rPr lang="en-US" sz="1800" dirty="0">
                <a:solidFill>
                  <a:srgbClr val="002D5E"/>
                </a:solidFill>
                <a:highlight>
                  <a:srgbClr val="FFFFFF"/>
                </a:highlight>
              </a:rPr>
              <a:t>Safer and more appropriate urinary catheter use can occur with the implementation of </a:t>
            </a:r>
            <a:r>
              <a:rPr lang="en-US" sz="1800" u="sng" dirty="0">
                <a:solidFill>
                  <a:schemeClr val="accent2"/>
                </a:solidFill>
                <a:highlight>
                  <a:srgbClr val="FFFFFF"/>
                </a:highlight>
              </a:rPr>
              <a:t>low-cost evidenced-based strategies</a:t>
            </a:r>
            <a:r>
              <a:rPr lang="en-US" sz="1800" dirty="0">
                <a:solidFill>
                  <a:schemeClr val="accent2"/>
                </a:solidFill>
                <a:highlight>
                  <a:srgbClr val="FFFFFF"/>
                </a:highlight>
              </a:rPr>
              <a:t> to:</a:t>
            </a:r>
          </a:p>
          <a:p>
            <a:pPr marL="1034733" lvl="1" indent="-457200">
              <a:buSzPct val="100000"/>
              <a:buFont typeface="+mj-lt"/>
              <a:buAutoNum type="arabicPeriod"/>
            </a:pPr>
            <a:r>
              <a:rPr lang="en-US" sz="1800" u="sng" dirty="0">
                <a:solidFill>
                  <a:schemeClr val="accent2"/>
                </a:solidFill>
                <a:highlight>
                  <a:srgbClr val="FFFFFF"/>
                </a:highlight>
              </a:rPr>
              <a:t>Avoid unnecessary catheterization</a:t>
            </a:r>
          </a:p>
          <a:p>
            <a:pPr marL="1034733" lvl="1" indent="-457200">
              <a:buSzPct val="100000"/>
              <a:buFont typeface="+mj-lt"/>
              <a:buAutoNum type="arabicPeriod"/>
            </a:pPr>
            <a:r>
              <a:rPr lang="en-US" sz="1800" u="sng" dirty="0">
                <a:solidFill>
                  <a:schemeClr val="accent2"/>
                </a:solidFill>
                <a:highlight>
                  <a:schemeClr val="lt1"/>
                </a:highlight>
              </a:rPr>
              <a:t>Standardize management of post-operative urinary retention (POUR)</a:t>
            </a:r>
          </a:p>
          <a:p>
            <a:pPr marL="1034733" lvl="1" indent="-457200">
              <a:buSzPct val="100000"/>
              <a:buFont typeface="+mj-lt"/>
              <a:buAutoNum type="arabicPeriod"/>
            </a:pPr>
            <a:r>
              <a:rPr lang="en-US" sz="1800" u="sng" dirty="0">
                <a:solidFill>
                  <a:schemeClr val="accent2"/>
                </a:solidFill>
                <a:highlight>
                  <a:srgbClr val="FFFFFF"/>
                </a:highlight>
              </a:rPr>
              <a:t>Ensure safer insertion</a:t>
            </a:r>
          </a:p>
          <a:p>
            <a:pPr marL="577533" lvl="1" indent="0">
              <a:buSzPct val="100000"/>
              <a:buNone/>
            </a:pPr>
            <a:endParaRPr lang="en-US" sz="1800" u="sng" dirty="0">
              <a:solidFill>
                <a:schemeClr val="accent2"/>
              </a:solidFill>
              <a:highlight>
                <a:schemeClr val="lt1"/>
              </a:highlight>
            </a:endParaRPr>
          </a:p>
          <a:p>
            <a:pPr marL="0" lvl="0" indent="0" algn="l" rtl="0">
              <a:spcBef>
                <a:spcPts val="0"/>
              </a:spcBef>
              <a:spcAft>
                <a:spcPts val="0"/>
              </a:spcAft>
              <a:buClr>
                <a:schemeClr val="dk1"/>
              </a:buClr>
              <a:buSzPct val="50000"/>
              <a:buNone/>
            </a:pPr>
            <a:endParaRPr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9"/>
          <p:cNvSpPr txBox="1">
            <a:spLocks noGrp="1"/>
          </p:cNvSpPr>
          <p:nvPr>
            <p:ph type="title"/>
          </p:nvPr>
        </p:nvSpPr>
        <p:spPr>
          <a:xfrm>
            <a:off x="311700" y="445025"/>
            <a:ext cx="8604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51562"/>
              <a:buFont typeface="Arial"/>
              <a:buNone/>
            </a:pPr>
            <a:r>
              <a:rPr lang="en" sz="2133" b="1" dirty="0"/>
              <a:t>Meet Mr. Hurt and Mr. Fine: Identical Patients at Two Different Hospitals</a:t>
            </a:r>
            <a:endParaRPr sz="2133" b="1" dirty="0"/>
          </a:p>
          <a:p>
            <a:pPr marL="0" lvl="0" indent="0" algn="l" rtl="0">
              <a:spcBef>
                <a:spcPts val="0"/>
              </a:spcBef>
              <a:spcAft>
                <a:spcPts val="0"/>
              </a:spcAft>
              <a:buNone/>
            </a:pPr>
            <a:endParaRPr dirty="0"/>
          </a:p>
        </p:txBody>
      </p:sp>
      <p:sp>
        <p:nvSpPr>
          <p:cNvPr id="89" name="Google Shape;89;p19"/>
          <p:cNvSpPr txBox="1">
            <a:spLocks noGrp="1"/>
          </p:cNvSpPr>
          <p:nvPr>
            <p:ph type="body" idx="1"/>
          </p:nvPr>
        </p:nvSpPr>
        <p:spPr>
          <a:xfrm>
            <a:off x="2712965" y="1017725"/>
            <a:ext cx="3942900" cy="1956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sz="2000" dirty="0">
                <a:solidFill>
                  <a:schemeClr val="accent2"/>
                </a:solidFill>
              </a:rPr>
              <a:t>Age: 64</a:t>
            </a:r>
            <a:endParaRPr sz="2000" dirty="0">
              <a:solidFill>
                <a:schemeClr val="accent2"/>
              </a:solidFill>
            </a:endParaRPr>
          </a:p>
          <a:p>
            <a:pPr marL="0" lvl="0" indent="0" algn="l" rtl="0">
              <a:spcBef>
                <a:spcPts val="1200"/>
              </a:spcBef>
              <a:spcAft>
                <a:spcPts val="0"/>
              </a:spcAft>
              <a:buNone/>
            </a:pPr>
            <a:r>
              <a:rPr lang="en" b="1" dirty="0">
                <a:solidFill>
                  <a:schemeClr val="accent2"/>
                </a:solidFill>
              </a:rPr>
              <a:t>Comorbidities:</a:t>
            </a:r>
            <a:r>
              <a:rPr lang="en" dirty="0">
                <a:solidFill>
                  <a:srgbClr val="002D5E"/>
                </a:solidFill>
              </a:rPr>
              <a:t> </a:t>
            </a:r>
            <a:r>
              <a:rPr lang="en" sz="1632" dirty="0">
                <a:solidFill>
                  <a:srgbClr val="002D5E"/>
                </a:solidFill>
                <a:highlight>
                  <a:srgbClr val="FFFFFF"/>
                </a:highlight>
                <a:latin typeface="Roboto"/>
                <a:ea typeface="Roboto"/>
                <a:cs typeface="Roboto"/>
                <a:sym typeface="Roboto"/>
              </a:rPr>
              <a:t>Benign prostatic hyperplasia </a:t>
            </a:r>
            <a:r>
              <a:rPr lang="en" sz="1600" dirty="0">
                <a:solidFill>
                  <a:srgbClr val="002D5E"/>
                </a:solidFill>
                <a:highlight>
                  <a:srgbClr val="FFFFFF"/>
                </a:highlight>
                <a:latin typeface="Roboto"/>
                <a:ea typeface="Roboto"/>
                <a:cs typeface="Roboto"/>
                <a:sym typeface="Roboto"/>
              </a:rPr>
              <a:t>(</a:t>
            </a:r>
            <a:r>
              <a:rPr lang="en" sz="1600" dirty="0">
                <a:solidFill>
                  <a:srgbClr val="002D5E"/>
                </a:solidFill>
              </a:rPr>
              <a:t>BPH)</a:t>
            </a:r>
            <a:endParaRPr sz="1600" dirty="0">
              <a:solidFill>
                <a:srgbClr val="002D5E"/>
              </a:solidFill>
            </a:endParaRPr>
          </a:p>
          <a:p>
            <a:pPr marL="0" lvl="0" indent="0" algn="l" rtl="0">
              <a:spcBef>
                <a:spcPts val="1200"/>
              </a:spcBef>
              <a:spcAft>
                <a:spcPts val="1200"/>
              </a:spcAft>
              <a:buNone/>
            </a:pPr>
            <a:r>
              <a:rPr lang="en" b="1" dirty="0">
                <a:solidFill>
                  <a:schemeClr val="accent2"/>
                </a:solidFill>
              </a:rPr>
              <a:t>Surgery:</a:t>
            </a:r>
            <a:r>
              <a:rPr lang="en" dirty="0">
                <a:solidFill>
                  <a:srgbClr val="002D5E"/>
                </a:solidFill>
              </a:rPr>
              <a:t> </a:t>
            </a:r>
            <a:r>
              <a:rPr lang="en" sz="1500" dirty="0">
                <a:solidFill>
                  <a:srgbClr val="002D5E"/>
                </a:solidFill>
              </a:rPr>
              <a:t>Laparoscopic Cholecystectomy for Symptomatic Gallbladder Stones</a:t>
            </a:r>
            <a:endParaRPr sz="1500" dirty="0">
              <a:solidFill>
                <a:srgbClr val="002D5E"/>
              </a:solidFill>
            </a:endParaRPr>
          </a:p>
        </p:txBody>
      </p:sp>
      <p:sp>
        <p:nvSpPr>
          <p:cNvPr id="91" name="Google Shape;91;p19"/>
          <p:cNvSpPr txBox="1">
            <a:spLocks noGrp="1"/>
          </p:cNvSpPr>
          <p:nvPr>
            <p:ph type="title" idx="4294967295"/>
          </p:nvPr>
        </p:nvSpPr>
        <p:spPr>
          <a:xfrm>
            <a:off x="385275" y="4112510"/>
            <a:ext cx="8604250" cy="442913"/>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sz="1800" b="1" dirty="0"/>
              <a:t>Both procedures are </a:t>
            </a:r>
            <a:r>
              <a:rPr lang="en" sz="1800" b="1" u="sng" dirty="0">
                <a:solidFill>
                  <a:srgbClr val="38761D"/>
                </a:solidFill>
              </a:rPr>
              <a:t>surgically successful</a:t>
            </a:r>
            <a:r>
              <a:rPr lang="en" sz="1800" b="1" dirty="0"/>
              <a:t>, but this is where the similarities end…</a:t>
            </a:r>
            <a:endParaRPr sz="1800" b="1" dirty="0"/>
          </a:p>
          <a:p>
            <a:pPr marL="0" lvl="0" indent="0" algn="l" rtl="0">
              <a:spcBef>
                <a:spcPts val="0"/>
              </a:spcBef>
              <a:spcAft>
                <a:spcPts val="0"/>
              </a:spcAft>
              <a:buNone/>
            </a:pPr>
            <a:endParaRPr dirty="0"/>
          </a:p>
        </p:txBody>
      </p:sp>
      <p:sp>
        <p:nvSpPr>
          <p:cNvPr id="92" name="Google Shape;92;p19"/>
          <p:cNvSpPr txBox="1">
            <a:spLocks noGrp="1"/>
          </p:cNvSpPr>
          <p:nvPr>
            <p:ph type="body" idx="4294967295"/>
          </p:nvPr>
        </p:nvSpPr>
        <p:spPr>
          <a:xfrm>
            <a:off x="2621526" y="2825965"/>
            <a:ext cx="4322762" cy="1388267"/>
          </a:xfrm>
          <a:prstGeom prst="rect">
            <a:avLst/>
          </a:prstGeom>
        </p:spPr>
        <p:txBody>
          <a:bodyPr spcFirstLastPara="1" wrap="square" lIns="91425" tIns="91425" rIns="91425" bIns="91425" anchor="t" anchorCtr="0">
            <a:normAutofit fontScale="62500" lnSpcReduction="20000"/>
          </a:bodyPr>
          <a:lstStyle/>
          <a:p>
            <a:pPr marL="487680" lvl="0" indent="-342900" algn="l" rtl="0">
              <a:spcBef>
                <a:spcPts val="0"/>
              </a:spcBef>
              <a:spcAft>
                <a:spcPts val="0"/>
              </a:spcAft>
              <a:buClr>
                <a:schemeClr val="dk1"/>
              </a:buClr>
              <a:buSzPct val="100000"/>
              <a:buFont typeface="Arial" panose="020B0604020202020204" pitchFamily="34" charset="0"/>
              <a:buChar char="•"/>
            </a:pPr>
            <a:r>
              <a:rPr lang="en" sz="2400" dirty="0">
                <a:solidFill>
                  <a:schemeClr val="dk1"/>
                </a:solidFill>
              </a:rPr>
              <a:t>No intraoperative complications</a:t>
            </a:r>
            <a:endParaRPr sz="2400" dirty="0">
              <a:solidFill>
                <a:schemeClr val="dk1"/>
              </a:solidFill>
            </a:endParaRPr>
          </a:p>
          <a:p>
            <a:pPr marL="487680" lvl="0" indent="-342900" algn="l" rtl="0">
              <a:spcBef>
                <a:spcPts val="0"/>
              </a:spcBef>
              <a:spcAft>
                <a:spcPts val="0"/>
              </a:spcAft>
              <a:buClr>
                <a:schemeClr val="dk1"/>
              </a:buClr>
              <a:buSzPct val="100000"/>
              <a:buFont typeface="Arial" panose="020B0604020202020204" pitchFamily="34" charset="0"/>
              <a:buChar char="•"/>
            </a:pPr>
            <a:r>
              <a:rPr lang="en" sz="2400" dirty="0">
                <a:solidFill>
                  <a:schemeClr val="dk1"/>
                </a:solidFill>
              </a:rPr>
              <a:t>Identical anesthetic agents</a:t>
            </a:r>
            <a:endParaRPr sz="2400" dirty="0">
              <a:solidFill>
                <a:schemeClr val="dk1"/>
              </a:solidFill>
            </a:endParaRPr>
          </a:p>
          <a:p>
            <a:pPr marL="487680" lvl="0" indent="-342900" algn="l" rtl="0">
              <a:spcBef>
                <a:spcPts val="0"/>
              </a:spcBef>
              <a:spcAft>
                <a:spcPts val="0"/>
              </a:spcAft>
              <a:buClr>
                <a:schemeClr val="dk1"/>
              </a:buClr>
              <a:buSzPct val="100000"/>
              <a:buFont typeface="Arial" panose="020B0604020202020204" pitchFamily="34" charset="0"/>
              <a:buChar char="•"/>
            </a:pPr>
            <a:r>
              <a:rPr lang="en" sz="2400" dirty="0">
                <a:solidFill>
                  <a:schemeClr val="dk1"/>
                </a:solidFill>
              </a:rPr>
              <a:t>No hospital-acquired complications apparent in billing codes and discharge diagnoses</a:t>
            </a:r>
            <a:endParaRPr sz="2400" dirty="0">
              <a:solidFill>
                <a:schemeClr val="dk1"/>
              </a:solidFill>
            </a:endParaRPr>
          </a:p>
          <a:p>
            <a:pPr marL="487680" lvl="0" indent="-342900" algn="l" rtl="0">
              <a:spcBef>
                <a:spcPts val="0"/>
              </a:spcBef>
              <a:spcAft>
                <a:spcPts val="0"/>
              </a:spcAft>
              <a:buClr>
                <a:schemeClr val="dk1"/>
              </a:buClr>
              <a:buSzPct val="100000"/>
              <a:buFont typeface="Arial" panose="020B0604020202020204" pitchFamily="34" charset="0"/>
              <a:buChar char="•"/>
            </a:pPr>
            <a:r>
              <a:rPr lang="en" sz="2400" dirty="0">
                <a:solidFill>
                  <a:schemeClr val="dk1"/>
                </a:solidFill>
              </a:rPr>
              <a:t>Same cost/same insurance reimbursement</a:t>
            </a:r>
            <a:endParaRPr sz="2400" dirty="0">
              <a:solidFill>
                <a:schemeClr val="dk1"/>
              </a:solidFill>
            </a:endParaRPr>
          </a:p>
          <a:p>
            <a:pPr marL="0" lvl="0" indent="0" algn="l" rtl="0">
              <a:spcBef>
                <a:spcPts val="0"/>
              </a:spcBef>
              <a:spcAft>
                <a:spcPts val="1200"/>
              </a:spcAft>
              <a:buNone/>
            </a:pPr>
            <a:endParaRPr dirty="0"/>
          </a:p>
        </p:txBody>
      </p:sp>
      <p:sp>
        <p:nvSpPr>
          <p:cNvPr id="93" name="Google Shape;93;p19"/>
          <p:cNvSpPr txBox="1">
            <a:spLocks noGrp="1"/>
          </p:cNvSpPr>
          <p:nvPr>
            <p:ph type="title" idx="4294967295"/>
          </p:nvPr>
        </p:nvSpPr>
        <p:spPr>
          <a:xfrm>
            <a:off x="387874" y="2782425"/>
            <a:ext cx="2100263" cy="34925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sz="1355" b="1" dirty="0"/>
              <a:t>Mr. Hurt</a:t>
            </a:r>
            <a:endParaRPr dirty="0"/>
          </a:p>
        </p:txBody>
      </p:sp>
      <p:sp>
        <p:nvSpPr>
          <p:cNvPr id="94" name="Google Shape;94;p19"/>
          <p:cNvSpPr txBox="1">
            <a:spLocks noGrp="1"/>
          </p:cNvSpPr>
          <p:nvPr>
            <p:ph type="title" idx="4294967295"/>
          </p:nvPr>
        </p:nvSpPr>
        <p:spPr>
          <a:xfrm>
            <a:off x="6732038" y="2810963"/>
            <a:ext cx="2100262" cy="34925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sz="1355" b="1" dirty="0"/>
              <a:t>Mr. Fine</a:t>
            </a:r>
            <a:endParaRPr sz="1355" b="1" dirty="0"/>
          </a:p>
          <a:p>
            <a:pPr marL="0" lvl="0" indent="0" algn="l" rtl="0">
              <a:spcBef>
                <a:spcPts val="0"/>
              </a:spcBef>
              <a:spcAft>
                <a:spcPts val="0"/>
              </a:spcAft>
              <a:buNone/>
            </a:pPr>
            <a:endParaRPr dirty="0"/>
          </a:p>
        </p:txBody>
      </p:sp>
      <p:pic>
        <p:nvPicPr>
          <p:cNvPr id="90" name="Google Shape;90;p1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6733000" y="1152475"/>
            <a:ext cx="2099300" cy="1656099"/>
          </a:xfrm>
          <a:prstGeom prst="rect">
            <a:avLst/>
          </a:prstGeom>
          <a:noFill/>
          <a:ln>
            <a:noFill/>
          </a:ln>
        </p:spPr>
      </p:pic>
      <p:pic>
        <p:nvPicPr>
          <p:cNvPr id="95" name="Google Shape;95;p19"/>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385275" y="1126325"/>
            <a:ext cx="2159799" cy="16561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3" name="Google Shape;129;p20">
            <a:extLst>
              <a:ext uri="{FF2B5EF4-FFF2-40B4-BE49-F238E27FC236}">
                <a16:creationId xmlns:a16="http://schemas.microsoft.com/office/drawing/2014/main" id="{2671719D-E871-9B33-552D-D914189CBE55}"/>
              </a:ext>
            </a:extLst>
          </p:cNvPr>
          <p:cNvSpPr/>
          <p:nvPr/>
        </p:nvSpPr>
        <p:spPr>
          <a:xfrm>
            <a:off x="6347170" y="2109086"/>
            <a:ext cx="145411" cy="669623"/>
          </a:xfrm>
          <a:prstGeom prst="downArrow">
            <a:avLst>
              <a:gd name="adj1" fmla="val 50000"/>
              <a:gd name="adj2" fmla="val 50000"/>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20"/>
          <p:cNvSpPr txBox="1">
            <a:spLocks noGrp="1"/>
          </p:cNvSpPr>
          <p:nvPr>
            <p:ph type="title" idx="4294967295"/>
          </p:nvPr>
        </p:nvSpPr>
        <p:spPr>
          <a:xfrm>
            <a:off x="5863772" y="153751"/>
            <a:ext cx="1249362" cy="571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133" b="1" dirty="0"/>
              <a:t>Mr. Fine</a:t>
            </a:r>
            <a:endParaRPr sz="2133" b="1" dirty="0"/>
          </a:p>
          <a:p>
            <a:pPr marL="0" lvl="0" indent="0" algn="l" rtl="0">
              <a:spcBef>
                <a:spcPts val="0"/>
              </a:spcBef>
              <a:spcAft>
                <a:spcPts val="0"/>
              </a:spcAft>
              <a:buNone/>
            </a:pPr>
            <a:endParaRPr dirty="0"/>
          </a:p>
        </p:txBody>
      </p:sp>
      <p:sp>
        <p:nvSpPr>
          <p:cNvPr id="110" name="Google Shape;110;p20"/>
          <p:cNvSpPr txBox="1">
            <a:spLocks noGrp="1"/>
          </p:cNvSpPr>
          <p:nvPr>
            <p:ph type="title" idx="4294967295"/>
          </p:nvPr>
        </p:nvSpPr>
        <p:spPr>
          <a:xfrm>
            <a:off x="238670" y="1246616"/>
            <a:ext cx="4157367" cy="460375"/>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sz="1355" dirty="0"/>
              <a:t>Indwelling foley catheter removed at the end of the case.</a:t>
            </a:r>
            <a:endParaRPr sz="1355" dirty="0"/>
          </a:p>
        </p:txBody>
      </p:sp>
      <p:sp>
        <p:nvSpPr>
          <p:cNvPr id="111" name="Google Shape;111;p20"/>
          <p:cNvSpPr txBox="1">
            <a:spLocks noGrp="1"/>
          </p:cNvSpPr>
          <p:nvPr>
            <p:ph type="title" idx="4294967295"/>
          </p:nvPr>
        </p:nvSpPr>
        <p:spPr>
          <a:xfrm>
            <a:off x="177539" y="2665782"/>
            <a:ext cx="4394455" cy="70485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sz="1300" dirty="0"/>
              <a:t>Urethra required healing so </a:t>
            </a:r>
            <a:r>
              <a:rPr lang="en" sz="1300" b="1" dirty="0"/>
              <a:t>foley reinserted </a:t>
            </a:r>
            <a:r>
              <a:rPr lang="en" sz="1300" dirty="0"/>
              <a:t>under cystoscope by Urology. </a:t>
            </a:r>
            <a:r>
              <a:rPr lang="en" sz="1300" b="1" dirty="0"/>
              <a:t>Increased LOS</a:t>
            </a:r>
            <a:r>
              <a:rPr lang="en" sz="1300" dirty="0"/>
              <a:t> by 2 days. Discharged home with catheter.</a:t>
            </a:r>
            <a:endParaRPr sz="1300" dirty="0"/>
          </a:p>
          <a:p>
            <a:pPr marL="0" lvl="0" indent="0" algn="ctr" rtl="0">
              <a:spcBef>
                <a:spcPts val="0"/>
              </a:spcBef>
              <a:spcAft>
                <a:spcPts val="0"/>
              </a:spcAft>
              <a:buNone/>
            </a:pPr>
            <a:endParaRPr sz="1244" dirty="0"/>
          </a:p>
          <a:p>
            <a:pPr marL="0" lvl="0" indent="0" algn="ctr" rtl="0">
              <a:spcBef>
                <a:spcPts val="0"/>
              </a:spcBef>
              <a:spcAft>
                <a:spcPts val="0"/>
              </a:spcAft>
              <a:buNone/>
            </a:pPr>
            <a:endParaRPr sz="1244" dirty="0"/>
          </a:p>
          <a:p>
            <a:pPr marL="0" lvl="0" indent="0" algn="l" rtl="0">
              <a:spcBef>
                <a:spcPts val="0"/>
              </a:spcBef>
              <a:spcAft>
                <a:spcPts val="0"/>
              </a:spcAft>
              <a:buNone/>
            </a:pPr>
            <a:endParaRPr dirty="0"/>
          </a:p>
        </p:txBody>
      </p:sp>
      <p:pic>
        <p:nvPicPr>
          <p:cNvPr id="101" name="Google Shape;101;p20"/>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7168422" y="142725"/>
            <a:ext cx="1383719" cy="1091601"/>
          </a:xfrm>
          <a:prstGeom prst="rect">
            <a:avLst/>
          </a:prstGeom>
          <a:noFill/>
          <a:ln>
            <a:noFill/>
          </a:ln>
        </p:spPr>
      </p:pic>
      <p:pic>
        <p:nvPicPr>
          <p:cNvPr id="102" name="Google Shape;102;p20"/>
          <p:cNvPicPr preferRelativeResize="0"/>
          <p:nvPr/>
        </p:nvPicPr>
        <p:blipFill>
          <a:blip r:embed="rId4">
            <a:alphaModFix/>
          </a:blip>
          <a:stretch>
            <a:fillRect/>
          </a:stretch>
        </p:blipFill>
        <p:spPr>
          <a:xfrm>
            <a:off x="3428629" y="329539"/>
            <a:ext cx="815124" cy="702875"/>
          </a:xfrm>
          <a:prstGeom prst="rect">
            <a:avLst/>
          </a:prstGeom>
          <a:noFill/>
          <a:ln>
            <a:noFill/>
          </a:ln>
        </p:spPr>
      </p:pic>
      <p:pic>
        <p:nvPicPr>
          <p:cNvPr id="105" name="Google Shape;105;p20"/>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428295" y="151596"/>
            <a:ext cx="1336625" cy="1024901"/>
          </a:xfrm>
          <a:prstGeom prst="rect">
            <a:avLst/>
          </a:prstGeom>
          <a:noFill/>
          <a:ln>
            <a:noFill/>
          </a:ln>
        </p:spPr>
      </p:pic>
      <p:cxnSp>
        <p:nvCxnSpPr>
          <p:cNvPr id="107" name="Google Shape;107;p20"/>
          <p:cNvCxnSpPr/>
          <p:nvPr/>
        </p:nvCxnSpPr>
        <p:spPr>
          <a:xfrm>
            <a:off x="4738914" y="329539"/>
            <a:ext cx="0" cy="4548000"/>
          </a:xfrm>
          <a:prstGeom prst="straightConnector1">
            <a:avLst/>
          </a:prstGeom>
          <a:noFill/>
          <a:ln w="12700" cap="flat" cmpd="sng">
            <a:solidFill>
              <a:schemeClr val="dk2"/>
            </a:solidFill>
            <a:prstDash val="solid"/>
            <a:round/>
            <a:headEnd type="none" w="med" len="med"/>
            <a:tailEnd type="none" w="med" len="med"/>
          </a:ln>
        </p:spPr>
      </p:cxnSp>
      <p:pic>
        <p:nvPicPr>
          <p:cNvPr id="108" name="Google Shape;108;p20"/>
          <p:cNvPicPr preferRelativeResize="0"/>
          <p:nvPr/>
        </p:nvPicPr>
        <p:blipFill>
          <a:blip r:embed="rId4">
            <a:alphaModFix/>
          </a:blip>
          <a:stretch>
            <a:fillRect/>
          </a:stretch>
        </p:blipFill>
        <p:spPr>
          <a:xfrm>
            <a:off x="4926625" y="329539"/>
            <a:ext cx="815124" cy="702875"/>
          </a:xfrm>
          <a:prstGeom prst="rect">
            <a:avLst/>
          </a:prstGeom>
          <a:noFill/>
          <a:ln>
            <a:noFill/>
          </a:ln>
        </p:spPr>
      </p:pic>
      <p:pic>
        <p:nvPicPr>
          <p:cNvPr id="109" name="Google Shape;109;p20"/>
          <p:cNvPicPr preferRelativeResize="0"/>
          <p:nvPr/>
        </p:nvPicPr>
        <p:blipFill>
          <a:blip r:embed="rId6">
            <a:alphaModFix/>
          </a:blip>
          <a:stretch>
            <a:fillRect/>
          </a:stretch>
        </p:blipFill>
        <p:spPr>
          <a:xfrm>
            <a:off x="4936645" y="212776"/>
            <a:ext cx="911825" cy="828900"/>
          </a:xfrm>
          <a:prstGeom prst="rect">
            <a:avLst/>
          </a:prstGeom>
          <a:noFill/>
          <a:ln>
            <a:noFill/>
          </a:ln>
        </p:spPr>
      </p:pic>
      <p:sp>
        <p:nvSpPr>
          <p:cNvPr id="112" name="Google Shape;112;p20"/>
          <p:cNvSpPr txBox="1"/>
          <p:nvPr/>
        </p:nvSpPr>
        <p:spPr>
          <a:xfrm>
            <a:off x="4864735" y="2798333"/>
            <a:ext cx="3032105" cy="567470"/>
          </a:xfrm>
          <a:prstGeom prst="rect">
            <a:avLst/>
          </a:prstGeom>
          <a:noFill/>
          <a:ln w="19050" cap="flat" cmpd="sng">
            <a:solidFill>
              <a:srgbClr val="38761D"/>
            </a:solidFill>
            <a:prstDash val="solid"/>
            <a:round/>
            <a:headEnd type="none" w="sm" len="sm"/>
            <a:tailEnd type="none" w="sm" len="sm"/>
          </a:ln>
        </p:spPr>
        <p:txBody>
          <a:bodyPr spcFirstLastPara="1" wrap="square" lIns="91425" tIns="91425" rIns="91425" bIns="91425" anchor="t" anchorCtr="0">
            <a:noAutofit/>
          </a:bodyPr>
          <a:lstStyle/>
          <a:p>
            <a:pPr marL="0" lvl="0" indent="0" rtl="0">
              <a:spcBef>
                <a:spcPts val="0"/>
              </a:spcBef>
              <a:spcAft>
                <a:spcPts val="0"/>
              </a:spcAft>
              <a:buNone/>
            </a:pPr>
            <a:r>
              <a:rPr lang="en" sz="1200" dirty="0"/>
              <a:t>Discharged home with no catheter needs. Recovery went smoothly.</a:t>
            </a:r>
            <a:endParaRPr sz="1200" dirty="0"/>
          </a:p>
        </p:txBody>
      </p:sp>
      <p:sp>
        <p:nvSpPr>
          <p:cNvPr id="116" name="Google Shape;116;p20"/>
          <p:cNvSpPr/>
          <p:nvPr/>
        </p:nvSpPr>
        <p:spPr>
          <a:xfrm>
            <a:off x="2135525" y="4125300"/>
            <a:ext cx="171600" cy="188100"/>
          </a:xfrm>
          <a:prstGeom prst="downArrow">
            <a:avLst>
              <a:gd name="adj1" fmla="val 50000"/>
              <a:gd name="adj2" fmla="val 50000"/>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20"/>
          <p:cNvSpPr txBox="1"/>
          <p:nvPr/>
        </p:nvSpPr>
        <p:spPr>
          <a:xfrm>
            <a:off x="4853438" y="4061385"/>
            <a:ext cx="3324073" cy="961215"/>
          </a:xfrm>
          <a:prstGeom prst="rect">
            <a:avLst/>
          </a:prstGeom>
          <a:noFill/>
          <a:ln w="19050" cap="flat" cmpd="sng">
            <a:solidFill>
              <a:srgbClr val="0000FF"/>
            </a:solidFill>
            <a:prstDash val="solid"/>
            <a:round/>
            <a:headEnd type="none" w="sm" len="sm"/>
            <a:tailEnd type="none" w="sm" len="sm"/>
          </a:ln>
        </p:spPr>
        <p:txBody>
          <a:bodyPr spcFirstLastPara="1" wrap="square" lIns="91425" tIns="91425" rIns="91425" bIns="91425" anchor="t" anchorCtr="0">
            <a:noAutofit/>
          </a:bodyPr>
          <a:lstStyle/>
          <a:p>
            <a:pPr marL="0" lvl="0" indent="0" rtl="0">
              <a:spcBef>
                <a:spcPts val="0"/>
              </a:spcBef>
              <a:spcAft>
                <a:spcPts val="0"/>
              </a:spcAft>
              <a:buNone/>
            </a:pPr>
            <a:r>
              <a:rPr lang="en" sz="1200" dirty="0"/>
              <a:t>Decreased patient anxiety and discomfort </a:t>
            </a:r>
            <a:r>
              <a:rPr lang="en" sz="1200" b="1" dirty="0">
                <a:solidFill>
                  <a:schemeClr val="dk1"/>
                </a:solidFill>
                <a:latin typeface="Calibri"/>
                <a:ea typeface="Calibri"/>
                <a:cs typeface="Calibri"/>
                <a:sym typeface="Calibri"/>
              </a:rPr>
              <a:t>• </a:t>
            </a:r>
            <a:r>
              <a:rPr lang="en" sz="1200" dirty="0">
                <a:solidFill>
                  <a:schemeClr val="dk1"/>
                </a:solidFill>
              </a:rPr>
              <a:t>Increased patient satisfaction </a:t>
            </a:r>
            <a:r>
              <a:rPr lang="en" sz="1200" b="1" dirty="0">
                <a:solidFill>
                  <a:schemeClr val="dk1"/>
                </a:solidFill>
                <a:latin typeface="Calibri"/>
                <a:ea typeface="Calibri"/>
                <a:cs typeface="Calibri"/>
                <a:sym typeface="Calibri"/>
              </a:rPr>
              <a:t>• </a:t>
            </a:r>
            <a:r>
              <a:rPr lang="en" sz="1200" dirty="0">
                <a:solidFill>
                  <a:schemeClr val="dk1"/>
                </a:solidFill>
              </a:rPr>
              <a:t>Decreased additional invasive procedures</a:t>
            </a:r>
            <a:r>
              <a:rPr lang="en" sz="1200" b="1" dirty="0">
                <a:solidFill>
                  <a:schemeClr val="dk1"/>
                </a:solidFill>
                <a:latin typeface="Calibri"/>
                <a:ea typeface="Calibri"/>
                <a:cs typeface="Calibri"/>
                <a:sym typeface="Calibri"/>
              </a:rPr>
              <a:t>• </a:t>
            </a:r>
            <a:r>
              <a:rPr lang="en" sz="1200" dirty="0">
                <a:solidFill>
                  <a:schemeClr val="dk1"/>
                </a:solidFill>
              </a:rPr>
              <a:t>Returned to work as planned</a:t>
            </a:r>
            <a:endParaRPr sz="1200" dirty="0"/>
          </a:p>
          <a:p>
            <a:pPr marL="0" lvl="0" indent="0" algn="l" rtl="0">
              <a:spcBef>
                <a:spcPts val="0"/>
              </a:spcBef>
              <a:spcAft>
                <a:spcPts val="0"/>
              </a:spcAft>
              <a:buNone/>
            </a:pPr>
            <a:endParaRPr sz="1100" dirty="0"/>
          </a:p>
        </p:txBody>
      </p:sp>
      <p:sp>
        <p:nvSpPr>
          <p:cNvPr id="118" name="Google Shape;118;p20"/>
          <p:cNvSpPr txBox="1"/>
          <p:nvPr/>
        </p:nvSpPr>
        <p:spPr>
          <a:xfrm>
            <a:off x="181999" y="4186308"/>
            <a:ext cx="4389997" cy="867019"/>
          </a:xfrm>
          <a:prstGeom prst="rect">
            <a:avLst/>
          </a:prstGeom>
          <a:noFill/>
          <a:ln w="19050" cap="flat" cmpd="sng">
            <a:solidFill>
              <a:srgbClr val="0000FF"/>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200" dirty="0"/>
              <a:t>Increased patient anxiety and discomfort </a:t>
            </a:r>
            <a:r>
              <a:rPr lang="en" sz="1200" dirty="0">
                <a:solidFill>
                  <a:schemeClr val="dk1"/>
                </a:solidFill>
                <a:latin typeface="Calibri"/>
                <a:ea typeface="Calibri"/>
                <a:cs typeface="Calibri"/>
                <a:sym typeface="Calibri"/>
              </a:rPr>
              <a:t>• </a:t>
            </a:r>
            <a:r>
              <a:rPr lang="en" sz="1200" dirty="0">
                <a:solidFill>
                  <a:schemeClr val="dk1"/>
                </a:solidFill>
              </a:rPr>
              <a:t>Decreased patient satisfaction </a:t>
            </a:r>
            <a:r>
              <a:rPr lang="en" sz="1200" dirty="0">
                <a:solidFill>
                  <a:schemeClr val="dk1"/>
                </a:solidFill>
                <a:latin typeface="Calibri"/>
                <a:ea typeface="Calibri"/>
                <a:cs typeface="Calibri"/>
                <a:sym typeface="Calibri"/>
              </a:rPr>
              <a:t>• </a:t>
            </a:r>
            <a:r>
              <a:rPr lang="en" sz="1200" dirty="0">
                <a:solidFill>
                  <a:schemeClr val="dk1"/>
                </a:solidFill>
              </a:rPr>
              <a:t>Increased invasive procedures </a:t>
            </a:r>
            <a:r>
              <a:rPr lang="en" sz="1200" dirty="0">
                <a:solidFill>
                  <a:schemeClr val="dk1"/>
                </a:solidFill>
                <a:latin typeface="Calibri"/>
                <a:ea typeface="Calibri"/>
                <a:cs typeface="Calibri"/>
                <a:sym typeface="Calibri"/>
              </a:rPr>
              <a:t>• </a:t>
            </a:r>
            <a:r>
              <a:rPr lang="en" sz="1200" dirty="0">
                <a:solidFill>
                  <a:schemeClr val="dk1"/>
                </a:solidFill>
              </a:rPr>
              <a:t>Increased avoidable Urology consults </a:t>
            </a:r>
            <a:r>
              <a:rPr lang="en" sz="1200" dirty="0">
                <a:solidFill>
                  <a:schemeClr val="dk1"/>
                </a:solidFill>
                <a:latin typeface="Calibri"/>
                <a:ea typeface="Calibri"/>
                <a:cs typeface="Calibri"/>
                <a:sym typeface="Calibri"/>
              </a:rPr>
              <a:t>• </a:t>
            </a:r>
            <a:r>
              <a:rPr lang="en" sz="1200" dirty="0">
                <a:solidFill>
                  <a:schemeClr val="dk1"/>
                </a:solidFill>
              </a:rPr>
              <a:t>Out of work for an additional 6 weeks</a:t>
            </a:r>
            <a:endParaRPr sz="1200" dirty="0"/>
          </a:p>
          <a:p>
            <a:pPr marL="0" lvl="0" indent="0" algn="l" rtl="0">
              <a:spcBef>
                <a:spcPts val="0"/>
              </a:spcBef>
              <a:spcAft>
                <a:spcPts val="0"/>
              </a:spcAft>
              <a:buNone/>
            </a:pPr>
            <a:endParaRPr sz="1200" dirty="0"/>
          </a:p>
        </p:txBody>
      </p:sp>
      <p:sp>
        <p:nvSpPr>
          <p:cNvPr id="121" name="Google Shape;121;p20"/>
          <p:cNvSpPr txBox="1"/>
          <p:nvPr/>
        </p:nvSpPr>
        <p:spPr>
          <a:xfrm>
            <a:off x="216733" y="1259276"/>
            <a:ext cx="4355259" cy="446812"/>
          </a:xfrm>
          <a:prstGeom prst="rect">
            <a:avLst/>
          </a:prstGeom>
          <a:noFill/>
          <a:ln w="19050" cap="flat" cmpd="sng">
            <a:solidFill>
              <a:srgbClr val="38761D"/>
            </a:solidFill>
            <a:prstDash val="solid"/>
            <a:round/>
            <a:headEnd type="none" w="sm" len="sm"/>
            <a:tailEnd type="none" w="sm" len="sm"/>
          </a:ln>
        </p:spPr>
        <p:txBody>
          <a:bodyPr spcFirstLastPara="1" wrap="square" lIns="91425" tIns="91425" rIns="91425" bIns="91425" anchor="t" anchorCtr="0">
            <a:normAutofit/>
          </a:bodyPr>
          <a:lstStyle/>
          <a:p>
            <a:pPr marL="0" lvl="0" indent="0" algn="l" rtl="0">
              <a:spcBef>
                <a:spcPts val="0"/>
              </a:spcBef>
              <a:spcAft>
                <a:spcPts val="0"/>
              </a:spcAft>
              <a:buNone/>
            </a:pPr>
            <a:endParaRPr sz="1100" dirty="0"/>
          </a:p>
        </p:txBody>
      </p:sp>
      <p:grpSp>
        <p:nvGrpSpPr>
          <p:cNvPr id="5" name="Group 4">
            <a:extLst>
              <a:ext uri="{FF2B5EF4-FFF2-40B4-BE49-F238E27FC236}">
                <a16:creationId xmlns:a16="http://schemas.microsoft.com/office/drawing/2014/main" id="{CA869F50-1400-210B-0D7F-E055AD7AFA3E}"/>
              </a:ext>
            </a:extLst>
          </p:cNvPr>
          <p:cNvGrpSpPr/>
          <p:nvPr/>
        </p:nvGrpSpPr>
        <p:grpSpPr>
          <a:xfrm>
            <a:off x="4853438" y="1404929"/>
            <a:ext cx="3111141" cy="748162"/>
            <a:chOff x="4566916" y="1513167"/>
            <a:chExt cx="3111141" cy="748162"/>
          </a:xfrm>
        </p:grpSpPr>
        <p:sp>
          <p:nvSpPr>
            <p:cNvPr id="119" name="Google Shape;119;p20"/>
            <p:cNvSpPr txBox="1"/>
            <p:nvPr/>
          </p:nvSpPr>
          <p:spPr>
            <a:xfrm>
              <a:off x="4645952" y="1522429"/>
              <a:ext cx="3032105"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b="1" dirty="0"/>
                <a:t>Experienced postoperative urinary retention (POUR)</a:t>
              </a:r>
              <a:r>
                <a:rPr lang="en" sz="1200" dirty="0"/>
                <a:t>. Treated in accordance with protocol. Straight catheter x1</a:t>
              </a:r>
              <a:endParaRPr sz="1200" dirty="0"/>
            </a:p>
          </p:txBody>
        </p:sp>
        <p:sp>
          <p:nvSpPr>
            <p:cNvPr id="123" name="Google Shape;123;p20"/>
            <p:cNvSpPr/>
            <p:nvPr/>
          </p:nvSpPr>
          <p:spPr>
            <a:xfrm>
              <a:off x="4566916" y="1513167"/>
              <a:ext cx="3032106" cy="711094"/>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5" name="Google Shape;125;p20"/>
          <p:cNvSpPr/>
          <p:nvPr/>
        </p:nvSpPr>
        <p:spPr>
          <a:xfrm>
            <a:off x="194425" y="1833782"/>
            <a:ext cx="4377568" cy="704686"/>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b="1" dirty="0"/>
              <a:t>Experienced postoperative urinary retention (POUR). </a:t>
            </a:r>
            <a:r>
              <a:rPr lang="en-US" sz="1200" dirty="0"/>
              <a:t>No protocol for management. Suffered genitourinary injury from straight catheter attempts x4. </a:t>
            </a:r>
          </a:p>
        </p:txBody>
      </p:sp>
      <p:sp>
        <p:nvSpPr>
          <p:cNvPr id="126" name="Google Shape;126;p20"/>
          <p:cNvSpPr txBox="1"/>
          <p:nvPr/>
        </p:nvSpPr>
        <p:spPr>
          <a:xfrm>
            <a:off x="164078" y="3434028"/>
            <a:ext cx="4407915" cy="738633"/>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b="1" dirty="0">
                <a:solidFill>
                  <a:schemeClr val="dk1"/>
                </a:solidFill>
              </a:rPr>
              <a:t>Returned to ED for CAUTI</a:t>
            </a:r>
            <a:r>
              <a:rPr lang="en" sz="1200" dirty="0">
                <a:solidFill>
                  <a:schemeClr val="dk1"/>
                </a:solidFill>
              </a:rPr>
              <a:t>, started on antibiotics. Then, </a:t>
            </a:r>
            <a:r>
              <a:rPr lang="en" sz="1200" b="1" dirty="0">
                <a:solidFill>
                  <a:schemeClr val="dk1"/>
                </a:solidFill>
              </a:rPr>
              <a:t>readmitted within 30 days</a:t>
            </a:r>
            <a:r>
              <a:rPr lang="en" sz="1200" dirty="0">
                <a:solidFill>
                  <a:schemeClr val="dk1"/>
                </a:solidFill>
              </a:rPr>
              <a:t> for increased pain due to </a:t>
            </a:r>
            <a:r>
              <a:rPr lang="en" sz="1200" b="1" dirty="0">
                <a:solidFill>
                  <a:schemeClr val="dk1"/>
                </a:solidFill>
              </a:rPr>
              <a:t>urethral stricture</a:t>
            </a:r>
            <a:r>
              <a:rPr lang="en" sz="1200" dirty="0">
                <a:solidFill>
                  <a:schemeClr val="dk1"/>
                </a:solidFill>
              </a:rPr>
              <a:t> from catheterization.</a:t>
            </a:r>
            <a:endParaRPr sz="1200" dirty="0">
              <a:solidFill>
                <a:schemeClr val="dk1"/>
              </a:solidFill>
            </a:endParaRPr>
          </a:p>
        </p:txBody>
      </p:sp>
      <p:sp>
        <p:nvSpPr>
          <p:cNvPr id="127" name="Google Shape;127;p20"/>
          <p:cNvSpPr/>
          <p:nvPr/>
        </p:nvSpPr>
        <p:spPr>
          <a:xfrm>
            <a:off x="178114" y="2716149"/>
            <a:ext cx="4415678" cy="6351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20"/>
          <p:cNvSpPr/>
          <p:nvPr/>
        </p:nvSpPr>
        <p:spPr>
          <a:xfrm>
            <a:off x="194425" y="3485794"/>
            <a:ext cx="4389997" cy="6351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20"/>
          <p:cNvSpPr/>
          <p:nvPr/>
        </p:nvSpPr>
        <p:spPr>
          <a:xfrm>
            <a:off x="2229705" y="1670270"/>
            <a:ext cx="171600" cy="188100"/>
          </a:xfrm>
          <a:prstGeom prst="downArrow">
            <a:avLst>
              <a:gd name="adj1" fmla="val 50000"/>
              <a:gd name="adj2" fmla="val 50000"/>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29;p20">
            <a:extLst>
              <a:ext uri="{FF2B5EF4-FFF2-40B4-BE49-F238E27FC236}">
                <a16:creationId xmlns:a16="http://schemas.microsoft.com/office/drawing/2014/main" id="{205A9B0D-515E-E645-C051-435789E16D1F}"/>
              </a:ext>
            </a:extLst>
          </p:cNvPr>
          <p:cNvSpPr/>
          <p:nvPr/>
        </p:nvSpPr>
        <p:spPr>
          <a:xfrm>
            <a:off x="6342466" y="3363975"/>
            <a:ext cx="145411" cy="669623"/>
          </a:xfrm>
          <a:prstGeom prst="downArrow">
            <a:avLst>
              <a:gd name="adj1" fmla="val 50000"/>
              <a:gd name="adj2" fmla="val 50000"/>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06;p20">
            <a:extLst>
              <a:ext uri="{FF2B5EF4-FFF2-40B4-BE49-F238E27FC236}">
                <a16:creationId xmlns:a16="http://schemas.microsoft.com/office/drawing/2014/main" id="{902341A0-1E55-2AC7-A81A-CE877919C33F}"/>
              </a:ext>
            </a:extLst>
          </p:cNvPr>
          <p:cNvSpPr txBox="1">
            <a:spLocks/>
          </p:cNvSpPr>
          <p:nvPr/>
        </p:nvSpPr>
        <p:spPr>
          <a:xfrm>
            <a:off x="1966269" y="142725"/>
            <a:ext cx="1249362" cy="511838"/>
          </a:xfrm>
          <a:prstGeom prst="rect">
            <a:avLst/>
          </a:prstGeom>
        </p:spPr>
        <p:txBody>
          <a:bodyPr spcFirstLastPara="1" vert="horz" wrap="square" lIns="91425" tIns="91425" rIns="91425" bIns="91425" rtlCol="0" anchor="t" anchorCtr="0">
            <a:normAutofit/>
          </a:bodyPr>
          <a:lstStyle>
            <a:lvl1pPr algn="l" defTabSz="342900" rtl="0" eaLnBrk="1" latinLnBrk="0" hangingPunct="1">
              <a:spcBef>
                <a:spcPct val="0"/>
              </a:spcBef>
              <a:buNone/>
              <a:defRPr sz="27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spcBef>
                <a:spcPts val="0"/>
              </a:spcBef>
            </a:pPr>
            <a:r>
              <a:rPr lang="en-US" sz="2133" b="1" dirty="0"/>
              <a:t>Mr. Hurt</a:t>
            </a:r>
          </a:p>
          <a:p>
            <a:pPr>
              <a:spcBef>
                <a:spcPts val="0"/>
              </a:spcBef>
            </a:pPr>
            <a:endParaRPr lang="en-US" dirty="0"/>
          </a:p>
        </p:txBody>
      </p:sp>
    </p:spTree>
    <p:extLst>
      <p:ext uri="{BB962C8B-B14F-4D97-AF65-F5344CB8AC3E}">
        <p14:creationId xmlns:p14="http://schemas.microsoft.com/office/powerpoint/2010/main" val="15327550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1"/>
          <p:cNvSpPr txBox="1">
            <a:spLocks noGrp="1"/>
          </p:cNvSpPr>
          <p:nvPr>
            <p:ph type="title"/>
          </p:nvPr>
        </p:nvSpPr>
        <p:spPr>
          <a:xfrm>
            <a:off x="311700" y="263700"/>
            <a:ext cx="8583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 sz="2220" b="1"/>
              <a:t>What do we know about </a:t>
            </a:r>
            <a:r>
              <a:rPr lang="en" sz="2220" b="1" u="sng"/>
              <a:t>Catheter Appropriateness</a:t>
            </a:r>
            <a:r>
              <a:rPr lang="en" sz="2220" b="1"/>
              <a:t> ?</a:t>
            </a:r>
            <a:endParaRPr sz="2220" b="1"/>
          </a:p>
        </p:txBody>
      </p:sp>
      <p:sp>
        <p:nvSpPr>
          <p:cNvPr id="138" name="Google Shape;138;p21"/>
          <p:cNvSpPr txBox="1">
            <a:spLocks noGrp="1"/>
          </p:cNvSpPr>
          <p:nvPr>
            <p:ph type="body" idx="1"/>
          </p:nvPr>
        </p:nvSpPr>
        <p:spPr>
          <a:xfrm>
            <a:off x="377425" y="1479875"/>
            <a:ext cx="2840400" cy="2274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300" dirty="0">
                <a:solidFill>
                  <a:schemeClr val="dk1"/>
                </a:solidFill>
                <a:highlight>
                  <a:srgbClr val="FFFFFF"/>
                </a:highlight>
              </a:rPr>
              <a:t>Surgical patients, for whom catheter placement has traditionally been routine, are candidates to be evaluated for more appropriate use.</a:t>
            </a:r>
            <a:endParaRPr sz="1300" dirty="0">
              <a:solidFill>
                <a:schemeClr val="dk1"/>
              </a:solidFill>
              <a:highlight>
                <a:srgbClr val="FFFFFF"/>
              </a:highlight>
            </a:endParaRPr>
          </a:p>
        </p:txBody>
      </p:sp>
      <p:sp>
        <p:nvSpPr>
          <p:cNvPr id="141" name="Google Shape;141;p21"/>
          <p:cNvSpPr txBox="1">
            <a:spLocks noGrp="1"/>
          </p:cNvSpPr>
          <p:nvPr>
            <p:ph type="body" idx="2"/>
          </p:nvPr>
        </p:nvSpPr>
        <p:spPr>
          <a:xfrm>
            <a:off x="3384074" y="1372713"/>
            <a:ext cx="5293826" cy="891362"/>
          </a:xfrm>
          <a:prstGeom prst="rect">
            <a:avLst/>
          </a:prstGeom>
        </p:spPr>
        <p:txBody>
          <a:bodyPr spcFirstLastPara="1" wrap="square" lIns="91425" tIns="91425" rIns="91425" bIns="91425" anchor="t" anchorCtr="0">
            <a:normAutofit/>
          </a:bodyPr>
          <a:lstStyle/>
          <a:p>
            <a:pPr marL="457200" lvl="0" indent="-307308" algn="l" rtl="0">
              <a:lnSpc>
                <a:spcPct val="105000"/>
              </a:lnSpc>
              <a:spcBef>
                <a:spcPts val="0"/>
              </a:spcBef>
              <a:spcAft>
                <a:spcPts val="0"/>
              </a:spcAft>
              <a:buSzPct val="100000"/>
              <a:buChar char="●"/>
            </a:pPr>
            <a:r>
              <a:rPr lang="en" sz="1340" dirty="0">
                <a:solidFill>
                  <a:schemeClr val="dk1"/>
                </a:solidFill>
                <a:highlight>
                  <a:srgbClr val="FFFFFF"/>
                </a:highlight>
              </a:rPr>
              <a:t>We used MSQC data to study how often catheters were used for specific procedures for which catheter use was deemed inappropriate by experts (De Roo et al, Am J Surg, 2020)</a:t>
            </a:r>
            <a:endParaRPr sz="1340" dirty="0">
              <a:solidFill>
                <a:schemeClr val="dk1"/>
              </a:solidFill>
              <a:highlight>
                <a:srgbClr val="FFFFFF"/>
              </a:highlight>
            </a:endParaRPr>
          </a:p>
          <a:p>
            <a:pPr marL="457200" lvl="0" indent="0" algn="l" rtl="0">
              <a:lnSpc>
                <a:spcPct val="105000"/>
              </a:lnSpc>
              <a:spcBef>
                <a:spcPts val="0"/>
              </a:spcBef>
              <a:spcAft>
                <a:spcPts val="0"/>
              </a:spcAft>
              <a:buSzPct val="84615"/>
              <a:buNone/>
            </a:pPr>
            <a:endParaRPr sz="520" dirty="0">
              <a:solidFill>
                <a:schemeClr val="dk1"/>
              </a:solidFill>
              <a:highlight>
                <a:srgbClr val="FFFFFF"/>
              </a:highlight>
            </a:endParaRPr>
          </a:p>
        </p:txBody>
      </p:sp>
      <p:sp>
        <p:nvSpPr>
          <p:cNvPr id="136" name="Google Shape;136;p21"/>
          <p:cNvSpPr txBox="1">
            <a:spLocks noGrp="1"/>
          </p:cNvSpPr>
          <p:nvPr>
            <p:ph type="title" idx="4294967295"/>
          </p:nvPr>
        </p:nvSpPr>
        <p:spPr>
          <a:xfrm>
            <a:off x="24937" y="910650"/>
            <a:ext cx="2773363" cy="573087"/>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SzPts val="990"/>
              <a:buNone/>
            </a:pPr>
            <a:r>
              <a:rPr lang="en" sz="1920" dirty="0">
                <a:solidFill>
                  <a:schemeClr val="accent2"/>
                </a:solidFill>
              </a:rPr>
              <a:t>Background</a:t>
            </a:r>
            <a:endParaRPr sz="1920" dirty="0">
              <a:solidFill>
                <a:schemeClr val="accent2"/>
              </a:solidFill>
            </a:endParaRPr>
          </a:p>
        </p:txBody>
      </p:sp>
      <p:sp>
        <p:nvSpPr>
          <p:cNvPr id="137" name="Google Shape;137;p21"/>
          <p:cNvSpPr txBox="1">
            <a:spLocks noGrp="1"/>
          </p:cNvSpPr>
          <p:nvPr>
            <p:ph type="title" idx="4294967295"/>
          </p:nvPr>
        </p:nvSpPr>
        <p:spPr>
          <a:xfrm>
            <a:off x="4572000" y="910650"/>
            <a:ext cx="2773362" cy="573088"/>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SzPts val="990"/>
              <a:buNone/>
            </a:pPr>
            <a:r>
              <a:rPr lang="en" sz="1920" dirty="0">
                <a:solidFill>
                  <a:schemeClr val="accent2"/>
                </a:solidFill>
              </a:rPr>
              <a:t>MSQC Data</a:t>
            </a:r>
            <a:endParaRPr sz="1920" dirty="0">
              <a:solidFill>
                <a:schemeClr val="accent2"/>
              </a:solidFill>
            </a:endParaRPr>
          </a:p>
        </p:txBody>
      </p:sp>
      <p:sp>
        <p:nvSpPr>
          <p:cNvPr id="142" name="Google Shape;142;p21"/>
          <p:cNvSpPr txBox="1">
            <a:spLocks noGrp="1"/>
          </p:cNvSpPr>
          <p:nvPr>
            <p:ph type="body" idx="4294967295"/>
          </p:nvPr>
        </p:nvSpPr>
        <p:spPr>
          <a:xfrm>
            <a:off x="3384076" y="1961712"/>
            <a:ext cx="3110975" cy="2530459"/>
          </a:xfrm>
          <a:prstGeom prst="rect">
            <a:avLst/>
          </a:prstGeom>
          <a:ln>
            <a:noFill/>
          </a:ln>
        </p:spPr>
        <p:txBody>
          <a:bodyPr spcFirstLastPara="1" wrap="square" lIns="91425" tIns="91425" rIns="91425" bIns="91425" anchor="t" anchorCtr="0">
            <a:normAutofit/>
          </a:bodyPr>
          <a:lstStyle/>
          <a:p>
            <a:pPr marL="0" lvl="0" indent="0" algn="l" rtl="0">
              <a:spcBef>
                <a:spcPts val="0"/>
              </a:spcBef>
              <a:spcAft>
                <a:spcPts val="0"/>
              </a:spcAft>
              <a:buNone/>
            </a:pPr>
            <a:endParaRPr sz="1300" dirty="0">
              <a:solidFill>
                <a:schemeClr val="dk1"/>
              </a:solidFill>
              <a:highlight>
                <a:srgbClr val="FFFFFF"/>
              </a:highlight>
            </a:endParaRPr>
          </a:p>
          <a:p>
            <a:pPr marL="457200" lvl="0" indent="-311150" algn="l" rtl="0">
              <a:spcBef>
                <a:spcPts val="0"/>
              </a:spcBef>
              <a:spcAft>
                <a:spcPts val="0"/>
              </a:spcAft>
              <a:buClr>
                <a:schemeClr val="dk1"/>
              </a:buClr>
              <a:buSzPts val="1300"/>
              <a:buChar char="●"/>
            </a:pPr>
            <a:r>
              <a:rPr lang="en" sz="1300" dirty="0">
                <a:solidFill>
                  <a:schemeClr val="dk1"/>
                </a:solidFill>
                <a:highlight>
                  <a:srgbClr val="FFFFFF"/>
                </a:highlight>
              </a:rPr>
              <a:t>13,032 procedures: 721 </a:t>
            </a:r>
            <a:r>
              <a:rPr lang="en" sz="1800" dirty="0">
                <a:solidFill>
                  <a:srgbClr val="CC0000"/>
                </a:solidFill>
                <a:highlight>
                  <a:srgbClr val="FFFFFF"/>
                </a:highlight>
              </a:rPr>
              <a:t>(5.5%)</a:t>
            </a:r>
            <a:r>
              <a:rPr lang="en" sz="1800" dirty="0">
                <a:solidFill>
                  <a:schemeClr val="dk1"/>
                </a:solidFill>
                <a:highlight>
                  <a:srgbClr val="FFFFFF"/>
                </a:highlight>
              </a:rPr>
              <a:t> </a:t>
            </a:r>
            <a:r>
              <a:rPr lang="en" sz="1300" dirty="0">
                <a:solidFill>
                  <a:schemeClr val="dk1"/>
                </a:solidFill>
                <a:highlight>
                  <a:srgbClr val="FFFFFF"/>
                </a:highlight>
              </a:rPr>
              <a:t>of cases used a catheter, although rates varied by procedure:</a:t>
            </a:r>
            <a:endParaRPr sz="1300" dirty="0">
              <a:solidFill>
                <a:schemeClr val="dk1"/>
              </a:solidFill>
              <a:highlight>
                <a:srgbClr val="FFFFFF"/>
              </a:highlight>
            </a:endParaRPr>
          </a:p>
          <a:p>
            <a:pPr marL="914400" lvl="1" indent="-311150" algn="l" rtl="0">
              <a:spcBef>
                <a:spcPts val="0"/>
              </a:spcBef>
              <a:spcAft>
                <a:spcPts val="0"/>
              </a:spcAft>
              <a:buClr>
                <a:schemeClr val="dk1"/>
              </a:buClr>
              <a:buSzPts val="1300"/>
              <a:buChar char="○"/>
            </a:pPr>
            <a:r>
              <a:rPr lang="en" sz="1300" dirty="0">
                <a:solidFill>
                  <a:schemeClr val="dk1"/>
                </a:solidFill>
                <a:highlight>
                  <a:srgbClr val="FFFFFF"/>
                </a:highlight>
              </a:rPr>
              <a:t>3.1% laparoscopic cholecystectomy</a:t>
            </a:r>
            <a:endParaRPr sz="1300" dirty="0">
              <a:solidFill>
                <a:schemeClr val="dk1"/>
              </a:solidFill>
              <a:highlight>
                <a:srgbClr val="FFFFFF"/>
              </a:highlight>
            </a:endParaRPr>
          </a:p>
          <a:p>
            <a:pPr marL="914400" lvl="1" indent="-311150" algn="l" rtl="0">
              <a:spcBef>
                <a:spcPts val="0"/>
              </a:spcBef>
              <a:spcAft>
                <a:spcPts val="0"/>
              </a:spcAft>
              <a:buClr>
                <a:schemeClr val="dk1"/>
              </a:buClr>
              <a:buSzPts val="1300"/>
              <a:buChar char="○"/>
            </a:pPr>
            <a:r>
              <a:rPr lang="en" sz="1300" dirty="0">
                <a:solidFill>
                  <a:schemeClr val="dk1"/>
                </a:solidFill>
                <a:highlight>
                  <a:srgbClr val="FFFFFF"/>
                </a:highlight>
              </a:rPr>
              <a:t>8.9% laparoscopic appendectomy</a:t>
            </a:r>
            <a:endParaRPr sz="1300" dirty="0">
              <a:solidFill>
                <a:schemeClr val="dk1"/>
              </a:solidFill>
              <a:highlight>
                <a:srgbClr val="FFFFFF"/>
              </a:highlight>
            </a:endParaRPr>
          </a:p>
          <a:p>
            <a:pPr marL="914400" lvl="1" indent="-311150" algn="l" rtl="0">
              <a:spcBef>
                <a:spcPts val="0"/>
              </a:spcBef>
              <a:spcAft>
                <a:spcPts val="0"/>
              </a:spcAft>
              <a:buClr>
                <a:schemeClr val="dk1"/>
              </a:buClr>
              <a:buSzPts val="1300"/>
              <a:buChar char="○"/>
            </a:pPr>
            <a:r>
              <a:rPr lang="en" sz="1300" dirty="0">
                <a:solidFill>
                  <a:schemeClr val="dk1"/>
                </a:solidFill>
                <a:highlight>
                  <a:srgbClr val="FFFFFF"/>
                </a:highlight>
              </a:rPr>
              <a:t>26.9% open appendectomy</a:t>
            </a:r>
            <a:endParaRPr sz="1300" dirty="0">
              <a:solidFill>
                <a:schemeClr val="dk1"/>
              </a:solidFill>
              <a:highlight>
                <a:srgbClr val="FFFFFF"/>
              </a:highlight>
            </a:endParaRPr>
          </a:p>
        </p:txBody>
      </p:sp>
      <p:sp>
        <p:nvSpPr>
          <p:cNvPr id="135" name="Google Shape;135;p21"/>
          <p:cNvSpPr txBox="1"/>
          <p:nvPr/>
        </p:nvSpPr>
        <p:spPr>
          <a:xfrm>
            <a:off x="196200" y="4628700"/>
            <a:ext cx="8947800" cy="307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endParaRPr sz="800"/>
          </a:p>
        </p:txBody>
      </p:sp>
      <p:pic>
        <p:nvPicPr>
          <p:cNvPr id="139" name="Google Shape;139;p21"/>
          <p:cNvPicPr preferRelativeResize="0"/>
          <p:nvPr/>
        </p:nvPicPr>
        <p:blipFill rotWithShape="1">
          <a:blip r:embed="rId3">
            <a:alphaModFix/>
          </a:blip>
          <a:srcRect l="59060" t="-2190" b="2190"/>
          <a:stretch/>
        </p:blipFill>
        <p:spPr>
          <a:xfrm>
            <a:off x="6401177" y="2357963"/>
            <a:ext cx="2182849" cy="1502050"/>
          </a:xfrm>
          <a:prstGeom prst="rect">
            <a:avLst/>
          </a:prstGeom>
          <a:noFill/>
          <a:ln>
            <a:noFill/>
          </a:ln>
        </p:spPr>
      </p:pic>
      <p:cxnSp>
        <p:nvCxnSpPr>
          <p:cNvPr id="140" name="Google Shape;140;p21"/>
          <p:cNvCxnSpPr/>
          <p:nvPr/>
        </p:nvCxnSpPr>
        <p:spPr>
          <a:xfrm>
            <a:off x="3384075" y="910650"/>
            <a:ext cx="0" cy="3322200"/>
          </a:xfrm>
          <a:prstGeom prst="straightConnector1">
            <a:avLst/>
          </a:prstGeom>
          <a:noFill/>
          <a:ln w="12700" cap="flat" cmpd="sng">
            <a:solidFill>
              <a:schemeClr val="dk2"/>
            </a:solidFill>
            <a:prstDash val="solid"/>
            <a:round/>
            <a:headEnd type="none" w="med" len="med"/>
            <a:tailEnd type="none" w="med" len="med"/>
          </a:ln>
        </p:spPr>
      </p:cxnSp>
      <p:pic>
        <p:nvPicPr>
          <p:cNvPr id="143" name="Google Shape;143;p21"/>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084800" y="3003350"/>
            <a:ext cx="1425853" cy="12295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2"/>
          <p:cNvSpPr txBox="1">
            <a:spLocks noGrp="1"/>
          </p:cNvSpPr>
          <p:nvPr>
            <p:ph type="title"/>
          </p:nvPr>
        </p:nvSpPr>
        <p:spPr>
          <a:xfrm>
            <a:off x="311700" y="263700"/>
            <a:ext cx="8583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 sz="2220" b="1" dirty="0"/>
              <a:t>What do we know about </a:t>
            </a:r>
            <a:r>
              <a:rPr lang="en" sz="2220" b="1" u="sng" dirty="0"/>
              <a:t>Catheter Complications &amp; Injury</a:t>
            </a:r>
            <a:r>
              <a:rPr lang="en" sz="2220" b="1" dirty="0"/>
              <a:t>? </a:t>
            </a:r>
            <a:endParaRPr sz="2220" b="1" dirty="0"/>
          </a:p>
        </p:txBody>
      </p:sp>
      <p:sp>
        <p:nvSpPr>
          <p:cNvPr id="152" name="Google Shape;152;p22"/>
          <p:cNvSpPr txBox="1">
            <a:spLocks noGrp="1"/>
          </p:cNvSpPr>
          <p:nvPr>
            <p:ph type="body" idx="1"/>
          </p:nvPr>
        </p:nvSpPr>
        <p:spPr>
          <a:xfrm>
            <a:off x="63100" y="1100499"/>
            <a:ext cx="4296900" cy="3534875"/>
          </a:xfrm>
          <a:prstGeom prst="rect">
            <a:avLst/>
          </a:prstGeom>
        </p:spPr>
        <p:txBody>
          <a:bodyPr spcFirstLastPara="1" wrap="square" lIns="91425" tIns="91425" rIns="91425" bIns="91425" anchor="t" anchorCtr="0">
            <a:noAutofit/>
          </a:bodyPr>
          <a:lstStyle/>
          <a:p>
            <a:pPr marL="323850" lvl="0" indent="-171450" algn="l" rtl="0">
              <a:spcBef>
                <a:spcPts val="0"/>
              </a:spcBef>
              <a:spcAft>
                <a:spcPts val="0"/>
              </a:spcAft>
              <a:buClr>
                <a:schemeClr val="dk1"/>
              </a:buClr>
              <a:buSzPts val="1200"/>
              <a:buFont typeface="Arial" panose="020B0604020202020204" pitchFamily="34" charset="0"/>
              <a:buChar char="•"/>
            </a:pPr>
            <a:r>
              <a:rPr lang="en" sz="1200" dirty="0">
                <a:solidFill>
                  <a:schemeClr val="dk1"/>
                </a:solidFill>
                <a:highlight>
                  <a:schemeClr val="lt1"/>
                </a:highlight>
              </a:rPr>
              <a:t>Unlike CAUTI, noninfectious catheter complications are not routinely measured or reported, despite being an invasive procedure</a:t>
            </a:r>
            <a:endParaRPr sz="1200" dirty="0">
              <a:solidFill>
                <a:schemeClr val="dk1"/>
              </a:solidFill>
              <a:highlight>
                <a:schemeClr val="lt1"/>
              </a:highlight>
            </a:endParaRPr>
          </a:p>
          <a:p>
            <a:pPr marL="628650" lvl="0" indent="-171450" algn="l" rtl="0">
              <a:spcBef>
                <a:spcPts val="0"/>
              </a:spcBef>
              <a:spcAft>
                <a:spcPts val="0"/>
              </a:spcAft>
              <a:buFont typeface="Arial" panose="020B0604020202020204" pitchFamily="34" charset="0"/>
              <a:buChar char="•"/>
            </a:pPr>
            <a:endParaRPr sz="1200" dirty="0">
              <a:solidFill>
                <a:schemeClr val="dk1"/>
              </a:solidFill>
              <a:highlight>
                <a:schemeClr val="lt1"/>
              </a:highlight>
            </a:endParaRPr>
          </a:p>
          <a:p>
            <a:pPr marL="323850" lvl="0" indent="-171450" algn="l" rtl="0">
              <a:spcBef>
                <a:spcPts val="0"/>
              </a:spcBef>
              <a:spcAft>
                <a:spcPts val="0"/>
              </a:spcAft>
              <a:buClr>
                <a:schemeClr val="dk1"/>
              </a:buClr>
              <a:buSzPts val="1200"/>
              <a:buFont typeface="Arial" panose="020B0604020202020204" pitchFamily="34" charset="0"/>
              <a:buChar char="•"/>
            </a:pPr>
            <a:r>
              <a:rPr lang="en" sz="1200" dirty="0">
                <a:solidFill>
                  <a:schemeClr val="dk1"/>
                </a:solidFill>
                <a:highlight>
                  <a:schemeClr val="lt1"/>
                </a:highlight>
              </a:rPr>
              <a:t>Infections and trauma/injury related to catheters are common, but the rates reported vary markedly by data source.</a:t>
            </a:r>
            <a:endParaRPr sz="1200" dirty="0">
              <a:solidFill>
                <a:schemeClr val="dk1"/>
              </a:solidFill>
              <a:highlight>
                <a:schemeClr val="lt1"/>
              </a:highlight>
            </a:endParaRPr>
          </a:p>
          <a:p>
            <a:pPr marL="628650" lvl="0" indent="-171450" algn="l" rtl="0">
              <a:spcBef>
                <a:spcPts val="0"/>
              </a:spcBef>
              <a:spcAft>
                <a:spcPts val="0"/>
              </a:spcAft>
              <a:buFont typeface="Arial" panose="020B0604020202020204" pitchFamily="34" charset="0"/>
              <a:buChar char="•"/>
            </a:pPr>
            <a:endParaRPr sz="1200" dirty="0">
              <a:solidFill>
                <a:schemeClr val="dk1"/>
              </a:solidFill>
              <a:highlight>
                <a:schemeClr val="lt1"/>
              </a:highlight>
            </a:endParaRPr>
          </a:p>
          <a:p>
            <a:pPr marL="323850" lvl="0" indent="-171450" algn="l" rtl="0">
              <a:spcBef>
                <a:spcPts val="0"/>
              </a:spcBef>
              <a:spcAft>
                <a:spcPts val="0"/>
              </a:spcAft>
              <a:buClr>
                <a:schemeClr val="dk1"/>
              </a:buClr>
              <a:buSzPts val="1200"/>
              <a:buFont typeface="Arial" panose="020B0604020202020204" pitchFamily="34" charset="0"/>
              <a:buChar char="•"/>
            </a:pPr>
            <a:r>
              <a:rPr lang="en" sz="1200" b="1" u="sng" dirty="0">
                <a:solidFill>
                  <a:schemeClr val="dk1"/>
                </a:solidFill>
                <a:highlight>
                  <a:schemeClr val="lt1"/>
                </a:highlight>
              </a:rPr>
              <a:t>Catheter Complications</a:t>
            </a:r>
            <a:r>
              <a:rPr lang="en" sz="1200" b="1" dirty="0">
                <a:solidFill>
                  <a:schemeClr val="dk1"/>
                </a:solidFill>
                <a:highlight>
                  <a:schemeClr val="lt1"/>
                </a:highlight>
              </a:rPr>
              <a:t>: </a:t>
            </a:r>
            <a:r>
              <a:rPr lang="en" sz="1200" dirty="0">
                <a:solidFill>
                  <a:schemeClr val="dk1"/>
                </a:solidFill>
                <a:highlight>
                  <a:schemeClr val="lt1"/>
                </a:highlight>
              </a:rPr>
              <a:t>The incidence of noninfectious complications, such as pain or blood in the urine, can rival or surpass that of CAUTI </a:t>
            </a:r>
            <a:r>
              <a:rPr lang="en" sz="1200" dirty="0">
                <a:solidFill>
                  <a:schemeClr val="dk1"/>
                </a:solidFill>
              </a:rPr>
              <a:t>and impacts patients’ quality of care. </a:t>
            </a:r>
            <a:r>
              <a:rPr lang="en" sz="1200" dirty="0">
                <a:solidFill>
                  <a:srgbClr val="0000FF"/>
                </a:solidFill>
                <a:highlight>
                  <a:schemeClr val="lt1"/>
                </a:highlight>
              </a:rPr>
              <a:t>One study found </a:t>
            </a:r>
            <a:r>
              <a:rPr lang="en" sz="1200" b="1" dirty="0">
                <a:solidFill>
                  <a:srgbClr val="0000FF"/>
                </a:solidFill>
              </a:rPr>
              <a:t>55%</a:t>
            </a:r>
            <a:r>
              <a:rPr lang="en" sz="1200" dirty="0">
                <a:solidFill>
                  <a:srgbClr val="0000FF"/>
                </a:solidFill>
              </a:rPr>
              <a:t> of patients reported non-infectious complications of urinary catheters</a:t>
            </a:r>
            <a:r>
              <a:rPr lang="en" sz="800" dirty="0">
                <a:solidFill>
                  <a:schemeClr val="dk1"/>
                </a:solidFill>
              </a:rPr>
              <a:t> (Saint et al, JAMA Intern Med, 2018)</a:t>
            </a:r>
            <a:endParaRPr sz="800" dirty="0">
              <a:solidFill>
                <a:schemeClr val="dk1"/>
              </a:solidFill>
              <a:highlight>
                <a:schemeClr val="lt1"/>
              </a:highlight>
            </a:endParaRPr>
          </a:p>
          <a:p>
            <a:pPr marL="628650" lvl="0" indent="-171450" algn="l" rtl="0">
              <a:spcBef>
                <a:spcPts val="0"/>
              </a:spcBef>
              <a:spcAft>
                <a:spcPts val="0"/>
              </a:spcAft>
              <a:buSzPts val="688"/>
              <a:buFont typeface="Arial" panose="020B0604020202020204" pitchFamily="34" charset="0"/>
              <a:buChar char="•"/>
            </a:pPr>
            <a:endParaRPr sz="1200" dirty="0">
              <a:solidFill>
                <a:schemeClr val="dk1"/>
              </a:solidFill>
              <a:highlight>
                <a:schemeClr val="lt1"/>
              </a:highlight>
            </a:endParaRPr>
          </a:p>
          <a:p>
            <a:pPr marL="323850" lvl="0" indent="-171450" algn="l" rtl="0">
              <a:spcBef>
                <a:spcPts val="0"/>
              </a:spcBef>
              <a:spcAft>
                <a:spcPts val="0"/>
              </a:spcAft>
              <a:buClr>
                <a:schemeClr val="dk1"/>
              </a:buClr>
              <a:buSzPts val="1200"/>
              <a:buFont typeface="Arial" panose="020B0604020202020204" pitchFamily="34" charset="0"/>
              <a:buChar char="•"/>
            </a:pPr>
            <a:r>
              <a:rPr lang="en" sz="1200" b="1" u="sng" dirty="0">
                <a:solidFill>
                  <a:schemeClr val="dk1"/>
                </a:solidFill>
              </a:rPr>
              <a:t>Catheter Injury/Trauma</a:t>
            </a:r>
            <a:r>
              <a:rPr lang="en" sz="1200" b="1" dirty="0">
                <a:solidFill>
                  <a:schemeClr val="dk1"/>
                </a:solidFill>
              </a:rPr>
              <a:t>:</a:t>
            </a:r>
            <a:r>
              <a:rPr lang="en" sz="1200" dirty="0">
                <a:solidFill>
                  <a:schemeClr val="dk1"/>
                </a:solidFill>
              </a:rPr>
              <a:t> T</a:t>
            </a:r>
            <a:r>
              <a:rPr lang="en" sz="1200" dirty="0">
                <a:solidFill>
                  <a:schemeClr val="dk1"/>
                </a:solidFill>
                <a:highlight>
                  <a:schemeClr val="lt1"/>
                </a:highlight>
              </a:rPr>
              <a:t>raumatic injury to the urethra during catheter placement or removal</a:t>
            </a:r>
            <a:r>
              <a:rPr lang="en" sz="1200" dirty="0">
                <a:solidFill>
                  <a:schemeClr val="dk1"/>
                </a:solidFill>
              </a:rPr>
              <a:t> can be as high as $300k per injury </a:t>
            </a:r>
            <a:r>
              <a:rPr lang="en" sz="800" dirty="0">
                <a:solidFill>
                  <a:schemeClr val="dk1"/>
                </a:solidFill>
              </a:rPr>
              <a:t>(Davis et al, J </a:t>
            </a:r>
            <a:r>
              <a:rPr lang="en" sz="800" dirty="0" err="1">
                <a:solidFill>
                  <a:schemeClr val="dk1"/>
                </a:solidFill>
              </a:rPr>
              <a:t>Urol</a:t>
            </a:r>
            <a:r>
              <a:rPr lang="en" sz="800" dirty="0">
                <a:solidFill>
                  <a:schemeClr val="dk1"/>
                </a:solidFill>
              </a:rPr>
              <a:t>, 2016)</a:t>
            </a:r>
            <a:endParaRPr sz="800" dirty="0">
              <a:solidFill>
                <a:schemeClr val="dk1"/>
              </a:solidFill>
              <a:highlight>
                <a:srgbClr val="FFFFFF"/>
              </a:highlight>
            </a:endParaRPr>
          </a:p>
        </p:txBody>
      </p:sp>
      <p:sp>
        <p:nvSpPr>
          <p:cNvPr id="154" name="Google Shape;154;p22"/>
          <p:cNvSpPr txBox="1">
            <a:spLocks noGrp="1"/>
          </p:cNvSpPr>
          <p:nvPr>
            <p:ph type="body" idx="2"/>
          </p:nvPr>
        </p:nvSpPr>
        <p:spPr>
          <a:xfrm>
            <a:off x="4569450" y="1467600"/>
            <a:ext cx="2488200" cy="3084900"/>
          </a:xfrm>
          <a:prstGeom prst="rect">
            <a:avLst/>
          </a:prstGeom>
        </p:spPr>
        <p:txBody>
          <a:bodyPr spcFirstLastPara="1" wrap="square" lIns="91425" tIns="91425" rIns="91425" bIns="91425" anchor="t" anchorCtr="0">
            <a:normAutofit/>
          </a:bodyPr>
          <a:lstStyle/>
          <a:p>
            <a:pPr marL="0" lvl="0" indent="0" algn="l" rtl="0">
              <a:lnSpc>
                <a:spcPct val="105000"/>
              </a:lnSpc>
              <a:spcBef>
                <a:spcPts val="0"/>
              </a:spcBef>
              <a:spcAft>
                <a:spcPts val="0"/>
              </a:spcAft>
              <a:buNone/>
            </a:pPr>
            <a:r>
              <a:rPr lang="en" sz="1340" dirty="0">
                <a:solidFill>
                  <a:schemeClr val="dk1"/>
                </a:solidFill>
                <a:highlight>
                  <a:srgbClr val="FFFFFF"/>
                </a:highlight>
              </a:rPr>
              <a:t>Pilot data collection </a:t>
            </a:r>
            <a:endParaRPr sz="1340" dirty="0">
              <a:solidFill>
                <a:schemeClr val="dk1"/>
              </a:solidFill>
              <a:highlight>
                <a:srgbClr val="FFFFFF"/>
              </a:highlight>
            </a:endParaRPr>
          </a:p>
          <a:p>
            <a:pPr marL="0" lvl="0" indent="0" algn="l" rtl="0">
              <a:lnSpc>
                <a:spcPct val="105000"/>
              </a:lnSpc>
              <a:spcBef>
                <a:spcPts val="0"/>
              </a:spcBef>
              <a:spcAft>
                <a:spcPts val="0"/>
              </a:spcAft>
              <a:buNone/>
            </a:pPr>
            <a:r>
              <a:rPr lang="en" sz="1340" dirty="0">
                <a:solidFill>
                  <a:schemeClr val="dk1"/>
                </a:solidFill>
                <a:highlight>
                  <a:srgbClr val="FFFFFF"/>
                </a:highlight>
              </a:rPr>
              <a:t>N= 786 patients </a:t>
            </a:r>
            <a:endParaRPr sz="1340" dirty="0">
              <a:solidFill>
                <a:schemeClr val="dk1"/>
              </a:solidFill>
              <a:highlight>
                <a:srgbClr val="FFFFFF"/>
              </a:highlight>
            </a:endParaRPr>
          </a:p>
          <a:p>
            <a:pPr marL="0" lvl="0" indent="0" algn="l" rtl="0">
              <a:lnSpc>
                <a:spcPct val="105000"/>
              </a:lnSpc>
              <a:spcBef>
                <a:spcPts val="0"/>
              </a:spcBef>
              <a:spcAft>
                <a:spcPts val="0"/>
              </a:spcAft>
              <a:buNone/>
            </a:pPr>
            <a:r>
              <a:rPr lang="en" sz="1340" dirty="0">
                <a:solidFill>
                  <a:schemeClr val="dk1"/>
                </a:solidFill>
                <a:highlight>
                  <a:srgbClr val="FFFFFF"/>
                </a:highlight>
              </a:rPr>
              <a:t>14 MSQC hospitals </a:t>
            </a:r>
            <a:endParaRPr sz="1340" dirty="0">
              <a:solidFill>
                <a:schemeClr val="dk1"/>
              </a:solidFill>
              <a:highlight>
                <a:srgbClr val="FFFFFF"/>
              </a:highlight>
            </a:endParaRPr>
          </a:p>
          <a:p>
            <a:pPr marL="457200" lvl="0" indent="0" algn="l" rtl="0">
              <a:lnSpc>
                <a:spcPct val="105000"/>
              </a:lnSpc>
              <a:spcBef>
                <a:spcPts val="0"/>
              </a:spcBef>
              <a:spcAft>
                <a:spcPts val="0"/>
              </a:spcAft>
              <a:buNone/>
            </a:pPr>
            <a:endParaRPr sz="1340" dirty="0">
              <a:solidFill>
                <a:schemeClr val="dk1"/>
              </a:solidFill>
              <a:highlight>
                <a:srgbClr val="FFFFFF"/>
              </a:highlight>
            </a:endParaRPr>
          </a:p>
          <a:p>
            <a:pPr marL="0" lvl="0" indent="0" algn="l" rtl="0">
              <a:lnSpc>
                <a:spcPct val="105000"/>
              </a:lnSpc>
              <a:spcBef>
                <a:spcPts val="0"/>
              </a:spcBef>
              <a:spcAft>
                <a:spcPts val="0"/>
              </a:spcAft>
              <a:buNone/>
            </a:pPr>
            <a:r>
              <a:rPr lang="en" sz="1340" dirty="0">
                <a:solidFill>
                  <a:schemeClr val="dk1"/>
                </a:solidFill>
                <a:highlight>
                  <a:srgbClr val="FFFFFF"/>
                </a:highlight>
              </a:rPr>
              <a:t>Of the 200 patients with a new indwelling catheter, 4 </a:t>
            </a:r>
            <a:endParaRPr sz="1340" dirty="0">
              <a:solidFill>
                <a:schemeClr val="dk1"/>
              </a:solidFill>
              <a:highlight>
                <a:srgbClr val="FFFFFF"/>
              </a:highlight>
            </a:endParaRPr>
          </a:p>
          <a:p>
            <a:pPr marL="0" lvl="0" indent="0" algn="l" rtl="0">
              <a:lnSpc>
                <a:spcPct val="105000"/>
              </a:lnSpc>
              <a:spcBef>
                <a:spcPts val="0"/>
              </a:spcBef>
              <a:spcAft>
                <a:spcPts val="0"/>
              </a:spcAft>
              <a:buNone/>
            </a:pPr>
            <a:r>
              <a:rPr lang="en" sz="2040" b="1" dirty="0">
                <a:solidFill>
                  <a:srgbClr val="0000FF"/>
                </a:solidFill>
                <a:highlight>
                  <a:srgbClr val="FFFFFF"/>
                </a:highlight>
              </a:rPr>
              <a:t>(2 in 100)</a:t>
            </a:r>
            <a:r>
              <a:rPr lang="en" sz="1340" dirty="0">
                <a:solidFill>
                  <a:schemeClr val="dk1"/>
                </a:solidFill>
                <a:highlight>
                  <a:srgbClr val="FFFFFF"/>
                </a:highlight>
              </a:rPr>
              <a:t> </a:t>
            </a:r>
            <a:endParaRPr sz="1340" dirty="0">
              <a:solidFill>
                <a:schemeClr val="dk1"/>
              </a:solidFill>
              <a:highlight>
                <a:srgbClr val="FFFFFF"/>
              </a:highlight>
            </a:endParaRPr>
          </a:p>
          <a:p>
            <a:pPr marL="0" lvl="0" indent="0" algn="l" rtl="0">
              <a:lnSpc>
                <a:spcPct val="105000"/>
              </a:lnSpc>
              <a:spcBef>
                <a:spcPts val="0"/>
              </a:spcBef>
              <a:spcAft>
                <a:spcPts val="0"/>
              </a:spcAft>
              <a:buNone/>
            </a:pPr>
            <a:r>
              <a:rPr lang="en" sz="1340" dirty="0">
                <a:solidFill>
                  <a:schemeClr val="dk1"/>
                </a:solidFill>
                <a:highlight>
                  <a:srgbClr val="FFFFFF"/>
                </a:highlight>
              </a:rPr>
              <a:t>were coded as having a </a:t>
            </a:r>
            <a:r>
              <a:rPr lang="en" sz="1340" dirty="0">
                <a:solidFill>
                  <a:srgbClr val="0000FF"/>
                </a:solidFill>
                <a:highlight>
                  <a:srgbClr val="FFFFFF"/>
                </a:highlight>
              </a:rPr>
              <a:t>serious urinary catheter trauma/injury </a:t>
            </a:r>
            <a:r>
              <a:rPr lang="en" sz="1040" dirty="0">
                <a:solidFill>
                  <a:schemeClr val="dk1"/>
                </a:solidFill>
                <a:highlight>
                  <a:srgbClr val="FFFFFF"/>
                </a:highlight>
              </a:rPr>
              <a:t>(does not include minor complications such as pain or discomfort)</a:t>
            </a:r>
            <a:endParaRPr sz="1040" dirty="0">
              <a:solidFill>
                <a:schemeClr val="dk1"/>
              </a:solidFill>
              <a:highlight>
                <a:srgbClr val="FFFFFF"/>
              </a:highlight>
            </a:endParaRPr>
          </a:p>
          <a:p>
            <a:pPr marL="457200" lvl="0" indent="0" algn="l" rtl="0">
              <a:lnSpc>
                <a:spcPct val="105000"/>
              </a:lnSpc>
              <a:spcBef>
                <a:spcPts val="0"/>
              </a:spcBef>
              <a:spcAft>
                <a:spcPts val="0"/>
              </a:spcAft>
              <a:buSzPts val="440"/>
              <a:buNone/>
            </a:pPr>
            <a:endParaRPr sz="520" dirty="0">
              <a:solidFill>
                <a:schemeClr val="dk1"/>
              </a:solidFill>
              <a:highlight>
                <a:srgbClr val="FFFFFF"/>
              </a:highlight>
            </a:endParaRPr>
          </a:p>
        </p:txBody>
      </p:sp>
      <p:sp>
        <p:nvSpPr>
          <p:cNvPr id="150" name="Google Shape;150;p22"/>
          <p:cNvSpPr txBox="1">
            <a:spLocks noGrp="1"/>
          </p:cNvSpPr>
          <p:nvPr>
            <p:ph type="title" idx="4294967295"/>
          </p:nvPr>
        </p:nvSpPr>
        <p:spPr>
          <a:xfrm>
            <a:off x="994229" y="729626"/>
            <a:ext cx="2774950" cy="370874"/>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SzPts val="990"/>
              <a:buNone/>
            </a:pPr>
            <a:r>
              <a:rPr lang="en" sz="1920" dirty="0">
                <a:solidFill>
                  <a:schemeClr val="accent2"/>
                </a:solidFill>
              </a:rPr>
              <a:t>Background</a:t>
            </a:r>
            <a:endParaRPr sz="1920" dirty="0">
              <a:solidFill>
                <a:schemeClr val="accent2"/>
              </a:solidFill>
            </a:endParaRPr>
          </a:p>
        </p:txBody>
      </p:sp>
      <p:sp>
        <p:nvSpPr>
          <p:cNvPr id="151" name="Google Shape;151;p22"/>
          <p:cNvSpPr txBox="1">
            <a:spLocks noGrp="1"/>
          </p:cNvSpPr>
          <p:nvPr>
            <p:ph type="title" idx="4294967295"/>
          </p:nvPr>
        </p:nvSpPr>
        <p:spPr>
          <a:xfrm>
            <a:off x="4569450" y="741200"/>
            <a:ext cx="4022074" cy="442175"/>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SzPts val="990"/>
              <a:buNone/>
            </a:pPr>
            <a:r>
              <a:rPr lang="en" sz="1920" dirty="0">
                <a:solidFill>
                  <a:schemeClr val="accent2"/>
                </a:solidFill>
              </a:rPr>
              <a:t>MSQC Data: Serious Catheter Injury</a:t>
            </a:r>
            <a:endParaRPr sz="1920" dirty="0">
              <a:solidFill>
                <a:schemeClr val="accent2"/>
              </a:solidFill>
            </a:endParaRPr>
          </a:p>
        </p:txBody>
      </p:sp>
      <p:sp>
        <p:nvSpPr>
          <p:cNvPr id="149" name="Google Shape;149;p22"/>
          <p:cNvSpPr txBox="1"/>
          <p:nvPr/>
        </p:nvSpPr>
        <p:spPr>
          <a:xfrm>
            <a:off x="196325" y="4899475"/>
            <a:ext cx="8395200" cy="246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endParaRPr sz="400"/>
          </a:p>
        </p:txBody>
      </p:sp>
      <p:cxnSp>
        <p:nvCxnSpPr>
          <p:cNvPr id="153" name="Google Shape;153;p22"/>
          <p:cNvCxnSpPr/>
          <p:nvPr/>
        </p:nvCxnSpPr>
        <p:spPr>
          <a:xfrm>
            <a:off x="4527075" y="1063050"/>
            <a:ext cx="0" cy="3322200"/>
          </a:xfrm>
          <a:prstGeom prst="straightConnector1">
            <a:avLst/>
          </a:prstGeom>
          <a:noFill/>
          <a:ln w="12700" cap="flat" cmpd="sng">
            <a:solidFill>
              <a:schemeClr val="dk2"/>
            </a:solidFill>
            <a:prstDash val="solid"/>
            <a:round/>
            <a:headEnd type="none" w="med" len="med"/>
            <a:tailEnd type="none" w="med" len="med"/>
          </a:ln>
        </p:spPr>
      </p:cxnSp>
      <p:pic>
        <p:nvPicPr>
          <p:cNvPr id="155" name="Google Shape;155;p22"/>
          <p:cNvPicPr preferRelativeResize="0"/>
          <p:nvPr/>
        </p:nvPicPr>
        <p:blipFill>
          <a:blip r:embed="rId3">
            <a:alphaModFix/>
          </a:blip>
          <a:stretch>
            <a:fillRect/>
          </a:stretch>
        </p:blipFill>
        <p:spPr>
          <a:xfrm>
            <a:off x="6867796" y="1262937"/>
            <a:ext cx="1781966" cy="29224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3"/>
          <p:cNvSpPr txBox="1">
            <a:spLocks noGrp="1"/>
          </p:cNvSpPr>
          <p:nvPr>
            <p:ph type="title"/>
          </p:nvPr>
        </p:nvSpPr>
        <p:spPr>
          <a:xfrm>
            <a:off x="32900" y="263700"/>
            <a:ext cx="90561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 sz="1900" b="1" dirty="0"/>
              <a:t>What do we know about </a:t>
            </a:r>
            <a:r>
              <a:rPr lang="en" sz="1900" b="1" u="sng" dirty="0"/>
              <a:t>Postoperative Urinary Retention (POUR)</a:t>
            </a:r>
            <a:r>
              <a:rPr lang="en" sz="1900" b="1" dirty="0"/>
              <a:t> ? </a:t>
            </a:r>
            <a:endParaRPr sz="1900" b="1" dirty="0"/>
          </a:p>
        </p:txBody>
      </p:sp>
      <p:sp>
        <p:nvSpPr>
          <p:cNvPr id="164" name="Google Shape;164;p23"/>
          <p:cNvSpPr txBox="1">
            <a:spLocks noGrp="1"/>
          </p:cNvSpPr>
          <p:nvPr>
            <p:ph type="body" idx="1"/>
          </p:nvPr>
        </p:nvSpPr>
        <p:spPr>
          <a:xfrm>
            <a:off x="196325" y="1477675"/>
            <a:ext cx="4172700" cy="2957400"/>
          </a:xfrm>
          <a:prstGeom prst="rect">
            <a:avLst/>
          </a:prstGeom>
        </p:spPr>
        <p:txBody>
          <a:bodyPr spcFirstLastPara="1" wrap="square" lIns="91425" tIns="91425" rIns="91425" bIns="91425" anchor="t" anchorCtr="0">
            <a:normAutofit fontScale="32500" lnSpcReduction="20000"/>
          </a:bodyPr>
          <a:lstStyle/>
          <a:p>
            <a:pPr marL="365760" indent="-365760">
              <a:buClr>
                <a:schemeClr val="dk1"/>
              </a:buClr>
              <a:buSzPct val="100000"/>
              <a:buFont typeface="Arial" panose="020B0604020202020204" pitchFamily="34" charset="0"/>
              <a:buChar char="•"/>
            </a:pPr>
            <a:r>
              <a:rPr lang="en" sz="5015" dirty="0">
                <a:solidFill>
                  <a:schemeClr val="dk1"/>
                </a:solidFill>
                <a:highlight>
                  <a:srgbClr val="FFFFFF"/>
                </a:highlight>
              </a:rPr>
              <a:t>POUR is a common complication of surgical procedures and one of the main reasons patients are catheterized postoperatively</a:t>
            </a:r>
            <a:endParaRPr sz="5015" dirty="0">
              <a:solidFill>
                <a:schemeClr val="dk1"/>
              </a:solidFill>
              <a:highlight>
                <a:srgbClr val="FFFFFF"/>
              </a:highlight>
            </a:endParaRPr>
          </a:p>
          <a:p>
            <a:pPr marL="365760" indent="-365760">
              <a:buFont typeface="Arial" panose="020B0604020202020204" pitchFamily="34" charset="0"/>
              <a:buChar char="•"/>
            </a:pPr>
            <a:endParaRPr sz="5015" dirty="0">
              <a:solidFill>
                <a:schemeClr val="dk1"/>
              </a:solidFill>
              <a:highlight>
                <a:srgbClr val="FFFFFF"/>
              </a:highlight>
            </a:endParaRPr>
          </a:p>
          <a:p>
            <a:pPr marL="365760" indent="-365760">
              <a:buClr>
                <a:schemeClr val="dk1"/>
              </a:buClr>
              <a:buSzPct val="100000"/>
              <a:buFont typeface="Arial" panose="020B0604020202020204" pitchFamily="34" charset="0"/>
              <a:buChar char="•"/>
            </a:pPr>
            <a:r>
              <a:rPr lang="en" sz="5015" dirty="0">
                <a:solidFill>
                  <a:schemeClr val="dk1"/>
                </a:solidFill>
                <a:highlight>
                  <a:srgbClr val="FFFFFF"/>
                </a:highlight>
              </a:rPr>
              <a:t>POUR can be traced to preventable patient morbidity such as </a:t>
            </a:r>
            <a:r>
              <a:rPr lang="en" sz="5015" dirty="0">
                <a:solidFill>
                  <a:schemeClr val="dk1"/>
                </a:solidFill>
              </a:rPr>
              <a:t>UTI, sepsis and urethral trauma</a:t>
            </a:r>
            <a:endParaRPr sz="5015" dirty="0">
              <a:solidFill>
                <a:schemeClr val="dk1"/>
              </a:solidFill>
            </a:endParaRPr>
          </a:p>
          <a:p>
            <a:pPr marL="365760" indent="-365760">
              <a:buFont typeface="Arial" panose="020B0604020202020204" pitchFamily="34" charset="0"/>
              <a:buChar char="•"/>
            </a:pPr>
            <a:endParaRPr sz="5015" dirty="0">
              <a:solidFill>
                <a:schemeClr val="dk1"/>
              </a:solidFill>
            </a:endParaRPr>
          </a:p>
          <a:p>
            <a:pPr marL="365760" indent="-365760">
              <a:buClr>
                <a:schemeClr val="dk1"/>
              </a:buClr>
              <a:buSzPct val="100000"/>
              <a:buFont typeface="Arial" panose="020B0604020202020204" pitchFamily="34" charset="0"/>
              <a:buChar char="•"/>
            </a:pPr>
            <a:r>
              <a:rPr lang="en" sz="5015" dirty="0">
                <a:solidFill>
                  <a:schemeClr val="dk1"/>
                </a:solidFill>
              </a:rPr>
              <a:t>POUR is attributed to adverse hospital-level outcomes</a:t>
            </a:r>
            <a:endParaRPr sz="5015" dirty="0">
              <a:solidFill>
                <a:schemeClr val="dk1"/>
              </a:solidFill>
            </a:endParaRPr>
          </a:p>
          <a:p>
            <a:pPr marL="365760" indent="-365760">
              <a:buFont typeface="Arial" panose="020B0604020202020204" pitchFamily="34" charset="0"/>
              <a:buChar char="•"/>
            </a:pPr>
            <a:endParaRPr sz="5015" dirty="0">
              <a:solidFill>
                <a:schemeClr val="dk1"/>
              </a:solidFill>
            </a:endParaRPr>
          </a:p>
          <a:p>
            <a:pPr marL="365760" indent="-365760">
              <a:buClr>
                <a:schemeClr val="dk1"/>
              </a:buClr>
              <a:buSzPct val="100000"/>
              <a:buFont typeface="Arial" panose="020B0604020202020204" pitchFamily="34" charset="0"/>
              <a:buChar char="•"/>
            </a:pPr>
            <a:r>
              <a:rPr lang="en" sz="5015" dirty="0">
                <a:solidFill>
                  <a:schemeClr val="dk1"/>
                </a:solidFill>
              </a:rPr>
              <a:t>Avoiding POUR is important to realize full benefit of value-based purchasing</a:t>
            </a:r>
            <a:endParaRPr sz="5015" dirty="0">
              <a:solidFill>
                <a:schemeClr val="dk1"/>
              </a:solidFill>
            </a:endParaRPr>
          </a:p>
          <a:p>
            <a:pPr marL="0" lvl="0" indent="0" algn="l" rtl="0">
              <a:spcBef>
                <a:spcPts val="0"/>
              </a:spcBef>
              <a:spcAft>
                <a:spcPts val="0"/>
              </a:spcAft>
              <a:buNone/>
            </a:pPr>
            <a:endParaRPr sz="1100" dirty="0">
              <a:solidFill>
                <a:schemeClr val="dk1"/>
              </a:solidFill>
            </a:endParaRPr>
          </a:p>
          <a:p>
            <a:pPr marL="0" lvl="0" indent="0" algn="l" rtl="0">
              <a:spcBef>
                <a:spcPts val="0"/>
              </a:spcBef>
              <a:spcAft>
                <a:spcPts val="0"/>
              </a:spcAft>
              <a:buNone/>
            </a:pPr>
            <a:endParaRPr sz="1100" dirty="0">
              <a:solidFill>
                <a:schemeClr val="dk1"/>
              </a:solidFill>
            </a:endParaRPr>
          </a:p>
          <a:p>
            <a:pPr marL="0" lvl="0" indent="0" algn="l" rtl="0">
              <a:spcBef>
                <a:spcPts val="0"/>
              </a:spcBef>
              <a:spcAft>
                <a:spcPts val="0"/>
              </a:spcAft>
              <a:buNone/>
            </a:pPr>
            <a:endParaRPr sz="1100" dirty="0">
              <a:solidFill>
                <a:schemeClr val="dk1"/>
              </a:solidFill>
            </a:endParaRPr>
          </a:p>
        </p:txBody>
      </p:sp>
      <p:sp>
        <p:nvSpPr>
          <p:cNvPr id="165" name="Google Shape;165;p23"/>
          <p:cNvSpPr txBox="1">
            <a:spLocks noGrp="1"/>
          </p:cNvSpPr>
          <p:nvPr>
            <p:ph type="body" idx="2"/>
          </p:nvPr>
        </p:nvSpPr>
        <p:spPr>
          <a:xfrm>
            <a:off x="4535625" y="1428875"/>
            <a:ext cx="2523000" cy="2957400"/>
          </a:xfrm>
          <a:prstGeom prst="rect">
            <a:avLst/>
          </a:prstGeom>
        </p:spPr>
        <p:txBody>
          <a:bodyPr spcFirstLastPara="1" wrap="square" lIns="91425" tIns="91425" rIns="91425" bIns="91425" anchor="t" anchorCtr="0">
            <a:normAutofit lnSpcReduction="10000"/>
          </a:bodyPr>
          <a:lstStyle/>
          <a:p>
            <a:pPr marL="0" lvl="0" indent="0" algn="l" rtl="0">
              <a:lnSpc>
                <a:spcPct val="105000"/>
              </a:lnSpc>
              <a:spcBef>
                <a:spcPts val="0"/>
              </a:spcBef>
              <a:spcAft>
                <a:spcPts val="0"/>
              </a:spcAft>
              <a:buNone/>
            </a:pPr>
            <a:r>
              <a:rPr lang="en" sz="1340" dirty="0">
                <a:solidFill>
                  <a:schemeClr val="dk1"/>
                </a:solidFill>
                <a:highlight>
                  <a:srgbClr val="FFFFFF"/>
                </a:highlight>
              </a:rPr>
              <a:t>Pilot data collection </a:t>
            </a:r>
            <a:endParaRPr sz="1340" dirty="0">
              <a:solidFill>
                <a:schemeClr val="dk1"/>
              </a:solidFill>
              <a:highlight>
                <a:srgbClr val="FFFFFF"/>
              </a:highlight>
            </a:endParaRPr>
          </a:p>
          <a:p>
            <a:pPr marL="0" lvl="0" indent="0" algn="l" rtl="0">
              <a:lnSpc>
                <a:spcPct val="105000"/>
              </a:lnSpc>
              <a:spcBef>
                <a:spcPts val="0"/>
              </a:spcBef>
              <a:spcAft>
                <a:spcPts val="0"/>
              </a:spcAft>
              <a:buNone/>
            </a:pPr>
            <a:r>
              <a:rPr lang="en" sz="1340" dirty="0">
                <a:solidFill>
                  <a:schemeClr val="dk1"/>
                </a:solidFill>
                <a:highlight>
                  <a:srgbClr val="FFFFFF"/>
                </a:highlight>
              </a:rPr>
              <a:t>N= 786 patients</a:t>
            </a:r>
            <a:endParaRPr sz="1340" dirty="0">
              <a:solidFill>
                <a:schemeClr val="dk1"/>
              </a:solidFill>
              <a:highlight>
                <a:srgbClr val="FFFFFF"/>
              </a:highlight>
            </a:endParaRPr>
          </a:p>
          <a:p>
            <a:pPr marL="0" lvl="0" indent="0" algn="l" rtl="0">
              <a:lnSpc>
                <a:spcPct val="105000"/>
              </a:lnSpc>
              <a:spcBef>
                <a:spcPts val="0"/>
              </a:spcBef>
              <a:spcAft>
                <a:spcPts val="0"/>
              </a:spcAft>
              <a:buNone/>
            </a:pPr>
            <a:r>
              <a:rPr lang="en" sz="1340" dirty="0">
                <a:solidFill>
                  <a:schemeClr val="dk1"/>
                </a:solidFill>
                <a:highlight>
                  <a:srgbClr val="FFFFFF"/>
                </a:highlight>
              </a:rPr>
              <a:t>14 MSQC hospitals. </a:t>
            </a:r>
            <a:endParaRPr sz="1340" dirty="0">
              <a:solidFill>
                <a:schemeClr val="dk1"/>
              </a:solidFill>
              <a:highlight>
                <a:srgbClr val="FFFFFF"/>
              </a:highlight>
            </a:endParaRPr>
          </a:p>
          <a:p>
            <a:pPr marL="457200" lvl="0" indent="0" algn="l" rtl="0">
              <a:lnSpc>
                <a:spcPct val="105000"/>
              </a:lnSpc>
              <a:spcBef>
                <a:spcPts val="0"/>
              </a:spcBef>
              <a:spcAft>
                <a:spcPts val="0"/>
              </a:spcAft>
              <a:buNone/>
            </a:pPr>
            <a:endParaRPr sz="1340" dirty="0">
              <a:solidFill>
                <a:schemeClr val="dk1"/>
              </a:solidFill>
              <a:highlight>
                <a:srgbClr val="FFFFFF"/>
              </a:highlight>
            </a:endParaRPr>
          </a:p>
          <a:p>
            <a:pPr marL="0" lvl="0" indent="0" algn="l" rtl="0">
              <a:lnSpc>
                <a:spcPct val="105000"/>
              </a:lnSpc>
              <a:spcBef>
                <a:spcPts val="0"/>
              </a:spcBef>
              <a:spcAft>
                <a:spcPts val="0"/>
              </a:spcAft>
              <a:buNone/>
            </a:pPr>
            <a:r>
              <a:rPr lang="en" sz="1340" dirty="0">
                <a:solidFill>
                  <a:schemeClr val="dk1"/>
                </a:solidFill>
                <a:highlight>
                  <a:srgbClr val="FFFFFF"/>
                </a:highlight>
              </a:rPr>
              <a:t>Of the 746 patients without exclusion criteria and no noted chronic catheterization, 32 </a:t>
            </a:r>
            <a:r>
              <a:rPr lang="en" sz="2040" b="1" dirty="0">
                <a:solidFill>
                  <a:srgbClr val="0000FF"/>
                </a:solidFill>
                <a:highlight>
                  <a:schemeClr val="lt1"/>
                </a:highlight>
              </a:rPr>
              <a:t>(4.3 in 100) </a:t>
            </a:r>
            <a:endParaRPr sz="2040" b="1" dirty="0">
              <a:solidFill>
                <a:srgbClr val="0000FF"/>
              </a:solidFill>
              <a:highlight>
                <a:schemeClr val="lt1"/>
              </a:highlight>
            </a:endParaRPr>
          </a:p>
          <a:p>
            <a:pPr marL="0" lvl="0" indent="0" algn="l" rtl="0">
              <a:lnSpc>
                <a:spcPct val="105000"/>
              </a:lnSpc>
              <a:spcBef>
                <a:spcPts val="0"/>
              </a:spcBef>
              <a:spcAft>
                <a:spcPts val="0"/>
              </a:spcAft>
              <a:buNone/>
            </a:pPr>
            <a:r>
              <a:rPr lang="en" sz="1340" dirty="0">
                <a:solidFill>
                  <a:schemeClr val="dk1"/>
                </a:solidFill>
                <a:highlight>
                  <a:srgbClr val="FFFFFF"/>
                </a:highlight>
              </a:rPr>
              <a:t>were coded as having </a:t>
            </a:r>
            <a:r>
              <a:rPr lang="en" sz="1340" dirty="0">
                <a:solidFill>
                  <a:srgbClr val="0000FF"/>
                </a:solidFill>
                <a:highlight>
                  <a:srgbClr val="FFFFFF"/>
                </a:highlight>
              </a:rPr>
              <a:t>significant urinary retention</a:t>
            </a:r>
            <a:r>
              <a:rPr lang="en" sz="1340" dirty="0">
                <a:solidFill>
                  <a:schemeClr val="dk1"/>
                </a:solidFill>
                <a:highlight>
                  <a:srgbClr val="FFFFFF"/>
                </a:highlight>
              </a:rPr>
              <a:t> within 30 days of the procedure</a:t>
            </a:r>
            <a:endParaRPr sz="1340" dirty="0">
              <a:solidFill>
                <a:schemeClr val="dk1"/>
              </a:solidFill>
              <a:highlight>
                <a:srgbClr val="FFFFFF"/>
              </a:highlight>
            </a:endParaRPr>
          </a:p>
          <a:p>
            <a:pPr marL="457200" lvl="0" indent="0" algn="l" rtl="0">
              <a:lnSpc>
                <a:spcPct val="105000"/>
              </a:lnSpc>
              <a:spcBef>
                <a:spcPts val="0"/>
              </a:spcBef>
              <a:spcAft>
                <a:spcPts val="0"/>
              </a:spcAft>
              <a:buSzPts val="440"/>
              <a:buNone/>
            </a:pPr>
            <a:endParaRPr sz="520" dirty="0">
              <a:solidFill>
                <a:schemeClr val="dk1"/>
              </a:solidFill>
              <a:highlight>
                <a:srgbClr val="FFFFFF"/>
              </a:highlight>
            </a:endParaRPr>
          </a:p>
        </p:txBody>
      </p:sp>
      <p:sp>
        <p:nvSpPr>
          <p:cNvPr id="161" name="Google Shape;161;p23"/>
          <p:cNvSpPr txBox="1">
            <a:spLocks noGrp="1"/>
          </p:cNvSpPr>
          <p:nvPr>
            <p:ph type="title" idx="4294967295"/>
          </p:nvPr>
        </p:nvSpPr>
        <p:spPr>
          <a:xfrm>
            <a:off x="703943" y="846094"/>
            <a:ext cx="2773363" cy="573087"/>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SzPts val="990"/>
              <a:buNone/>
            </a:pPr>
            <a:r>
              <a:rPr lang="en" sz="1920" dirty="0">
                <a:solidFill>
                  <a:schemeClr val="accent2"/>
                </a:solidFill>
              </a:rPr>
              <a:t>Background</a:t>
            </a:r>
            <a:endParaRPr sz="1920" dirty="0">
              <a:solidFill>
                <a:schemeClr val="accent2"/>
              </a:solidFill>
            </a:endParaRPr>
          </a:p>
        </p:txBody>
      </p:sp>
      <p:sp>
        <p:nvSpPr>
          <p:cNvPr id="162" name="Google Shape;162;p23"/>
          <p:cNvSpPr txBox="1">
            <a:spLocks noGrp="1"/>
          </p:cNvSpPr>
          <p:nvPr>
            <p:ph type="title" idx="4294967295"/>
          </p:nvPr>
        </p:nvSpPr>
        <p:spPr>
          <a:xfrm>
            <a:off x="4560950" y="838681"/>
            <a:ext cx="4171950" cy="573088"/>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SzPts val="990"/>
              <a:buNone/>
            </a:pPr>
            <a:r>
              <a:rPr lang="en" sz="1920" dirty="0">
                <a:solidFill>
                  <a:schemeClr val="accent2"/>
                </a:solidFill>
              </a:rPr>
              <a:t>MSQC Data: Significant POUR</a:t>
            </a:r>
            <a:endParaRPr sz="1920" dirty="0">
              <a:solidFill>
                <a:schemeClr val="accent2"/>
              </a:solidFill>
            </a:endParaRPr>
          </a:p>
        </p:txBody>
      </p:sp>
      <p:cxnSp>
        <p:nvCxnSpPr>
          <p:cNvPr id="163" name="Google Shape;163;p23"/>
          <p:cNvCxnSpPr/>
          <p:nvPr/>
        </p:nvCxnSpPr>
        <p:spPr>
          <a:xfrm>
            <a:off x="4434200" y="1008488"/>
            <a:ext cx="0" cy="3322200"/>
          </a:xfrm>
          <a:prstGeom prst="straightConnector1">
            <a:avLst/>
          </a:prstGeom>
          <a:noFill/>
          <a:ln w="12700" cap="flat" cmpd="sng">
            <a:solidFill>
              <a:schemeClr val="dk2"/>
            </a:solidFill>
            <a:prstDash val="solid"/>
            <a:round/>
            <a:headEnd type="none" w="med" len="med"/>
            <a:tailEnd type="none" w="med" len="med"/>
          </a:ln>
        </p:spPr>
      </p:cxnSp>
      <p:pic>
        <p:nvPicPr>
          <p:cNvPr id="166" name="Google Shape;166;p23"/>
          <p:cNvPicPr preferRelativeResize="0"/>
          <p:nvPr/>
        </p:nvPicPr>
        <p:blipFill rotWithShape="1">
          <a:blip r:embed="rId3">
            <a:alphaModFix/>
          </a:blip>
          <a:srcRect l="28524" r="55663"/>
          <a:stretch/>
        </p:blipFill>
        <p:spPr>
          <a:xfrm>
            <a:off x="647150" y="772775"/>
            <a:ext cx="675799" cy="704900"/>
          </a:xfrm>
          <a:prstGeom prst="rect">
            <a:avLst/>
          </a:prstGeom>
          <a:noFill/>
          <a:ln>
            <a:noFill/>
          </a:ln>
        </p:spPr>
      </p:pic>
      <p:pic>
        <p:nvPicPr>
          <p:cNvPr id="167" name="Google Shape;167;p23"/>
          <p:cNvPicPr preferRelativeResize="0"/>
          <p:nvPr/>
        </p:nvPicPr>
        <p:blipFill>
          <a:blip r:embed="rId4">
            <a:alphaModFix/>
          </a:blip>
          <a:stretch>
            <a:fillRect/>
          </a:stretch>
        </p:blipFill>
        <p:spPr>
          <a:xfrm>
            <a:off x="7225225" y="1484463"/>
            <a:ext cx="1735503" cy="28462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81C4731-6A38-5F44-009E-6ED3CA0C7933}"/>
              </a:ext>
            </a:extLst>
          </p:cNvPr>
          <p:cNvSpPr>
            <a:spLocks noGrp="1"/>
          </p:cNvSpPr>
          <p:nvPr>
            <p:ph type="title"/>
          </p:nvPr>
        </p:nvSpPr>
        <p:spPr>
          <a:xfrm>
            <a:off x="508001" y="450325"/>
            <a:ext cx="6447501" cy="990600"/>
          </a:xfrm>
        </p:spPr>
        <p:txBody>
          <a:bodyPr/>
          <a:lstStyle/>
          <a:p>
            <a:r>
              <a:rPr lang="en-US" dirty="0"/>
              <a:t>2023 SUCCESS Data</a:t>
            </a:r>
          </a:p>
        </p:txBody>
      </p:sp>
      <p:graphicFrame>
        <p:nvGraphicFramePr>
          <p:cNvPr id="6" name="Table 8">
            <a:extLst>
              <a:ext uri="{FF2B5EF4-FFF2-40B4-BE49-F238E27FC236}">
                <a16:creationId xmlns:a16="http://schemas.microsoft.com/office/drawing/2014/main" id="{F192AF45-41CA-94E6-1658-D6B6072F9228}"/>
              </a:ext>
            </a:extLst>
          </p:cNvPr>
          <p:cNvGraphicFramePr>
            <a:graphicFrameLocks noGrp="1"/>
          </p:cNvGraphicFramePr>
          <p:nvPr>
            <p:extLst>
              <p:ext uri="{D42A27DB-BD31-4B8C-83A1-F6EECF244321}">
                <p14:modId xmlns:p14="http://schemas.microsoft.com/office/powerpoint/2010/main" val="41484228"/>
              </p:ext>
            </p:extLst>
          </p:nvPr>
        </p:nvGraphicFramePr>
        <p:xfrm>
          <a:off x="481263" y="1181342"/>
          <a:ext cx="7596320" cy="3063342"/>
        </p:xfrm>
        <a:graphic>
          <a:graphicData uri="http://schemas.openxmlformats.org/drawingml/2006/table">
            <a:tbl>
              <a:tblPr firstRow="1" bandRow="1">
                <a:tableStyleId>{5C22544A-7EE6-4342-B048-85BDC9FD1C3A}</a:tableStyleId>
              </a:tblPr>
              <a:tblGrid>
                <a:gridCol w="2549932">
                  <a:extLst>
                    <a:ext uri="{9D8B030D-6E8A-4147-A177-3AD203B41FA5}">
                      <a16:colId xmlns:a16="http://schemas.microsoft.com/office/drawing/2014/main" val="129912512"/>
                    </a:ext>
                  </a:extLst>
                </a:gridCol>
                <a:gridCol w="2523194">
                  <a:extLst>
                    <a:ext uri="{9D8B030D-6E8A-4147-A177-3AD203B41FA5}">
                      <a16:colId xmlns:a16="http://schemas.microsoft.com/office/drawing/2014/main" val="534914652"/>
                    </a:ext>
                  </a:extLst>
                </a:gridCol>
                <a:gridCol w="2523194">
                  <a:extLst>
                    <a:ext uri="{9D8B030D-6E8A-4147-A177-3AD203B41FA5}">
                      <a16:colId xmlns:a16="http://schemas.microsoft.com/office/drawing/2014/main" val="518382956"/>
                    </a:ext>
                  </a:extLst>
                </a:gridCol>
              </a:tblGrid>
              <a:tr h="271750">
                <a:tc>
                  <a:txBody>
                    <a:bodyPr/>
                    <a:lstStyle/>
                    <a:p>
                      <a:endParaRPr lang="en-US" dirty="0"/>
                    </a:p>
                  </a:txBody>
                  <a:tcPr/>
                </a:tc>
                <a:tc>
                  <a:txBody>
                    <a:bodyPr/>
                    <a:lstStyle/>
                    <a:p>
                      <a:r>
                        <a:rPr lang="en-US" dirty="0"/>
                        <a:t>SUCCESS sites</a:t>
                      </a:r>
                    </a:p>
                  </a:txBody>
                  <a:tcPr/>
                </a:tc>
                <a:tc>
                  <a:txBody>
                    <a:bodyPr/>
                    <a:lstStyle/>
                    <a:p>
                      <a:r>
                        <a:rPr lang="en-US" dirty="0"/>
                        <a:t>Collaborative wide</a:t>
                      </a:r>
                    </a:p>
                  </a:txBody>
                  <a:tcPr/>
                </a:tc>
                <a:extLst>
                  <a:ext uri="{0D108BD9-81ED-4DB2-BD59-A6C34878D82A}">
                    <a16:rowId xmlns:a16="http://schemas.microsoft.com/office/drawing/2014/main" val="2025500087"/>
                  </a:ext>
                </a:extLst>
              </a:tr>
              <a:tr h="1337846">
                <a:tc>
                  <a:txBody>
                    <a:bodyPr/>
                    <a:lstStyle/>
                    <a:p>
                      <a:r>
                        <a:rPr lang="en-US" sz="1400" dirty="0"/>
                        <a:t>Cases completed</a:t>
                      </a:r>
                      <a:endParaRPr lang="en-US" sz="1400" dirty="0">
                        <a:solidFill>
                          <a:srgbClr val="FF0000"/>
                        </a:solidFill>
                      </a:endParaRPr>
                    </a:p>
                    <a:p>
                      <a:pPr>
                        <a:lnSpc>
                          <a:spcPct val="150000"/>
                        </a:lnSpc>
                      </a:pPr>
                      <a:r>
                        <a:rPr lang="en-US" sz="1400" dirty="0"/>
                        <a:t>Category A: Avoid Placement</a:t>
                      </a:r>
                    </a:p>
                    <a:p>
                      <a:pPr>
                        <a:lnSpc>
                          <a:spcPct val="150000"/>
                        </a:lnSpc>
                      </a:pPr>
                      <a:r>
                        <a:rPr lang="en-US" sz="1400" dirty="0"/>
                        <a:t>Category B: Remove in OR</a:t>
                      </a:r>
                    </a:p>
                    <a:p>
                      <a:pPr>
                        <a:lnSpc>
                          <a:spcPct val="150000"/>
                        </a:lnSpc>
                      </a:pPr>
                      <a:r>
                        <a:rPr lang="en-US" sz="1400" dirty="0"/>
                        <a:t>Category C: Remove POD 1-2</a:t>
                      </a:r>
                    </a:p>
                  </a:txBody>
                  <a:tcPr/>
                </a:tc>
                <a:tc>
                  <a:txBody>
                    <a:bodyPr/>
                    <a:lstStyle/>
                    <a:p>
                      <a:r>
                        <a:rPr lang="en-US" sz="1400" dirty="0"/>
                        <a:t>5,249 (3746 Category A, 1399 Category B, 104 Category C)</a:t>
                      </a:r>
                    </a:p>
                  </a:txBody>
                  <a:tcPr/>
                </a:tc>
                <a:tc>
                  <a:txBody>
                    <a:bodyPr/>
                    <a:lstStyle/>
                    <a:p>
                      <a:r>
                        <a:rPr lang="en-US" sz="1400" kern="1200" dirty="0">
                          <a:solidFill>
                            <a:schemeClr val="dk1"/>
                          </a:solidFill>
                          <a:effectLst/>
                          <a:latin typeface="+mn-lt"/>
                          <a:ea typeface="+mn-ea"/>
                          <a:cs typeface="+mn-cs"/>
                        </a:rPr>
                        <a:t>14,035 with catheter use/retention data  (9784 Category A, 3901 Category B, 350 Category C)</a:t>
                      </a:r>
                      <a:endParaRPr lang="en-US" sz="1400" dirty="0"/>
                    </a:p>
                  </a:txBody>
                  <a:tcPr/>
                </a:tc>
                <a:extLst>
                  <a:ext uri="{0D108BD9-81ED-4DB2-BD59-A6C34878D82A}">
                    <a16:rowId xmlns:a16="http://schemas.microsoft.com/office/drawing/2014/main" val="1205805889"/>
                  </a:ext>
                </a:extLst>
              </a:tr>
              <a:tr h="391996">
                <a:tc>
                  <a:txBody>
                    <a:bodyPr/>
                    <a:lstStyle/>
                    <a:p>
                      <a:r>
                        <a:rPr lang="en-US" sz="1400" dirty="0"/>
                        <a:t>Postop retention rate</a:t>
                      </a:r>
                    </a:p>
                  </a:txBody>
                  <a:tcPr/>
                </a:tc>
                <a:tc>
                  <a:txBody>
                    <a:bodyPr/>
                    <a:lstStyle/>
                    <a:p>
                      <a:r>
                        <a:rPr lang="en-US" sz="1400" dirty="0"/>
                        <a:t>1.4% (Range 0-6.3%)</a:t>
                      </a:r>
                    </a:p>
                  </a:txBody>
                  <a:tcPr/>
                </a:tc>
                <a:tc>
                  <a:txBody>
                    <a:bodyPr/>
                    <a:lstStyle/>
                    <a:p>
                      <a:r>
                        <a:rPr lang="en-US" sz="1400" kern="1200" dirty="0">
                          <a:solidFill>
                            <a:schemeClr val="dk1"/>
                          </a:solidFill>
                          <a:effectLst/>
                          <a:latin typeface="+mn-lt"/>
                          <a:ea typeface="+mn-ea"/>
                          <a:cs typeface="+mn-cs"/>
                        </a:rPr>
                        <a:t>1.1% (Range 0-6.9%)</a:t>
                      </a:r>
                      <a:endParaRPr lang="en-US" sz="1400" dirty="0"/>
                    </a:p>
                  </a:txBody>
                  <a:tcPr/>
                </a:tc>
                <a:extLst>
                  <a:ext uri="{0D108BD9-81ED-4DB2-BD59-A6C34878D82A}">
                    <a16:rowId xmlns:a16="http://schemas.microsoft.com/office/drawing/2014/main" val="981107431"/>
                  </a:ext>
                </a:extLst>
              </a:tr>
              <a:tr h="466262">
                <a:tc>
                  <a:txBody>
                    <a:bodyPr/>
                    <a:lstStyle/>
                    <a:p>
                      <a:r>
                        <a:rPr lang="en-US" sz="1400" dirty="0"/>
                        <a:t>Average category A catheter use (lower better)</a:t>
                      </a:r>
                    </a:p>
                  </a:txBody>
                  <a:tcPr/>
                </a:tc>
                <a:tc>
                  <a:txBody>
                    <a:bodyPr/>
                    <a:lstStyle/>
                    <a:p>
                      <a:r>
                        <a:rPr lang="en-US" sz="1400" dirty="0"/>
                        <a:t>12.4% (0-70%)</a:t>
                      </a:r>
                    </a:p>
                  </a:txBody>
                  <a:tcPr/>
                </a:tc>
                <a:tc>
                  <a:txBody>
                    <a:bodyPr/>
                    <a:lstStyle/>
                    <a:p>
                      <a:r>
                        <a:rPr lang="en-US" sz="1400" dirty="0"/>
                        <a:t>31.4% (0-81%)</a:t>
                      </a:r>
                    </a:p>
                  </a:txBody>
                  <a:tcPr/>
                </a:tc>
                <a:extLst>
                  <a:ext uri="{0D108BD9-81ED-4DB2-BD59-A6C34878D82A}">
                    <a16:rowId xmlns:a16="http://schemas.microsoft.com/office/drawing/2014/main" val="3852560207"/>
                  </a:ext>
                </a:extLst>
              </a:tr>
              <a:tr h="466262">
                <a:tc>
                  <a:txBody>
                    <a:bodyPr/>
                    <a:lstStyle/>
                    <a:p>
                      <a:r>
                        <a:rPr lang="en-US" sz="1400" dirty="0"/>
                        <a:t>Average category B catheter d/c in OR (higher better)</a:t>
                      </a:r>
                    </a:p>
                  </a:txBody>
                  <a:tcPr/>
                </a:tc>
                <a:tc>
                  <a:txBody>
                    <a:bodyPr/>
                    <a:lstStyle/>
                    <a:p>
                      <a:r>
                        <a:rPr lang="en-US" sz="1400" dirty="0"/>
                        <a:t>46.2% (0-93%)</a:t>
                      </a:r>
                    </a:p>
                  </a:txBody>
                  <a:tcPr/>
                </a:tc>
                <a:tc>
                  <a:txBody>
                    <a:bodyPr/>
                    <a:lstStyle/>
                    <a:p>
                      <a:r>
                        <a:rPr lang="en-US" sz="1400" kern="1200" dirty="0">
                          <a:solidFill>
                            <a:schemeClr val="dk1"/>
                          </a:solidFill>
                          <a:effectLst/>
                          <a:latin typeface="+mn-lt"/>
                          <a:ea typeface="+mn-ea"/>
                          <a:cs typeface="+mn-cs"/>
                        </a:rPr>
                        <a:t>44.1% (0-89%)</a:t>
                      </a:r>
                      <a:endParaRPr lang="en-US" sz="1400" dirty="0"/>
                    </a:p>
                  </a:txBody>
                  <a:tcPr/>
                </a:tc>
                <a:extLst>
                  <a:ext uri="{0D108BD9-81ED-4DB2-BD59-A6C34878D82A}">
                    <a16:rowId xmlns:a16="http://schemas.microsoft.com/office/drawing/2014/main" val="3834292521"/>
                  </a:ext>
                </a:extLst>
              </a:tr>
            </a:tbl>
          </a:graphicData>
        </a:graphic>
      </p:graphicFrame>
    </p:spTree>
    <p:extLst>
      <p:ext uri="{BB962C8B-B14F-4D97-AF65-F5344CB8AC3E}">
        <p14:creationId xmlns:p14="http://schemas.microsoft.com/office/powerpoint/2010/main" val="35371005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6" name="Google Shape;106;p20"/>
          <p:cNvSpPr txBox="1">
            <a:spLocks noGrp="1"/>
          </p:cNvSpPr>
          <p:nvPr>
            <p:ph type="title" idx="4294967295"/>
          </p:nvPr>
        </p:nvSpPr>
        <p:spPr>
          <a:xfrm>
            <a:off x="5894475" y="400159"/>
            <a:ext cx="1249362" cy="571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133" b="1" dirty="0"/>
              <a:t>Mr. Fine</a:t>
            </a:r>
            <a:endParaRPr sz="2133" b="1" dirty="0"/>
          </a:p>
          <a:p>
            <a:pPr marL="0" lvl="0" indent="0" algn="l" rtl="0">
              <a:spcBef>
                <a:spcPts val="0"/>
              </a:spcBef>
              <a:spcAft>
                <a:spcPts val="0"/>
              </a:spcAft>
              <a:buNone/>
            </a:pPr>
            <a:endParaRPr dirty="0"/>
          </a:p>
        </p:txBody>
      </p:sp>
      <p:sp>
        <p:nvSpPr>
          <p:cNvPr id="110" name="Google Shape;110;p20"/>
          <p:cNvSpPr txBox="1">
            <a:spLocks noGrp="1"/>
          </p:cNvSpPr>
          <p:nvPr>
            <p:ph type="title" idx="4294967295"/>
          </p:nvPr>
        </p:nvSpPr>
        <p:spPr>
          <a:xfrm>
            <a:off x="238670" y="1246616"/>
            <a:ext cx="4157367" cy="460375"/>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sz="1355" dirty="0"/>
              <a:t>Indwelling foley catheter removed at the end of the case.</a:t>
            </a:r>
            <a:endParaRPr sz="1355" dirty="0"/>
          </a:p>
        </p:txBody>
      </p:sp>
      <p:sp>
        <p:nvSpPr>
          <p:cNvPr id="111" name="Google Shape;111;p20"/>
          <p:cNvSpPr txBox="1">
            <a:spLocks noGrp="1"/>
          </p:cNvSpPr>
          <p:nvPr>
            <p:ph type="title" idx="4294967295"/>
          </p:nvPr>
        </p:nvSpPr>
        <p:spPr>
          <a:xfrm>
            <a:off x="177539" y="2665782"/>
            <a:ext cx="4394455" cy="70485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sz="1300" dirty="0"/>
              <a:t>Urethra required healing so </a:t>
            </a:r>
            <a:r>
              <a:rPr lang="en" sz="1300" b="1" dirty="0"/>
              <a:t>foley reinserted </a:t>
            </a:r>
            <a:r>
              <a:rPr lang="en" sz="1300" dirty="0"/>
              <a:t>under cystoscope by Urology. </a:t>
            </a:r>
            <a:r>
              <a:rPr lang="en" sz="1300" b="1" dirty="0"/>
              <a:t>Increased LOS</a:t>
            </a:r>
            <a:r>
              <a:rPr lang="en" sz="1300" dirty="0"/>
              <a:t> by 2 days. Discharged home with catheter.</a:t>
            </a:r>
            <a:endParaRPr sz="1300" dirty="0"/>
          </a:p>
          <a:p>
            <a:pPr marL="0" lvl="0" indent="0" algn="ctr" rtl="0">
              <a:spcBef>
                <a:spcPts val="0"/>
              </a:spcBef>
              <a:spcAft>
                <a:spcPts val="0"/>
              </a:spcAft>
              <a:buNone/>
            </a:pPr>
            <a:endParaRPr sz="1244" dirty="0"/>
          </a:p>
          <a:p>
            <a:pPr marL="0" lvl="0" indent="0" algn="ctr" rtl="0">
              <a:spcBef>
                <a:spcPts val="0"/>
              </a:spcBef>
              <a:spcAft>
                <a:spcPts val="0"/>
              </a:spcAft>
              <a:buNone/>
            </a:pPr>
            <a:endParaRPr sz="1244" dirty="0"/>
          </a:p>
          <a:p>
            <a:pPr marL="0" lvl="0" indent="0" algn="l" rtl="0">
              <a:spcBef>
                <a:spcPts val="0"/>
              </a:spcBef>
              <a:spcAft>
                <a:spcPts val="0"/>
              </a:spcAft>
              <a:buNone/>
            </a:pPr>
            <a:endParaRPr dirty="0"/>
          </a:p>
        </p:txBody>
      </p:sp>
      <p:pic>
        <p:nvPicPr>
          <p:cNvPr id="101" name="Google Shape;101;p20"/>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7168422" y="142725"/>
            <a:ext cx="1383719" cy="1091601"/>
          </a:xfrm>
          <a:prstGeom prst="rect">
            <a:avLst/>
          </a:prstGeom>
          <a:noFill/>
          <a:ln>
            <a:noFill/>
          </a:ln>
        </p:spPr>
      </p:pic>
      <p:pic>
        <p:nvPicPr>
          <p:cNvPr id="102" name="Google Shape;102;p20"/>
          <p:cNvPicPr preferRelativeResize="0"/>
          <p:nvPr/>
        </p:nvPicPr>
        <p:blipFill>
          <a:blip r:embed="rId4">
            <a:alphaModFix/>
          </a:blip>
          <a:stretch>
            <a:fillRect/>
          </a:stretch>
        </p:blipFill>
        <p:spPr>
          <a:xfrm>
            <a:off x="3004142" y="329539"/>
            <a:ext cx="815124" cy="702875"/>
          </a:xfrm>
          <a:prstGeom prst="rect">
            <a:avLst/>
          </a:prstGeom>
          <a:noFill/>
          <a:ln>
            <a:noFill/>
          </a:ln>
        </p:spPr>
      </p:pic>
      <p:pic>
        <p:nvPicPr>
          <p:cNvPr id="105" name="Google Shape;105;p20"/>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428295" y="151596"/>
            <a:ext cx="1336625" cy="1024901"/>
          </a:xfrm>
          <a:prstGeom prst="rect">
            <a:avLst/>
          </a:prstGeom>
          <a:noFill/>
          <a:ln>
            <a:noFill/>
          </a:ln>
        </p:spPr>
      </p:pic>
      <p:pic>
        <p:nvPicPr>
          <p:cNvPr id="108" name="Google Shape;108;p20"/>
          <p:cNvPicPr preferRelativeResize="0"/>
          <p:nvPr/>
        </p:nvPicPr>
        <p:blipFill>
          <a:blip r:embed="rId4">
            <a:alphaModFix/>
          </a:blip>
          <a:stretch>
            <a:fillRect/>
          </a:stretch>
        </p:blipFill>
        <p:spPr>
          <a:xfrm>
            <a:off x="4926625" y="329539"/>
            <a:ext cx="815124" cy="702875"/>
          </a:xfrm>
          <a:prstGeom prst="rect">
            <a:avLst/>
          </a:prstGeom>
          <a:noFill/>
          <a:ln>
            <a:noFill/>
          </a:ln>
        </p:spPr>
      </p:pic>
      <p:pic>
        <p:nvPicPr>
          <p:cNvPr id="109" name="Google Shape;109;p20"/>
          <p:cNvPicPr preferRelativeResize="0"/>
          <p:nvPr/>
        </p:nvPicPr>
        <p:blipFill>
          <a:blip r:embed="rId6">
            <a:alphaModFix/>
          </a:blip>
          <a:stretch>
            <a:fillRect/>
          </a:stretch>
        </p:blipFill>
        <p:spPr>
          <a:xfrm>
            <a:off x="4936645" y="212776"/>
            <a:ext cx="911825" cy="828900"/>
          </a:xfrm>
          <a:prstGeom prst="rect">
            <a:avLst/>
          </a:prstGeom>
          <a:noFill/>
          <a:ln>
            <a:noFill/>
          </a:ln>
        </p:spPr>
      </p:pic>
      <p:sp>
        <p:nvSpPr>
          <p:cNvPr id="112" name="Google Shape;112;p20"/>
          <p:cNvSpPr txBox="1"/>
          <p:nvPr/>
        </p:nvSpPr>
        <p:spPr>
          <a:xfrm>
            <a:off x="5652369" y="2702967"/>
            <a:ext cx="3032105" cy="567470"/>
          </a:xfrm>
          <a:prstGeom prst="rect">
            <a:avLst/>
          </a:prstGeom>
          <a:noFill/>
          <a:ln w="19050" cap="flat" cmpd="sng">
            <a:solidFill>
              <a:srgbClr val="38761D"/>
            </a:solidFill>
            <a:prstDash val="solid"/>
            <a:round/>
            <a:headEnd type="none" w="sm" len="sm"/>
            <a:tailEnd type="none" w="sm" len="sm"/>
          </a:ln>
        </p:spPr>
        <p:txBody>
          <a:bodyPr spcFirstLastPara="1" wrap="square" lIns="91425" tIns="91425" rIns="91425" bIns="91425" anchor="t" anchorCtr="0">
            <a:noAutofit/>
          </a:bodyPr>
          <a:lstStyle/>
          <a:p>
            <a:pPr marL="0" lvl="0" indent="0" rtl="0">
              <a:spcBef>
                <a:spcPts val="0"/>
              </a:spcBef>
              <a:spcAft>
                <a:spcPts val="0"/>
              </a:spcAft>
              <a:buNone/>
            </a:pPr>
            <a:r>
              <a:rPr lang="en" sz="1200" dirty="0"/>
              <a:t>Discharged home with no catheter needs. Recovery went smoothly.</a:t>
            </a:r>
            <a:endParaRPr sz="1200" dirty="0"/>
          </a:p>
        </p:txBody>
      </p:sp>
      <p:sp>
        <p:nvSpPr>
          <p:cNvPr id="116" name="Google Shape;116;p20"/>
          <p:cNvSpPr/>
          <p:nvPr/>
        </p:nvSpPr>
        <p:spPr>
          <a:xfrm>
            <a:off x="2135525" y="4125300"/>
            <a:ext cx="171600" cy="188100"/>
          </a:xfrm>
          <a:prstGeom prst="downArrow">
            <a:avLst>
              <a:gd name="adj1" fmla="val 50000"/>
              <a:gd name="adj2" fmla="val 50000"/>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20"/>
          <p:cNvSpPr txBox="1"/>
          <p:nvPr/>
        </p:nvSpPr>
        <p:spPr>
          <a:xfrm>
            <a:off x="5550031" y="3692053"/>
            <a:ext cx="3324073" cy="961215"/>
          </a:xfrm>
          <a:prstGeom prst="rect">
            <a:avLst/>
          </a:prstGeom>
          <a:noFill/>
          <a:ln w="19050" cap="flat" cmpd="sng">
            <a:solidFill>
              <a:srgbClr val="0000FF"/>
            </a:solidFill>
            <a:prstDash val="solid"/>
            <a:round/>
            <a:headEnd type="none" w="sm" len="sm"/>
            <a:tailEnd type="none" w="sm" len="sm"/>
          </a:ln>
        </p:spPr>
        <p:txBody>
          <a:bodyPr spcFirstLastPara="1" wrap="square" lIns="91425" tIns="91425" rIns="91425" bIns="91425" anchor="t" anchorCtr="0">
            <a:noAutofit/>
          </a:bodyPr>
          <a:lstStyle/>
          <a:p>
            <a:pPr marL="0" lvl="0" indent="0" rtl="0">
              <a:spcBef>
                <a:spcPts val="0"/>
              </a:spcBef>
              <a:spcAft>
                <a:spcPts val="0"/>
              </a:spcAft>
              <a:buNone/>
            </a:pPr>
            <a:r>
              <a:rPr lang="en" sz="1200" dirty="0"/>
              <a:t>Decreased patient anxiety and discomfort </a:t>
            </a:r>
            <a:r>
              <a:rPr lang="en" sz="1200" b="1" dirty="0">
                <a:solidFill>
                  <a:schemeClr val="dk1"/>
                </a:solidFill>
                <a:latin typeface="Calibri"/>
                <a:ea typeface="Calibri"/>
                <a:cs typeface="Calibri"/>
                <a:sym typeface="Calibri"/>
              </a:rPr>
              <a:t>• </a:t>
            </a:r>
            <a:r>
              <a:rPr lang="en" sz="1200" dirty="0">
                <a:solidFill>
                  <a:schemeClr val="dk1"/>
                </a:solidFill>
              </a:rPr>
              <a:t>Increased patient satisfaction </a:t>
            </a:r>
            <a:r>
              <a:rPr lang="en" sz="1200" b="1" dirty="0">
                <a:solidFill>
                  <a:schemeClr val="dk1"/>
                </a:solidFill>
                <a:latin typeface="Calibri"/>
                <a:ea typeface="Calibri"/>
                <a:cs typeface="Calibri"/>
                <a:sym typeface="Calibri"/>
              </a:rPr>
              <a:t>• </a:t>
            </a:r>
            <a:r>
              <a:rPr lang="en" sz="1200" dirty="0">
                <a:solidFill>
                  <a:schemeClr val="dk1"/>
                </a:solidFill>
              </a:rPr>
              <a:t>Decreased additional invasive procedures</a:t>
            </a:r>
            <a:r>
              <a:rPr lang="en" sz="1200" b="1" dirty="0">
                <a:solidFill>
                  <a:schemeClr val="dk1"/>
                </a:solidFill>
                <a:latin typeface="Calibri"/>
                <a:ea typeface="Calibri"/>
                <a:cs typeface="Calibri"/>
                <a:sym typeface="Calibri"/>
              </a:rPr>
              <a:t>• </a:t>
            </a:r>
            <a:r>
              <a:rPr lang="en" sz="1200" dirty="0">
                <a:solidFill>
                  <a:schemeClr val="dk1"/>
                </a:solidFill>
              </a:rPr>
              <a:t>Returned to work as planned</a:t>
            </a:r>
            <a:endParaRPr sz="1200" dirty="0"/>
          </a:p>
          <a:p>
            <a:pPr marL="0" lvl="0" indent="0" algn="l" rtl="0">
              <a:spcBef>
                <a:spcPts val="0"/>
              </a:spcBef>
              <a:spcAft>
                <a:spcPts val="0"/>
              </a:spcAft>
              <a:buNone/>
            </a:pPr>
            <a:endParaRPr sz="1100" dirty="0"/>
          </a:p>
        </p:txBody>
      </p:sp>
      <p:sp>
        <p:nvSpPr>
          <p:cNvPr id="118" name="Google Shape;118;p20"/>
          <p:cNvSpPr txBox="1"/>
          <p:nvPr/>
        </p:nvSpPr>
        <p:spPr>
          <a:xfrm>
            <a:off x="181999" y="4186308"/>
            <a:ext cx="4389997" cy="867019"/>
          </a:xfrm>
          <a:prstGeom prst="rect">
            <a:avLst/>
          </a:prstGeom>
          <a:noFill/>
          <a:ln w="19050" cap="flat" cmpd="sng">
            <a:solidFill>
              <a:srgbClr val="0000FF"/>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200" dirty="0"/>
              <a:t>Increased patient anxiety and discomfort </a:t>
            </a:r>
            <a:r>
              <a:rPr lang="en" sz="1200" dirty="0">
                <a:solidFill>
                  <a:schemeClr val="dk1"/>
                </a:solidFill>
                <a:latin typeface="Calibri"/>
                <a:ea typeface="Calibri"/>
                <a:cs typeface="Calibri"/>
                <a:sym typeface="Calibri"/>
              </a:rPr>
              <a:t>• </a:t>
            </a:r>
            <a:r>
              <a:rPr lang="en" sz="1200" dirty="0">
                <a:solidFill>
                  <a:schemeClr val="dk1"/>
                </a:solidFill>
              </a:rPr>
              <a:t>Decreased patient satisfaction </a:t>
            </a:r>
            <a:r>
              <a:rPr lang="en" sz="1200" dirty="0">
                <a:solidFill>
                  <a:schemeClr val="dk1"/>
                </a:solidFill>
                <a:latin typeface="Calibri"/>
                <a:ea typeface="Calibri"/>
                <a:cs typeface="Calibri"/>
                <a:sym typeface="Calibri"/>
              </a:rPr>
              <a:t>• </a:t>
            </a:r>
            <a:r>
              <a:rPr lang="en" sz="1200" dirty="0">
                <a:solidFill>
                  <a:schemeClr val="dk1"/>
                </a:solidFill>
              </a:rPr>
              <a:t>Increased invasive procedures </a:t>
            </a:r>
            <a:r>
              <a:rPr lang="en" sz="1200" dirty="0">
                <a:solidFill>
                  <a:schemeClr val="dk1"/>
                </a:solidFill>
                <a:latin typeface="Calibri"/>
                <a:ea typeface="Calibri"/>
                <a:cs typeface="Calibri"/>
                <a:sym typeface="Calibri"/>
              </a:rPr>
              <a:t>• </a:t>
            </a:r>
            <a:r>
              <a:rPr lang="en" sz="1200" dirty="0">
                <a:solidFill>
                  <a:schemeClr val="dk1"/>
                </a:solidFill>
              </a:rPr>
              <a:t>Increased avoidable Urology consults </a:t>
            </a:r>
            <a:r>
              <a:rPr lang="en" sz="1200" dirty="0">
                <a:solidFill>
                  <a:schemeClr val="dk1"/>
                </a:solidFill>
                <a:latin typeface="Calibri"/>
                <a:ea typeface="Calibri"/>
                <a:cs typeface="Calibri"/>
                <a:sym typeface="Calibri"/>
              </a:rPr>
              <a:t>• </a:t>
            </a:r>
            <a:r>
              <a:rPr lang="en" sz="1200" dirty="0">
                <a:solidFill>
                  <a:schemeClr val="dk1"/>
                </a:solidFill>
              </a:rPr>
              <a:t>Out of work for an additional 6 weeks</a:t>
            </a:r>
            <a:endParaRPr sz="1200" dirty="0"/>
          </a:p>
          <a:p>
            <a:pPr marL="0" lvl="0" indent="0" algn="l" rtl="0">
              <a:spcBef>
                <a:spcPts val="0"/>
              </a:spcBef>
              <a:spcAft>
                <a:spcPts val="0"/>
              </a:spcAft>
              <a:buNone/>
            </a:pPr>
            <a:endParaRPr sz="1200" dirty="0"/>
          </a:p>
        </p:txBody>
      </p:sp>
      <p:sp>
        <p:nvSpPr>
          <p:cNvPr id="121" name="Google Shape;121;p20"/>
          <p:cNvSpPr txBox="1"/>
          <p:nvPr/>
        </p:nvSpPr>
        <p:spPr>
          <a:xfrm>
            <a:off x="216733" y="1259276"/>
            <a:ext cx="4355259" cy="446812"/>
          </a:xfrm>
          <a:prstGeom prst="rect">
            <a:avLst/>
          </a:prstGeom>
          <a:noFill/>
          <a:ln w="19050" cap="flat" cmpd="sng">
            <a:solidFill>
              <a:srgbClr val="38761D"/>
            </a:solidFill>
            <a:prstDash val="solid"/>
            <a:round/>
            <a:headEnd type="none" w="sm" len="sm"/>
            <a:tailEnd type="none" w="sm" len="sm"/>
          </a:ln>
        </p:spPr>
        <p:txBody>
          <a:bodyPr spcFirstLastPara="1" wrap="square" lIns="91425" tIns="91425" rIns="91425" bIns="91425" anchor="t" anchorCtr="0">
            <a:normAutofit/>
          </a:bodyPr>
          <a:lstStyle/>
          <a:p>
            <a:pPr marL="0" lvl="0" indent="0" algn="l" rtl="0">
              <a:spcBef>
                <a:spcPts val="0"/>
              </a:spcBef>
              <a:spcAft>
                <a:spcPts val="0"/>
              </a:spcAft>
              <a:buNone/>
            </a:pPr>
            <a:endParaRPr sz="1100" dirty="0"/>
          </a:p>
        </p:txBody>
      </p:sp>
      <p:grpSp>
        <p:nvGrpSpPr>
          <p:cNvPr id="5" name="Group 4">
            <a:extLst>
              <a:ext uri="{FF2B5EF4-FFF2-40B4-BE49-F238E27FC236}">
                <a16:creationId xmlns:a16="http://schemas.microsoft.com/office/drawing/2014/main" id="{CA869F50-1400-210B-0D7F-E055AD7AFA3E}"/>
              </a:ext>
            </a:extLst>
          </p:cNvPr>
          <p:cNvGrpSpPr/>
          <p:nvPr/>
        </p:nvGrpSpPr>
        <p:grpSpPr>
          <a:xfrm>
            <a:off x="5663846" y="1607559"/>
            <a:ext cx="3111141" cy="748162"/>
            <a:chOff x="4566916" y="1513167"/>
            <a:chExt cx="3111141" cy="748162"/>
          </a:xfrm>
        </p:grpSpPr>
        <p:sp>
          <p:nvSpPr>
            <p:cNvPr id="119" name="Google Shape;119;p20"/>
            <p:cNvSpPr txBox="1"/>
            <p:nvPr/>
          </p:nvSpPr>
          <p:spPr>
            <a:xfrm>
              <a:off x="4645952" y="1522429"/>
              <a:ext cx="3032105"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b="1" dirty="0"/>
                <a:t>Experienced postoperative urinary retention (POUR)</a:t>
              </a:r>
              <a:r>
                <a:rPr lang="en" sz="1200" dirty="0"/>
                <a:t>. Treated in accordance with protocol. Straight catheter x1</a:t>
              </a:r>
              <a:endParaRPr sz="1200" dirty="0"/>
            </a:p>
          </p:txBody>
        </p:sp>
        <p:sp>
          <p:nvSpPr>
            <p:cNvPr id="123" name="Google Shape;123;p20"/>
            <p:cNvSpPr/>
            <p:nvPr/>
          </p:nvSpPr>
          <p:spPr>
            <a:xfrm>
              <a:off x="4566916" y="1513167"/>
              <a:ext cx="3032106" cy="711094"/>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5" name="Google Shape;125;p20"/>
          <p:cNvSpPr/>
          <p:nvPr/>
        </p:nvSpPr>
        <p:spPr>
          <a:xfrm>
            <a:off x="194425" y="1833782"/>
            <a:ext cx="4377568" cy="704686"/>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b="1" dirty="0"/>
              <a:t>Experienced postoperative urinary retention (POUR). </a:t>
            </a:r>
            <a:r>
              <a:rPr lang="en-US" sz="1200" dirty="0"/>
              <a:t>No protocol for management. Suffered genitourinary injury from straight catheter attempts x4. </a:t>
            </a:r>
          </a:p>
        </p:txBody>
      </p:sp>
      <p:sp>
        <p:nvSpPr>
          <p:cNvPr id="126" name="Google Shape;126;p20"/>
          <p:cNvSpPr txBox="1"/>
          <p:nvPr/>
        </p:nvSpPr>
        <p:spPr>
          <a:xfrm>
            <a:off x="164078" y="3434028"/>
            <a:ext cx="4407915" cy="738633"/>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b="1" dirty="0">
                <a:solidFill>
                  <a:schemeClr val="dk1"/>
                </a:solidFill>
              </a:rPr>
              <a:t>Returned to ED for CAUTI</a:t>
            </a:r>
            <a:r>
              <a:rPr lang="en" sz="1200" dirty="0">
                <a:solidFill>
                  <a:schemeClr val="dk1"/>
                </a:solidFill>
              </a:rPr>
              <a:t>, started on antibiotics. Then, </a:t>
            </a:r>
            <a:r>
              <a:rPr lang="en" sz="1200" b="1" dirty="0">
                <a:solidFill>
                  <a:schemeClr val="dk1"/>
                </a:solidFill>
              </a:rPr>
              <a:t>readmitted within 30 days</a:t>
            </a:r>
            <a:r>
              <a:rPr lang="en" sz="1200" dirty="0">
                <a:solidFill>
                  <a:schemeClr val="dk1"/>
                </a:solidFill>
              </a:rPr>
              <a:t> for increased pain due to </a:t>
            </a:r>
            <a:r>
              <a:rPr lang="en" sz="1200" b="1" dirty="0">
                <a:solidFill>
                  <a:schemeClr val="dk1"/>
                </a:solidFill>
              </a:rPr>
              <a:t>urethral stricture</a:t>
            </a:r>
            <a:r>
              <a:rPr lang="en" sz="1200" dirty="0">
                <a:solidFill>
                  <a:schemeClr val="dk1"/>
                </a:solidFill>
              </a:rPr>
              <a:t> from catheterization.</a:t>
            </a:r>
            <a:endParaRPr sz="1200" dirty="0">
              <a:solidFill>
                <a:schemeClr val="dk1"/>
              </a:solidFill>
            </a:endParaRPr>
          </a:p>
        </p:txBody>
      </p:sp>
      <p:sp>
        <p:nvSpPr>
          <p:cNvPr id="127" name="Google Shape;127;p20"/>
          <p:cNvSpPr/>
          <p:nvPr/>
        </p:nvSpPr>
        <p:spPr>
          <a:xfrm>
            <a:off x="178114" y="2716149"/>
            <a:ext cx="4415678" cy="6351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20"/>
          <p:cNvSpPr/>
          <p:nvPr/>
        </p:nvSpPr>
        <p:spPr>
          <a:xfrm>
            <a:off x="194425" y="3485794"/>
            <a:ext cx="4389997" cy="6351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20"/>
          <p:cNvSpPr/>
          <p:nvPr/>
        </p:nvSpPr>
        <p:spPr>
          <a:xfrm>
            <a:off x="2123291" y="1699279"/>
            <a:ext cx="171600" cy="188100"/>
          </a:xfrm>
          <a:prstGeom prst="downArrow">
            <a:avLst>
              <a:gd name="adj1" fmla="val 50000"/>
              <a:gd name="adj2" fmla="val 50000"/>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06;p20">
            <a:extLst>
              <a:ext uri="{FF2B5EF4-FFF2-40B4-BE49-F238E27FC236}">
                <a16:creationId xmlns:a16="http://schemas.microsoft.com/office/drawing/2014/main" id="{902341A0-1E55-2AC7-A81A-CE877919C33F}"/>
              </a:ext>
            </a:extLst>
          </p:cNvPr>
          <p:cNvSpPr txBox="1">
            <a:spLocks/>
          </p:cNvSpPr>
          <p:nvPr/>
        </p:nvSpPr>
        <p:spPr>
          <a:xfrm>
            <a:off x="1784755" y="408127"/>
            <a:ext cx="1249362" cy="511838"/>
          </a:xfrm>
          <a:prstGeom prst="rect">
            <a:avLst/>
          </a:prstGeom>
        </p:spPr>
        <p:txBody>
          <a:bodyPr spcFirstLastPara="1" vert="horz" wrap="square" lIns="91425" tIns="91425" rIns="91425" bIns="91425" rtlCol="0" anchor="t" anchorCtr="0">
            <a:normAutofit/>
          </a:bodyPr>
          <a:lstStyle>
            <a:lvl1pPr algn="l" defTabSz="342900" rtl="0" eaLnBrk="1" latinLnBrk="0" hangingPunct="1">
              <a:spcBef>
                <a:spcPct val="0"/>
              </a:spcBef>
              <a:buNone/>
              <a:defRPr sz="27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spcBef>
                <a:spcPts val="0"/>
              </a:spcBef>
            </a:pPr>
            <a:r>
              <a:rPr lang="en-US" sz="2133" b="1" dirty="0"/>
              <a:t>Mr. Hurt</a:t>
            </a:r>
          </a:p>
          <a:p>
            <a:pPr>
              <a:spcBef>
                <a:spcPts val="0"/>
              </a:spcBef>
            </a:pPr>
            <a:endParaRPr lang="en-US" dirty="0"/>
          </a:p>
        </p:txBody>
      </p:sp>
      <p:grpSp>
        <p:nvGrpSpPr>
          <p:cNvPr id="8" name="Group 7">
            <a:extLst>
              <a:ext uri="{FF2B5EF4-FFF2-40B4-BE49-F238E27FC236}">
                <a16:creationId xmlns:a16="http://schemas.microsoft.com/office/drawing/2014/main" id="{E46D22FF-1509-81C7-0A16-5D37C1146C10}"/>
              </a:ext>
            </a:extLst>
          </p:cNvPr>
          <p:cNvGrpSpPr/>
          <p:nvPr/>
        </p:nvGrpSpPr>
        <p:grpSpPr>
          <a:xfrm>
            <a:off x="4412345" y="1126423"/>
            <a:ext cx="1390275" cy="940644"/>
            <a:chOff x="3518059" y="250319"/>
            <a:chExt cx="1659529" cy="709912"/>
          </a:xfrm>
        </p:grpSpPr>
        <p:pic>
          <p:nvPicPr>
            <p:cNvPr id="9" name="Google Shape;201;p24">
              <a:extLst>
                <a:ext uri="{FF2B5EF4-FFF2-40B4-BE49-F238E27FC236}">
                  <a16:creationId xmlns:a16="http://schemas.microsoft.com/office/drawing/2014/main" id="{3D2EEA9B-0C24-53A9-170A-B9F327201708}"/>
                </a:ext>
              </a:extLst>
            </p:cNvPr>
            <p:cNvPicPr preferRelativeResize="0"/>
            <p:nvPr/>
          </p:nvPicPr>
          <p:blipFill>
            <a:blip r:embed="rId7">
              <a:alphaModFix/>
            </a:blip>
            <a:stretch>
              <a:fillRect/>
            </a:stretch>
          </p:blipFill>
          <p:spPr>
            <a:xfrm>
              <a:off x="3525884" y="250319"/>
              <a:ext cx="1651704" cy="709912"/>
            </a:xfrm>
            <a:prstGeom prst="rect">
              <a:avLst/>
            </a:prstGeom>
            <a:noFill/>
            <a:ln>
              <a:noFill/>
            </a:ln>
          </p:spPr>
        </p:pic>
        <p:sp>
          <p:nvSpPr>
            <p:cNvPr id="10" name="TextBox 9">
              <a:extLst>
                <a:ext uri="{FF2B5EF4-FFF2-40B4-BE49-F238E27FC236}">
                  <a16:creationId xmlns:a16="http://schemas.microsoft.com/office/drawing/2014/main" id="{415A63DB-1EF9-2ECC-7EC7-1F88AA5F533C}"/>
                </a:ext>
              </a:extLst>
            </p:cNvPr>
            <p:cNvSpPr txBox="1"/>
            <p:nvPr/>
          </p:nvSpPr>
          <p:spPr>
            <a:xfrm>
              <a:off x="3518059" y="260454"/>
              <a:ext cx="1651705" cy="692497"/>
            </a:xfrm>
            <a:prstGeom prst="rect">
              <a:avLst/>
            </a:prstGeom>
            <a:noFill/>
          </p:spPr>
          <p:txBody>
            <a:bodyPr wrap="square">
              <a:spAutoFit/>
            </a:bodyPr>
            <a:lstStyle/>
            <a:p>
              <a:pPr marL="0" lvl="0" indent="0" algn="ctr" rtl="0">
                <a:spcBef>
                  <a:spcPts val="0"/>
                </a:spcBef>
                <a:spcAft>
                  <a:spcPts val="0"/>
                </a:spcAft>
                <a:buNone/>
              </a:pPr>
              <a:r>
                <a:rPr lang="en-US" sz="1300" b="1" dirty="0"/>
                <a:t>GOAL #1</a:t>
              </a:r>
            </a:p>
            <a:p>
              <a:pPr marL="0" lvl="0" indent="0" algn="ctr" rtl="0">
                <a:spcBef>
                  <a:spcPts val="0"/>
                </a:spcBef>
                <a:spcAft>
                  <a:spcPts val="0"/>
                </a:spcAft>
                <a:buNone/>
              </a:pPr>
              <a:r>
                <a:rPr lang="en-US" sz="1300" dirty="0"/>
                <a:t>Avoid Unnecessary Catheterization</a:t>
              </a:r>
            </a:p>
          </p:txBody>
        </p:sp>
      </p:grpSp>
      <p:sp>
        <p:nvSpPr>
          <p:cNvPr id="11" name="Google Shape;129;p20">
            <a:extLst>
              <a:ext uri="{FF2B5EF4-FFF2-40B4-BE49-F238E27FC236}">
                <a16:creationId xmlns:a16="http://schemas.microsoft.com/office/drawing/2014/main" id="{FC6A6D39-DE6A-E2EE-9DDC-B9E94CB6F68D}"/>
              </a:ext>
            </a:extLst>
          </p:cNvPr>
          <p:cNvSpPr/>
          <p:nvPr/>
        </p:nvSpPr>
        <p:spPr>
          <a:xfrm>
            <a:off x="7122496" y="2318653"/>
            <a:ext cx="215551" cy="280640"/>
          </a:xfrm>
          <a:prstGeom prst="downArrow">
            <a:avLst>
              <a:gd name="adj1" fmla="val 50000"/>
              <a:gd name="adj2" fmla="val 50000"/>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29;p20">
            <a:extLst>
              <a:ext uri="{FF2B5EF4-FFF2-40B4-BE49-F238E27FC236}">
                <a16:creationId xmlns:a16="http://schemas.microsoft.com/office/drawing/2014/main" id="{2BF7BD5A-3A90-17EF-FDD6-F83C5B82AD09}"/>
              </a:ext>
            </a:extLst>
          </p:cNvPr>
          <p:cNvSpPr/>
          <p:nvPr/>
        </p:nvSpPr>
        <p:spPr>
          <a:xfrm>
            <a:off x="7151159" y="3259604"/>
            <a:ext cx="215550" cy="389558"/>
          </a:xfrm>
          <a:prstGeom prst="downArrow">
            <a:avLst>
              <a:gd name="adj1" fmla="val 50000"/>
              <a:gd name="adj2" fmla="val 50000"/>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 name="Group 14">
            <a:extLst>
              <a:ext uri="{FF2B5EF4-FFF2-40B4-BE49-F238E27FC236}">
                <a16:creationId xmlns:a16="http://schemas.microsoft.com/office/drawing/2014/main" id="{6EC5DF3B-CDAD-BDD7-A255-4EEB40497384}"/>
              </a:ext>
            </a:extLst>
          </p:cNvPr>
          <p:cNvGrpSpPr/>
          <p:nvPr/>
        </p:nvGrpSpPr>
        <p:grpSpPr>
          <a:xfrm>
            <a:off x="4478713" y="2499491"/>
            <a:ext cx="1173656" cy="1003048"/>
            <a:chOff x="3398336" y="1399817"/>
            <a:chExt cx="1848221" cy="726304"/>
          </a:xfrm>
        </p:grpSpPr>
        <p:pic>
          <p:nvPicPr>
            <p:cNvPr id="16" name="Google Shape;204;p24">
              <a:extLst>
                <a:ext uri="{FF2B5EF4-FFF2-40B4-BE49-F238E27FC236}">
                  <a16:creationId xmlns:a16="http://schemas.microsoft.com/office/drawing/2014/main" id="{E4DC471C-3A6A-3DB7-39D6-28B24608BFF6}"/>
                </a:ext>
              </a:extLst>
            </p:cNvPr>
            <p:cNvPicPr preferRelativeResize="0"/>
            <p:nvPr/>
          </p:nvPicPr>
          <p:blipFill>
            <a:blip r:embed="rId7">
              <a:alphaModFix/>
            </a:blip>
            <a:stretch>
              <a:fillRect/>
            </a:stretch>
          </p:blipFill>
          <p:spPr>
            <a:xfrm>
              <a:off x="3398336" y="1399817"/>
              <a:ext cx="1848221" cy="726304"/>
            </a:xfrm>
            <a:prstGeom prst="rect">
              <a:avLst/>
            </a:prstGeom>
            <a:noFill/>
            <a:ln>
              <a:noFill/>
            </a:ln>
          </p:spPr>
        </p:pic>
        <p:sp>
          <p:nvSpPr>
            <p:cNvPr id="17" name="TextBox 16">
              <a:extLst>
                <a:ext uri="{FF2B5EF4-FFF2-40B4-BE49-F238E27FC236}">
                  <a16:creationId xmlns:a16="http://schemas.microsoft.com/office/drawing/2014/main" id="{9643D777-76D6-7825-DD19-CD1E2A737178}"/>
                </a:ext>
              </a:extLst>
            </p:cNvPr>
            <p:cNvSpPr txBox="1"/>
            <p:nvPr/>
          </p:nvSpPr>
          <p:spPr>
            <a:xfrm>
              <a:off x="3398336" y="1402719"/>
              <a:ext cx="1848220" cy="692497"/>
            </a:xfrm>
            <a:prstGeom prst="rect">
              <a:avLst/>
            </a:prstGeom>
            <a:noFill/>
          </p:spPr>
          <p:txBody>
            <a:bodyPr wrap="square">
              <a:spAutoFit/>
            </a:bodyPr>
            <a:lstStyle/>
            <a:p>
              <a:pPr marL="0" lvl="0" indent="0" algn="ctr" rtl="0">
                <a:spcBef>
                  <a:spcPts val="0"/>
                </a:spcBef>
                <a:spcAft>
                  <a:spcPts val="0"/>
                </a:spcAft>
                <a:buNone/>
              </a:pPr>
              <a:r>
                <a:rPr lang="en-US" sz="1300" b="1" dirty="0"/>
                <a:t>GOAL #2</a:t>
              </a:r>
            </a:p>
            <a:p>
              <a:pPr marL="0" lvl="0" indent="0" algn="ctr" rtl="0">
                <a:spcBef>
                  <a:spcPts val="0"/>
                </a:spcBef>
                <a:spcAft>
                  <a:spcPts val="0"/>
                </a:spcAft>
                <a:buNone/>
              </a:pPr>
              <a:r>
                <a:rPr lang="en-US" sz="1300" dirty="0"/>
                <a:t>Standardized Management of  POUR</a:t>
              </a:r>
            </a:p>
          </p:txBody>
        </p:sp>
      </p:grpSp>
      <p:grpSp>
        <p:nvGrpSpPr>
          <p:cNvPr id="18" name="Group 17">
            <a:extLst>
              <a:ext uri="{FF2B5EF4-FFF2-40B4-BE49-F238E27FC236}">
                <a16:creationId xmlns:a16="http://schemas.microsoft.com/office/drawing/2014/main" id="{B5E3D50E-44AE-B4E2-3DDF-32432B0DB8D4}"/>
              </a:ext>
            </a:extLst>
          </p:cNvPr>
          <p:cNvGrpSpPr/>
          <p:nvPr/>
        </p:nvGrpSpPr>
        <p:grpSpPr>
          <a:xfrm>
            <a:off x="4602340" y="3860696"/>
            <a:ext cx="932727" cy="1195061"/>
            <a:chOff x="3484415" y="2451291"/>
            <a:chExt cx="1236685" cy="852226"/>
          </a:xfrm>
        </p:grpSpPr>
        <p:pic>
          <p:nvPicPr>
            <p:cNvPr id="19" name="Google Shape;208;p24">
              <a:extLst>
                <a:ext uri="{FF2B5EF4-FFF2-40B4-BE49-F238E27FC236}">
                  <a16:creationId xmlns:a16="http://schemas.microsoft.com/office/drawing/2014/main" id="{9661BF55-94F2-06C3-F2FF-5796F76C781B}"/>
                </a:ext>
              </a:extLst>
            </p:cNvPr>
            <p:cNvPicPr preferRelativeResize="0"/>
            <p:nvPr/>
          </p:nvPicPr>
          <p:blipFill>
            <a:blip r:embed="rId7">
              <a:alphaModFix/>
            </a:blip>
            <a:stretch>
              <a:fillRect/>
            </a:stretch>
          </p:blipFill>
          <p:spPr>
            <a:xfrm>
              <a:off x="3484416" y="2451291"/>
              <a:ext cx="1236684" cy="852226"/>
            </a:xfrm>
            <a:prstGeom prst="rect">
              <a:avLst/>
            </a:prstGeom>
            <a:noFill/>
            <a:ln>
              <a:noFill/>
            </a:ln>
          </p:spPr>
        </p:pic>
        <p:sp>
          <p:nvSpPr>
            <p:cNvPr id="20" name="TextBox 19">
              <a:extLst>
                <a:ext uri="{FF2B5EF4-FFF2-40B4-BE49-F238E27FC236}">
                  <a16:creationId xmlns:a16="http://schemas.microsoft.com/office/drawing/2014/main" id="{BB6FC896-8041-7A7B-8BD2-AC93A32F3C8F}"/>
                </a:ext>
              </a:extLst>
            </p:cNvPr>
            <p:cNvSpPr txBox="1"/>
            <p:nvPr/>
          </p:nvSpPr>
          <p:spPr>
            <a:xfrm>
              <a:off x="3484415" y="2522206"/>
              <a:ext cx="1236684" cy="692497"/>
            </a:xfrm>
            <a:prstGeom prst="rect">
              <a:avLst/>
            </a:prstGeom>
            <a:noFill/>
          </p:spPr>
          <p:txBody>
            <a:bodyPr wrap="square">
              <a:spAutoFit/>
            </a:bodyPr>
            <a:lstStyle/>
            <a:p>
              <a:pPr marL="0" lvl="0" indent="0" algn="ctr" rtl="0">
                <a:spcBef>
                  <a:spcPts val="0"/>
                </a:spcBef>
                <a:spcAft>
                  <a:spcPts val="0"/>
                </a:spcAft>
                <a:buNone/>
              </a:pPr>
              <a:r>
                <a:rPr lang="en-US" sz="1300" b="1" dirty="0"/>
                <a:t>GOAL #3</a:t>
              </a:r>
            </a:p>
            <a:p>
              <a:pPr marL="0" lvl="0" indent="0" algn="ctr" rtl="0">
                <a:spcBef>
                  <a:spcPts val="0"/>
                </a:spcBef>
                <a:spcAft>
                  <a:spcPts val="0"/>
                </a:spcAft>
                <a:buNone/>
              </a:pPr>
              <a:r>
                <a:rPr lang="en-US" sz="1300" dirty="0"/>
                <a:t>Ensure Safer Insertion</a:t>
              </a:r>
            </a:p>
          </p:txBody>
        </p:sp>
      </p:grpSp>
    </p:spTree>
    <p:extLst>
      <p:ext uri="{BB962C8B-B14F-4D97-AF65-F5344CB8AC3E}">
        <p14:creationId xmlns:p14="http://schemas.microsoft.com/office/powerpoint/2010/main" val="30063965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27"/>
          <p:cNvSpPr txBox="1">
            <a:spLocks noGrp="1"/>
          </p:cNvSpPr>
          <p:nvPr>
            <p:ph type="title"/>
          </p:nvPr>
        </p:nvSpPr>
        <p:spPr>
          <a:xfrm>
            <a:off x="311700" y="1681836"/>
            <a:ext cx="8070300" cy="1133936"/>
          </a:xfrm>
          <a:prstGeom prst="rect">
            <a:avLst/>
          </a:prstGeom>
        </p:spPr>
        <p:txBody>
          <a:bodyPr spcFirstLastPara="1" wrap="square" lIns="91425" tIns="91425" rIns="91425" bIns="91425" anchor="t" anchorCtr="0">
            <a:noAutofit/>
          </a:bodyPr>
          <a:lstStyle/>
          <a:p>
            <a:pPr marL="0" lvl="0" indent="0" rtl="0">
              <a:spcBef>
                <a:spcPts val="0"/>
              </a:spcBef>
              <a:spcAft>
                <a:spcPts val="0"/>
              </a:spcAft>
              <a:buSzPts val="990"/>
              <a:buNone/>
            </a:pPr>
            <a:r>
              <a:rPr lang="en" sz="2500" b="1" dirty="0"/>
              <a:t>How we can reduce unnecessary catheter use, optimize catheter insertion safety and improve the patient experience?</a:t>
            </a:r>
            <a:endParaRPr sz="2500" b="1"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28"/>
          <p:cNvSpPr txBox="1">
            <a:spLocks noGrp="1"/>
          </p:cNvSpPr>
          <p:nvPr>
            <p:ph type="title"/>
          </p:nvPr>
        </p:nvSpPr>
        <p:spPr>
          <a:xfrm>
            <a:off x="146125" y="445025"/>
            <a:ext cx="86862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dirty="0"/>
              <a:t>Strategies to enhance catheter appropriateness and safety:</a:t>
            </a:r>
            <a:endParaRPr dirty="0"/>
          </a:p>
          <a:p>
            <a:pPr marL="0" lvl="0" indent="0" algn="l" rtl="0">
              <a:spcBef>
                <a:spcPts val="0"/>
              </a:spcBef>
              <a:spcAft>
                <a:spcPts val="0"/>
              </a:spcAft>
              <a:buNone/>
            </a:pPr>
            <a:endParaRPr dirty="0"/>
          </a:p>
        </p:txBody>
      </p:sp>
      <p:sp>
        <p:nvSpPr>
          <p:cNvPr id="233" name="Google Shape;233;p28"/>
          <p:cNvSpPr txBox="1">
            <a:spLocks noGrp="1"/>
          </p:cNvSpPr>
          <p:nvPr>
            <p:ph type="body" idx="1"/>
          </p:nvPr>
        </p:nvSpPr>
        <p:spPr>
          <a:xfrm>
            <a:off x="350675" y="1240150"/>
            <a:ext cx="2411700" cy="3646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500" b="1" dirty="0">
                <a:solidFill>
                  <a:schemeClr val="accent2"/>
                </a:solidFill>
              </a:rPr>
              <a:t>Goal #1 </a:t>
            </a:r>
            <a:endParaRPr sz="1500" b="1" dirty="0">
              <a:solidFill>
                <a:schemeClr val="accent2"/>
              </a:solidFill>
            </a:endParaRPr>
          </a:p>
          <a:p>
            <a:pPr marL="0" lvl="0" indent="0" algn="l" rtl="0">
              <a:spcBef>
                <a:spcPts val="1200"/>
              </a:spcBef>
              <a:spcAft>
                <a:spcPts val="0"/>
              </a:spcAft>
              <a:buNone/>
            </a:pPr>
            <a:r>
              <a:rPr lang="en" sz="1500" b="1" dirty="0">
                <a:solidFill>
                  <a:schemeClr val="accent2"/>
                </a:solidFill>
              </a:rPr>
              <a:t>Avoid unnecessary catheterization </a:t>
            </a:r>
            <a:endParaRPr sz="1500" b="1" dirty="0">
              <a:solidFill>
                <a:schemeClr val="accent2"/>
              </a:solidFill>
            </a:endParaRPr>
          </a:p>
          <a:p>
            <a:pPr marL="327025" lvl="0" indent="-171450" algn="l" rtl="0">
              <a:lnSpc>
                <a:spcPct val="150000"/>
              </a:lnSpc>
              <a:spcBef>
                <a:spcPts val="1200"/>
              </a:spcBef>
              <a:spcAft>
                <a:spcPts val="0"/>
              </a:spcAft>
              <a:buClr>
                <a:schemeClr val="dk1"/>
              </a:buClr>
              <a:buSzPts val="1150"/>
              <a:buFont typeface="Arial" panose="020B0604020202020204" pitchFamily="34" charset="0"/>
              <a:buChar char="•"/>
            </a:pPr>
            <a:r>
              <a:rPr lang="en" dirty="0">
                <a:solidFill>
                  <a:schemeClr val="dk1"/>
                </a:solidFill>
              </a:rPr>
              <a:t>Decrease use of unnecessary catheters during surgery</a:t>
            </a:r>
            <a:endParaRPr dirty="0">
              <a:solidFill>
                <a:schemeClr val="dk1"/>
              </a:solidFill>
            </a:endParaRPr>
          </a:p>
          <a:p>
            <a:pPr marL="457200" lvl="0" indent="0" algn="l" rtl="0">
              <a:lnSpc>
                <a:spcPct val="150000"/>
              </a:lnSpc>
              <a:spcBef>
                <a:spcPts val="1200"/>
              </a:spcBef>
              <a:spcAft>
                <a:spcPts val="0"/>
              </a:spcAft>
              <a:buNone/>
            </a:pPr>
            <a:endParaRPr sz="1004" dirty="0">
              <a:solidFill>
                <a:schemeClr val="dk1"/>
              </a:solidFill>
            </a:endParaRPr>
          </a:p>
          <a:p>
            <a:pPr marL="0" lvl="0" indent="0" algn="l" rtl="0">
              <a:spcBef>
                <a:spcPts val="1200"/>
              </a:spcBef>
              <a:spcAft>
                <a:spcPts val="0"/>
              </a:spcAft>
              <a:buNone/>
            </a:pPr>
            <a:endParaRPr dirty="0"/>
          </a:p>
          <a:p>
            <a:pPr marL="0" lvl="0" indent="0" algn="l" rtl="0">
              <a:spcBef>
                <a:spcPts val="1200"/>
              </a:spcBef>
              <a:spcAft>
                <a:spcPts val="1200"/>
              </a:spcAft>
              <a:buNone/>
            </a:pPr>
            <a:endParaRPr dirty="0"/>
          </a:p>
        </p:txBody>
      </p:sp>
      <p:sp>
        <p:nvSpPr>
          <p:cNvPr id="234" name="Google Shape;234;p28"/>
          <p:cNvSpPr txBox="1">
            <a:spLocks noGrp="1"/>
          </p:cNvSpPr>
          <p:nvPr>
            <p:ph type="body" idx="2"/>
          </p:nvPr>
        </p:nvSpPr>
        <p:spPr>
          <a:xfrm>
            <a:off x="5918470" y="1240150"/>
            <a:ext cx="27285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500" b="1" dirty="0">
                <a:solidFill>
                  <a:schemeClr val="accent2"/>
                </a:solidFill>
              </a:rPr>
              <a:t>Goal #3 </a:t>
            </a:r>
            <a:endParaRPr sz="1500" b="1" dirty="0">
              <a:solidFill>
                <a:schemeClr val="accent2"/>
              </a:solidFill>
            </a:endParaRPr>
          </a:p>
          <a:p>
            <a:pPr marL="0" lvl="0" indent="0" algn="l" rtl="0">
              <a:spcBef>
                <a:spcPts val="1200"/>
              </a:spcBef>
              <a:spcAft>
                <a:spcPts val="0"/>
              </a:spcAft>
              <a:buNone/>
            </a:pPr>
            <a:r>
              <a:rPr lang="en" sz="1500" b="1" dirty="0">
                <a:solidFill>
                  <a:schemeClr val="accent2"/>
                </a:solidFill>
              </a:rPr>
              <a:t>Ensure safer insertion</a:t>
            </a:r>
            <a:endParaRPr sz="1500" b="1" dirty="0">
              <a:solidFill>
                <a:schemeClr val="accent2"/>
              </a:solidFill>
            </a:endParaRPr>
          </a:p>
          <a:p>
            <a:pPr marL="330200" lvl="0" indent="-171450" algn="l" rtl="0">
              <a:lnSpc>
                <a:spcPct val="150000"/>
              </a:lnSpc>
              <a:spcBef>
                <a:spcPts val="1200"/>
              </a:spcBef>
              <a:spcAft>
                <a:spcPts val="0"/>
              </a:spcAft>
              <a:buClr>
                <a:schemeClr val="dk1"/>
              </a:buClr>
              <a:buSzPts val="1100"/>
              <a:buFont typeface="Arial" panose="020B0604020202020204" pitchFamily="34" charset="0"/>
              <a:buChar char="•"/>
            </a:pPr>
            <a:r>
              <a:rPr lang="en" dirty="0">
                <a:solidFill>
                  <a:schemeClr val="dk1"/>
                </a:solidFill>
              </a:rPr>
              <a:t>Increase refresher and new employee training for safer catheter insertion</a:t>
            </a:r>
            <a:endParaRPr dirty="0">
              <a:solidFill>
                <a:schemeClr val="dk1"/>
              </a:solidFill>
            </a:endParaRPr>
          </a:p>
          <a:p>
            <a:pPr marL="330200" lvl="0" indent="-171450" algn="l" rtl="0">
              <a:lnSpc>
                <a:spcPct val="150000"/>
              </a:lnSpc>
              <a:spcBef>
                <a:spcPts val="0"/>
              </a:spcBef>
              <a:spcAft>
                <a:spcPts val="0"/>
              </a:spcAft>
              <a:buClr>
                <a:schemeClr val="dk1"/>
              </a:buClr>
              <a:buSzPts val="1100"/>
              <a:buFont typeface="Arial" panose="020B0604020202020204" pitchFamily="34" charset="0"/>
              <a:buChar char="•"/>
            </a:pPr>
            <a:r>
              <a:rPr lang="en" dirty="0">
                <a:solidFill>
                  <a:schemeClr val="dk1"/>
                </a:solidFill>
              </a:rPr>
              <a:t>Ensure necessary equipment and resources (Difficult Catheter Care kit) </a:t>
            </a:r>
            <a:endParaRPr dirty="0">
              <a:solidFill>
                <a:schemeClr val="dk1"/>
              </a:solidFill>
            </a:endParaRPr>
          </a:p>
          <a:p>
            <a:pPr marL="457200" lvl="0" indent="0" algn="l" rtl="0">
              <a:lnSpc>
                <a:spcPct val="150000"/>
              </a:lnSpc>
              <a:spcBef>
                <a:spcPts val="1200"/>
              </a:spcBef>
              <a:spcAft>
                <a:spcPts val="0"/>
              </a:spcAft>
              <a:buNone/>
            </a:pPr>
            <a:endParaRPr sz="1100" dirty="0">
              <a:solidFill>
                <a:schemeClr val="dk1"/>
              </a:solidFill>
            </a:endParaRPr>
          </a:p>
          <a:p>
            <a:pPr marL="0" lvl="0" indent="0" algn="l" rtl="0">
              <a:spcBef>
                <a:spcPts val="1200"/>
              </a:spcBef>
              <a:spcAft>
                <a:spcPts val="1200"/>
              </a:spcAft>
              <a:buNone/>
            </a:pPr>
            <a:endParaRPr sz="1100" dirty="0"/>
          </a:p>
        </p:txBody>
      </p:sp>
      <p:sp>
        <p:nvSpPr>
          <p:cNvPr id="237" name="Google Shape;237;p28"/>
          <p:cNvSpPr txBox="1">
            <a:spLocks noGrp="1"/>
          </p:cNvSpPr>
          <p:nvPr>
            <p:ph type="body" idx="4294967295"/>
          </p:nvPr>
        </p:nvSpPr>
        <p:spPr>
          <a:xfrm>
            <a:off x="2922206" y="1239329"/>
            <a:ext cx="2728913" cy="3416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500" b="1" dirty="0">
                <a:solidFill>
                  <a:schemeClr val="accent2"/>
                </a:solidFill>
              </a:rPr>
              <a:t>Goal #2 </a:t>
            </a:r>
            <a:endParaRPr sz="1500" b="1" dirty="0">
              <a:solidFill>
                <a:schemeClr val="accent2"/>
              </a:solidFill>
            </a:endParaRPr>
          </a:p>
          <a:p>
            <a:pPr marL="0" lvl="0" indent="0" algn="l" rtl="0">
              <a:spcBef>
                <a:spcPts val="1200"/>
              </a:spcBef>
              <a:spcAft>
                <a:spcPts val="0"/>
              </a:spcAft>
              <a:buNone/>
            </a:pPr>
            <a:r>
              <a:rPr lang="en" sz="1500" b="1" dirty="0">
                <a:solidFill>
                  <a:schemeClr val="accent2"/>
                </a:solidFill>
              </a:rPr>
              <a:t>Standardize management of POUR</a:t>
            </a:r>
            <a:endParaRPr sz="1500" b="1" dirty="0">
              <a:solidFill>
                <a:schemeClr val="accent2"/>
              </a:solidFill>
            </a:endParaRPr>
          </a:p>
          <a:p>
            <a:pPr marL="330200" lvl="0" indent="-171450" algn="l" rtl="0">
              <a:lnSpc>
                <a:spcPct val="150000"/>
              </a:lnSpc>
              <a:spcBef>
                <a:spcPts val="1200"/>
              </a:spcBef>
              <a:spcAft>
                <a:spcPts val="0"/>
              </a:spcAft>
              <a:buClr>
                <a:schemeClr val="dk1"/>
              </a:buClr>
              <a:buSzPts val="1100"/>
              <a:buFont typeface="Arial" panose="020B0604020202020204" pitchFamily="34" charset="0"/>
              <a:buChar char="•"/>
            </a:pPr>
            <a:r>
              <a:rPr lang="en" sz="1400" dirty="0">
                <a:solidFill>
                  <a:schemeClr val="dk1"/>
                </a:solidFill>
              </a:rPr>
              <a:t>Implement standardized management of POUR </a:t>
            </a:r>
            <a:endParaRPr sz="1400" dirty="0">
              <a:solidFill>
                <a:schemeClr val="dk1"/>
              </a:solidFill>
            </a:endParaRPr>
          </a:p>
          <a:p>
            <a:pPr marL="330200" lvl="0" indent="-171450" algn="l" rtl="0">
              <a:lnSpc>
                <a:spcPct val="150000"/>
              </a:lnSpc>
              <a:spcBef>
                <a:spcPts val="0"/>
              </a:spcBef>
              <a:spcAft>
                <a:spcPts val="0"/>
              </a:spcAft>
              <a:buClr>
                <a:schemeClr val="dk1"/>
              </a:buClr>
              <a:buSzPts val="1100"/>
              <a:buFont typeface="Arial" panose="020B0604020202020204" pitchFamily="34" charset="0"/>
              <a:buChar char="•"/>
            </a:pPr>
            <a:r>
              <a:rPr lang="en" sz="1400" dirty="0">
                <a:solidFill>
                  <a:schemeClr val="dk1"/>
                </a:solidFill>
              </a:rPr>
              <a:t>Ensure necessary equipment and resources (Scanners, Coude) </a:t>
            </a:r>
            <a:endParaRPr sz="1400" dirty="0">
              <a:solidFill>
                <a:schemeClr val="dk1"/>
              </a:solidFill>
            </a:endParaRPr>
          </a:p>
          <a:p>
            <a:pPr marL="457200" lvl="0" indent="0" algn="l" rtl="0">
              <a:lnSpc>
                <a:spcPct val="150000"/>
              </a:lnSpc>
              <a:spcBef>
                <a:spcPts val="1200"/>
              </a:spcBef>
              <a:spcAft>
                <a:spcPts val="0"/>
              </a:spcAft>
              <a:buNone/>
            </a:pPr>
            <a:endParaRPr sz="1900" dirty="0">
              <a:solidFill>
                <a:schemeClr val="dk1"/>
              </a:solidFill>
            </a:endParaRPr>
          </a:p>
          <a:p>
            <a:pPr marL="0" lvl="0" indent="0" algn="l" rtl="0">
              <a:spcBef>
                <a:spcPts val="1200"/>
              </a:spcBef>
              <a:spcAft>
                <a:spcPts val="1200"/>
              </a:spcAft>
              <a:buNone/>
            </a:pPr>
            <a:endParaRPr dirty="0"/>
          </a:p>
        </p:txBody>
      </p:sp>
      <p:sp>
        <p:nvSpPr>
          <p:cNvPr id="238" name="Google Shape;238;p28"/>
          <p:cNvSpPr txBox="1"/>
          <p:nvPr/>
        </p:nvSpPr>
        <p:spPr>
          <a:xfrm>
            <a:off x="838068" y="4213757"/>
            <a:ext cx="6429828" cy="507801"/>
          </a:xfrm>
          <a:prstGeom prst="rect">
            <a:avLst/>
          </a:prstGeom>
          <a:noFill/>
          <a:ln>
            <a:noFill/>
          </a:ln>
        </p:spPr>
        <p:txBody>
          <a:bodyPr spcFirstLastPara="1" wrap="square" lIns="91425" tIns="91425" rIns="91425" bIns="91425" anchor="t" anchorCtr="0">
            <a:spAutoFit/>
          </a:bodyPr>
          <a:lstStyle/>
          <a:p>
            <a:pPr marL="457200" lvl="0" indent="0" algn="ctr" rtl="0">
              <a:lnSpc>
                <a:spcPct val="150000"/>
              </a:lnSpc>
              <a:spcBef>
                <a:spcPts val="0"/>
              </a:spcBef>
              <a:spcAft>
                <a:spcPts val="0"/>
              </a:spcAft>
              <a:buNone/>
            </a:pPr>
            <a:r>
              <a:rPr lang="en" sz="1400" b="1" dirty="0">
                <a:solidFill>
                  <a:schemeClr val="dk1"/>
                </a:solidFill>
              </a:rPr>
              <a:t>Collect, analyze and report measures routinely</a:t>
            </a:r>
            <a:endParaRPr sz="1400" b="1" dirty="0">
              <a:solidFill>
                <a:schemeClr val="dk1"/>
              </a:solidFill>
            </a:endParaRPr>
          </a:p>
        </p:txBody>
      </p:sp>
      <p:cxnSp>
        <p:nvCxnSpPr>
          <p:cNvPr id="2" name="Google Shape;163;p23">
            <a:extLst>
              <a:ext uri="{FF2B5EF4-FFF2-40B4-BE49-F238E27FC236}">
                <a16:creationId xmlns:a16="http://schemas.microsoft.com/office/drawing/2014/main" id="{8EC2ECA1-DDFC-4B82-7122-9F7A6F3E1C9C}"/>
              </a:ext>
            </a:extLst>
          </p:cNvPr>
          <p:cNvCxnSpPr/>
          <p:nvPr/>
        </p:nvCxnSpPr>
        <p:spPr>
          <a:xfrm>
            <a:off x="2750849" y="1017725"/>
            <a:ext cx="0" cy="3322200"/>
          </a:xfrm>
          <a:prstGeom prst="straightConnector1">
            <a:avLst/>
          </a:prstGeom>
          <a:noFill/>
          <a:ln w="12700" cap="flat" cmpd="sng">
            <a:solidFill>
              <a:schemeClr val="dk2"/>
            </a:solidFill>
            <a:prstDash val="solid"/>
            <a:round/>
            <a:headEnd type="none" w="med" len="med"/>
            <a:tailEnd type="none" w="med" len="med"/>
          </a:ln>
        </p:spPr>
      </p:cxnSp>
      <p:cxnSp>
        <p:nvCxnSpPr>
          <p:cNvPr id="3" name="Google Shape;163;p23">
            <a:extLst>
              <a:ext uri="{FF2B5EF4-FFF2-40B4-BE49-F238E27FC236}">
                <a16:creationId xmlns:a16="http://schemas.microsoft.com/office/drawing/2014/main" id="{914C5191-4BF0-903B-EE24-B11EBCB0F821}"/>
              </a:ext>
            </a:extLst>
          </p:cNvPr>
          <p:cNvCxnSpPr/>
          <p:nvPr/>
        </p:nvCxnSpPr>
        <p:spPr>
          <a:xfrm>
            <a:off x="5785480" y="1017725"/>
            <a:ext cx="0" cy="3322200"/>
          </a:xfrm>
          <a:prstGeom prst="straightConnector1">
            <a:avLst/>
          </a:prstGeom>
          <a:noFill/>
          <a:ln w="12700" cap="flat" cmpd="sng">
            <a:solidFill>
              <a:schemeClr val="dk2"/>
            </a:solidFill>
            <a:prstDash val="solid"/>
            <a:round/>
            <a:headEnd type="none" w="med" len="med"/>
            <a:tailEnd type="none" w="med" len="med"/>
          </a:ln>
        </p:spPr>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29"/>
          <p:cNvSpPr txBox="1">
            <a:spLocks noGrp="1"/>
          </p:cNvSpPr>
          <p:nvPr>
            <p:ph type="title"/>
          </p:nvPr>
        </p:nvSpPr>
        <p:spPr>
          <a:xfrm>
            <a:off x="386080" y="311575"/>
            <a:ext cx="7327881"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dirty="0"/>
              <a:t>MSQC SUCCESS Key Toolkit Components</a:t>
            </a:r>
            <a:endParaRPr dirty="0"/>
          </a:p>
        </p:txBody>
      </p:sp>
      <p:sp>
        <p:nvSpPr>
          <p:cNvPr id="244" name="Google Shape;244;p29"/>
          <p:cNvSpPr txBox="1">
            <a:spLocks noGrp="1"/>
          </p:cNvSpPr>
          <p:nvPr>
            <p:ph type="body" idx="1"/>
          </p:nvPr>
        </p:nvSpPr>
        <p:spPr>
          <a:xfrm>
            <a:off x="1663718" y="1066799"/>
            <a:ext cx="7480282" cy="3765125"/>
          </a:xfrm>
          <a:prstGeom prst="rect">
            <a:avLst/>
          </a:prstGeom>
        </p:spPr>
        <p:txBody>
          <a:bodyPr spcFirstLastPara="1" wrap="square" lIns="91425" tIns="91425" rIns="91425" bIns="91425" numCol="2" anchor="t" anchorCtr="0">
            <a:normAutofit/>
          </a:bodyPr>
          <a:lstStyle/>
          <a:p>
            <a:pPr marL="285750" indent="-285750">
              <a:spcBef>
                <a:spcPts val="600"/>
              </a:spcBef>
              <a:spcAft>
                <a:spcPts val="600"/>
              </a:spcAft>
              <a:buFont typeface="Wingdings" pitchFamily="2" charset="2"/>
              <a:buChar char="ü"/>
            </a:pPr>
            <a:r>
              <a:rPr lang="en-US" sz="1500" dirty="0"/>
              <a:t>Perioperative Urinary Catheter Use Guide (MAP Poster)</a:t>
            </a:r>
          </a:p>
          <a:p>
            <a:pPr marL="285750" indent="-285750">
              <a:spcBef>
                <a:spcPts val="600"/>
              </a:spcBef>
              <a:spcAft>
                <a:spcPts val="600"/>
              </a:spcAft>
              <a:buFont typeface="Wingdings" pitchFamily="2" charset="2"/>
              <a:buChar char="ü"/>
            </a:pPr>
            <a:endParaRPr lang="en-US" sz="1500" dirty="0"/>
          </a:p>
          <a:p>
            <a:pPr marL="285750" indent="-285750">
              <a:spcBef>
                <a:spcPts val="600"/>
              </a:spcBef>
              <a:spcAft>
                <a:spcPts val="600"/>
              </a:spcAft>
              <a:buFont typeface="Wingdings" pitchFamily="2" charset="2"/>
              <a:buChar char="ü"/>
            </a:pPr>
            <a:r>
              <a:rPr lang="en-US" sz="1500" dirty="0"/>
              <a:t>Urinary Retention and Safe Catheter Insertion Algorithm</a:t>
            </a:r>
          </a:p>
          <a:p>
            <a:pPr marL="285750" indent="-285750">
              <a:spcBef>
                <a:spcPts val="600"/>
              </a:spcBef>
              <a:spcAft>
                <a:spcPts val="600"/>
              </a:spcAft>
              <a:buFont typeface="Wingdings" pitchFamily="2" charset="2"/>
              <a:buChar char="ü"/>
            </a:pPr>
            <a:r>
              <a:rPr lang="en-US" sz="1500" dirty="0"/>
              <a:t>Algorithm for Voiding Trials </a:t>
            </a:r>
            <a:r>
              <a:rPr lang="en-US" sz="1500" dirty="0">
                <a:solidFill>
                  <a:srgbClr val="FF0000"/>
                </a:solidFill>
              </a:rPr>
              <a:t>– NEW!</a:t>
            </a:r>
          </a:p>
          <a:p>
            <a:pPr marL="0" indent="0">
              <a:spcBef>
                <a:spcPts val="600"/>
              </a:spcBef>
              <a:spcAft>
                <a:spcPts val="600"/>
              </a:spcAft>
              <a:buNone/>
            </a:pPr>
            <a:endParaRPr lang="en-US" sz="1500" dirty="0"/>
          </a:p>
          <a:p>
            <a:pPr marL="285750" indent="-285750">
              <a:spcBef>
                <a:spcPts val="600"/>
              </a:spcBef>
              <a:spcAft>
                <a:spcPts val="600"/>
              </a:spcAft>
              <a:buFont typeface="Wingdings" pitchFamily="2" charset="2"/>
              <a:buChar char="ü"/>
            </a:pPr>
            <a:r>
              <a:rPr lang="en-US" sz="1500" dirty="0"/>
              <a:t>10 Practical Tips for Safe Urinary Catheter Insertion Booklet</a:t>
            </a:r>
          </a:p>
          <a:p>
            <a:pPr marL="285750" indent="-285750">
              <a:spcBef>
                <a:spcPts val="600"/>
              </a:spcBef>
              <a:spcAft>
                <a:spcPts val="600"/>
              </a:spcAft>
              <a:buFont typeface="Wingdings" pitchFamily="2" charset="2"/>
              <a:buChar char="ü"/>
            </a:pPr>
            <a:r>
              <a:rPr lang="en-US" sz="1500" dirty="0" err="1"/>
              <a:t>Coude</a:t>
            </a:r>
            <a:r>
              <a:rPr lang="en-US" sz="1500" dirty="0"/>
              <a:t> Catheter insertion Video</a:t>
            </a:r>
          </a:p>
          <a:p>
            <a:pPr marL="0" indent="0">
              <a:spcBef>
                <a:spcPts val="600"/>
              </a:spcBef>
              <a:spcAft>
                <a:spcPts val="600"/>
              </a:spcAft>
              <a:buNone/>
            </a:pPr>
            <a:r>
              <a:rPr lang="en-US" sz="1500" b="1" dirty="0">
                <a:solidFill>
                  <a:schemeClr val="accent1"/>
                </a:solidFill>
              </a:rPr>
              <a:t>    Visit the SUCCESS webpage to</a:t>
            </a:r>
          </a:p>
          <a:p>
            <a:pPr marL="0" indent="0">
              <a:spcBef>
                <a:spcPts val="600"/>
              </a:spcBef>
              <a:spcAft>
                <a:spcPts val="600"/>
              </a:spcAft>
              <a:buNone/>
            </a:pPr>
            <a:r>
              <a:rPr lang="en-US" sz="1500" b="1" dirty="0">
                <a:solidFill>
                  <a:schemeClr val="accent1"/>
                </a:solidFill>
              </a:rPr>
              <a:t>    view the full SUCCESS toolkit!</a:t>
            </a:r>
          </a:p>
        </p:txBody>
      </p:sp>
      <p:pic>
        <p:nvPicPr>
          <p:cNvPr id="3" name="Picture 2" descr="A qr code with a white background&#10;&#10;Description automatically generated">
            <a:extLst>
              <a:ext uri="{FF2B5EF4-FFF2-40B4-BE49-F238E27FC236}">
                <a16:creationId xmlns:a16="http://schemas.microsoft.com/office/drawing/2014/main" id="{8C9D0DB7-2477-F769-8B8A-857B11F628B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730238" y="1949695"/>
            <a:ext cx="2495160" cy="2495160"/>
          </a:xfrm>
          <a:prstGeom prst="rect">
            <a:avLst/>
          </a:prstGeom>
        </p:spPr>
      </p:pic>
      <p:grpSp>
        <p:nvGrpSpPr>
          <p:cNvPr id="2" name="Group 1">
            <a:extLst>
              <a:ext uri="{FF2B5EF4-FFF2-40B4-BE49-F238E27FC236}">
                <a16:creationId xmlns:a16="http://schemas.microsoft.com/office/drawing/2014/main" id="{6BC1A319-92E0-E5B5-44DE-CACC0A1B0EC7}"/>
              </a:ext>
            </a:extLst>
          </p:cNvPr>
          <p:cNvGrpSpPr/>
          <p:nvPr/>
        </p:nvGrpSpPr>
        <p:grpSpPr>
          <a:xfrm>
            <a:off x="193038" y="990646"/>
            <a:ext cx="1390275" cy="940644"/>
            <a:chOff x="3518059" y="250319"/>
            <a:chExt cx="1659529" cy="709912"/>
          </a:xfrm>
        </p:grpSpPr>
        <p:pic>
          <p:nvPicPr>
            <p:cNvPr id="4" name="Google Shape;201;p24">
              <a:extLst>
                <a:ext uri="{FF2B5EF4-FFF2-40B4-BE49-F238E27FC236}">
                  <a16:creationId xmlns:a16="http://schemas.microsoft.com/office/drawing/2014/main" id="{78619111-76F8-28B1-38EC-66BBA7FBB853}"/>
                </a:ext>
              </a:extLst>
            </p:cNvPr>
            <p:cNvPicPr preferRelativeResize="0"/>
            <p:nvPr/>
          </p:nvPicPr>
          <p:blipFill>
            <a:blip r:embed="rId4">
              <a:alphaModFix/>
            </a:blip>
            <a:stretch>
              <a:fillRect/>
            </a:stretch>
          </p:blipFill>
          <p:spPr>
            <a:xfrm>
              <a:off x="3525884" y="250319"/>
              <a:ext cx="1651704" cy="709912"/>
            </a:xfrm>
            <a:prstGeom prst="rect">
              <a:avLst/>
            </a:prstGeom>
            <a:noFill/>
            <a:ln>
              <a:noFill/>
            </a:ln>
          </p:spPr>
        </p:pic>
        <p:sp>
          <p:nvSpPr>
            <p:cNvPr id="5" name="TextBox 4">
              <a:extLst>
                <a:ext uri="{FF2B5EF4-FFF2-40B4-BE49-F238E27FC236}">
                  <a16:creationId xmlns:a16="http://schemas.microsoft.com/office/drawing/2014/main" id="{E5D61DE3-4243-4367-C13D-3C37CF5A247D}"/>
                </a:ext>
              </a:extLst>
            </p:cNvPr>
            <p:cNvSpPr txBox="1"/>
            <p:nvPr/>
          </p:nvSpPr>
          <p:spPr>
            <a:xfrm>
              <a:off x="3518059" y="260454"/>
              <a:ext cx="1651705" cy="692497"/>
            </a:xfrm>
            <a:prstGeom prst="rect">
              <a:avLst/>
            </a:prstGeom>
            <a:noFill/>
          </p:spPr>
          <p:txBody>
            <a:bodyPr wrap="square">
              <a:spAutoFit/>
            </a:bodyPr>
            <a:lstStyle/>
            <a:p>
              <a:pPr marL="0" lvl="0" indent="0" algn="ctr" rtl="0">
                <a:spcBef>
                  <a:spcPts val="0"/>
                </a:spcBef>
                <a:spcAft>
                  <a:spcPts val="0"/>
                </a:spcAft>
                <a:buNone/>
              </a:pPr>
              <a:r>
                <a:rPr lang="en-US" sz="1300" b="1" dirty="0"/>
                <a:t>GOAL #1</a:t>
              </a:r>
            </a:p>
            <a:p>
              <a:pPr marL="0" lvl="0" indent="0" algn="ctr" rtl="0">
                <a:spcBef>
                  <a:spcPts val="0"/>
                </a:spcBef>
                <a:spcAft>
                  <a:spcPts val="0"/>
                </a:spcAft>
                <a:buNone/>
              </a:pPr>
              <a:r>
                <a:rPr lang="en-US" sz="1300" dirty="0"/>
                <a:t>Avoid Unnecessary Catheterization</a:t>
              </a:r>
            </a:p>
          </p:txBody>
        </p:sp>
      </p:grpSp>
      <p:grpSp>
        <p:nvGrpSpPr>
          <p:cNvPr id="6" name="Group 5">
            <a:extLst>
              <a:ext uri="{FF2B5EF4-FFF2-40B4-BE49-F238E27FC236}">
                <a16:creationId xmlns:a16="http://schemas.microsoft.com/office/drawing/2014/main" id="{AA13880F-E9D7-8D55-E6D4-A874290E86F5}"/>
              </a:ext>
            </a:extLst>
          </p:cNvPr>
          <p:cNvGrpSpPr/>
          <p:nvPr/>
        </p:nvGrpSpPr>
        <p:grpSpPr>
          <a:xfrm>
            <a:off x="187433" y="2223682"/>
            <a:ext cx="1383719" cy="1003048"/>
            <a:chOff x="3398336" y="1399817"/>
            <a:chExt cx="1848221" cy="726304"/>
          </a:xfrm>
        </p:grpSpPr>
        <p:pic>
          <p:nvPicPr>
            <p:cNvPr id="7" name="Google Shape;204;p24">
              <a:extLst>
                <a:ext uri="{FF2B5EF4-FFF2-40B4-BE49-F238E27FC236}">
                  <a16:creationId xmlns:a16="http://schemas.microsoft.com/office/drawing/2014/main" id="{63A2B9DB-B366-4CAA-19C0-9DFE58770E2A}"/>
                </a:ext>
              </a:extLst>
            </p:cNvPr>
            <p:cNvPicPr preferRelativeResize="0"/>
            <p:nvPr/>
          </p:nvPicPr>
          <p:blipFill>
            <a:blip r:embed="rId4">
              <a:alphaModFix/>
            </a:blip>
            <a:stretch>
              <a:fillRect/>
            </a:stretch>
          </p:blipFill>
          <p:spPr>
            <a:xfrm>
              <a:off x="3398336" y="1399817"/>
              <a:ext cx="1848221" cy="726304"/>
            </a:xfrm>
            <a:prstGeom prst="rect">
              <a:avLst/>
            </a:prstGeom>
            <a:noFill/>
            <a:ln>
              <a:noFill/>
            </a:ln>
          </p:spPr>
        </p:pic>
        <p:sp>
          <p:nvSpPr>
            <p:cNvPr id="8" name="TextBox 7">
              <a:extLst>
                <a:ext uri="{FF2B5EF4-FFF2-40B4-BE49-F238E27FC236}">
                  <a16:creationId xmlns:a16="http://schemas.microsoft.com/office/drawing/2014/main" id="{00D75FDA-AEA0-A770-EC87-B33F60B0C254}"/>
                </a:ext>
              </a:extLst>
            </p:cNvPr>
            <p:cNvSpPr txBox="1"/>
            <p:nvPr/>
          </p:nvSpPr>
          <p:spPr>
            <a:xfrm>
              <a:off x="3398336" y="1402719"/>
              <a:ext cx="1848220" cy="692497"/>
            </a:xfrm>
            <a:prstGeom prst="rect">
              <a:avLst/>
            </a:prstGeom>
            <a:noFill/>
          </p:spPr>
          <p:txBody>
            <a:bodyPr wrap="square">
              <a:spAutoFit/>
            </a:bodyPr>
            <a:lstStyle/>
            <a:p>
              <a:pPr marL="0" lvl="0" indent="0" algn="ctr" rtl="0">
                <a:spcBef>
                  <a:spcPts val="0"/>
                </a:spcBef>
                <a:spcAft>
                  <a:spcPts val="0"/>
                </a:spcAft>
                <a:buNone/>
              </a:pPr>
              <a:r>
                <a:rPr lang="en-US" sz="1300" b="1" dirty="0"/>
                <a:t>GOAL #2</a:t>
              </a:r>
            </a:p>
            <a:p>
              <a:pPr marL="0" lvl="0" indent="0" algn="ctr" rtl="0">
                <a:spcBef>
                  <a:spcPts val="0"/>
                </a:spcBef>
                <a:spcAft>
                  <a:spcPts val="0"/>
                </a:spcAft>
                <a:buNone/>
              </a:pPr>
              <a:r>
                <a:rPr lang="en-US" sz="1300" dirty="0"/>
                <a:t>Standardized Management of  POUR</a:t>
              </a:r>
            </a:p>
          </p:txBody>
        </p:sp>
      </p:grpSp>
      <p:grpSp>
        <p:nvGrpSpPr>
          <p:cNvPr id="9" name="Group 8">
            <a:extLst>
              <a:ext uri="{FF2B5EF4-FFF2-40B4-BE49-F238E27FC236}">
                <a16:creationId xmlns:a16="http://schemas.microsoft.com/office/drawing/2014/main" id="{077B8401-8204-EABC-D0F3-2BCB93B9674C}"/>
              </a:ext>
            </a:extLst>
          </p:cNvPr>
          <p:cNvGrpSpPr/>
          <p:nvPr/>
        </p:nvGrpSpPr>
        <p:grpSpPr>
          <a:xfrm>
            <a:off x="193038" y="3585704"/>
            <a:ext cx="1383718" cy="828671"/>
            <a:chOff x="3484415" y="2451291"/>
            <a:chExt cx="1236685" cy="852226"/>
          </a:xfrm>
        </p:grpSpPr>
        <p:pic>
          <p:nvPicPr>
            <p:cNvPr id="10" name="Google Shape;208;p24">
              <a:extLst>
                <a:ext uri="{FF2B5EF4-FFF2-40B4-BE49-F238E27FC236}">
                  <a16:creationId xmlns:a16="http://schemas.microsoft.com/office/drawing/2014/main" id="{0CF071F5-695F-D3AE-B04F-9160DBE07F6F}"/>
                </a:ext>
              </a:extLst>
            </p:cNvPr>
            <p:cNvPicPr preferRelativeResize="0"/>
            <p:nvPr/>
          </p:nvPicPr>
          <p:blipFill>
            <a:blip r:embed="rId4">
              <a:alphaModFix/>
            </a:blip>
            <a:stretch>
              <a:fillRect/>
            </a:stretch>
          </p:blipFill>
          <p:spPr>
            <a:xfrm>
              <a:off x="3484416" y="2451291"/>
              <a:ext cx="1236684" cy="852226"/>
            </a:xfrm>
            <a:prstGeom prst="rect">
              <a:avLst/>
            </a:prstGeom>
            <a:noFill/>
            <a:ln>
              <a:noFill/>
            </a:ln>
          </p:spPr>
        </p:pic>
        <p:sp>
          <p:nvSpPr>
            <p:cNvPr id="11" name="TextBox 10">
              <a:extLst>
                <a:ext uri="{FF2B5EF4-FFF2-40B4-BE49-F238E27FC236}">
                  <a16:creationId xmlns:a16="http://schemas.microsoft.com/office/drawing/2014/main" id="{40E55E58-A04E-BB79-5A3E-3B719FD8D151}"/>
                </a:ext>
              </a:extLst>
            </p:cNvPr>
            <p:cNvSpPr txBox="1"/>
            <p:nvPr/>
          </p:nvSpPr>
          <p:spPr>
            <a:xfrm>
              <a:off x="3484415" y="2522206"/>
              <a:ext cx="1236684" cy="692497"/>
            </a:xfrm>
            <a:prstGeom prst="rect">
              <a:avLst/>
            </a:prstGeom>
            <a:noFill/>
          </p:spPr>
          <p:txBody>
            <a:bodyPr wrap="square">
              <a:spAutoFit/>
            </a:bodyPr>
            <a:lstStyle/>
            <a:p>
              <a:pPr marL="0" lvl="0" indent="0" algn="ctr" rtl="0">
                <a:spcBef>
                  <a:spcPts val="0"/>
                </a:spcBef>
                <a:spcAft>
                  <a:spcPts val="0"/>
                </a:spcAft>
                <a:buNone/>
              </a:pPr>
              <a:r>
                <a:rPr lang="en-US" sz="1300" b="1" dirty="0"/>
                <a:t>GOAL #3</a:t>
              </a:r>
            </a:p>
            <a:p>
              <a:pPr marL="0" lvl="0" indent="0" algn="ctr" rtl="0">
                <a:spcBef>
                  <a:spcPts val="0"/>
                </a:spcBef>
                <a:spcAft>
                  <a:spcPts val="0"/>
                </a:spcAft>
                <a:buNone/>
              </a:pPr>
              <a:r>
                <a:rPr lang="en-US" sz="1300" dirty="0"/>
                <a:t>Ensure Safer Insertion</a:t>
              </a: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7CC24-7C7B-AF05-DAAB-43824165907C}"/>
              </a:ext>
            </a:extLst>
          </p:cNvPr>
          <p:cNvSpPr>
            <a:spLocks noGrp="1"/>
          </p:cNvSpPr>
          <p:nvPr>
            <p:ph type="title"/>
          </p:nvPr>
        </p:nvSpPr>
        <p:spPr>
          <a:xfrm>
            <a:off x="0" y="92815"/>
            <a:ext cx="8944619" cy="663456"/>
          </a:xfrm>
        </p:spPr>
        <p:txBody>
          <a:bodyPr>
            <a:normAutofit/>
          </a:bodyPr>
          <a:lstStyle/>
          <a:p>
            <a:r>
              <a:rPr lang="en-US" sz="2800" dirty="0"/>
              <a:t>Perioperative Urinary Catheter Use Guide (MAP Poster)</a:t>
            </a:r>
            <a:endParaRPr lang="en-US" dirty="0"/>
          </a:p>
        </p:txBody>
      </p:sp>
      <p:pic>
        <p:nvPicPr>
          <p:cNvPr id="4" name="Picture 3">
            <a:extLst>
              <a:ext uri="{FF2B5EF4-FFF2-40B4-BE49-F238E27FC236}">
                <a16:creationId xmlns:a16="http://schemas.microsoft.com/office/drawing/2014/main" id="{7A6723F4-4C91-EF40-6256-A96E2C2A6ED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324418" y="560934"/>
            <a:ext cx="6046202" cy="4021632"/>
          </a:xfrm>
          <a:prstGeom prst="rect">
            <a:avLst/>
          </a:prstGeom>
        </p:spPr>
      </p:pic>
    </p:spTree>
    <p:extLst>
      <p:ext uri="{BB962C8B-B14F-4D97-AF65-F5344CB8AC3E}">
        <p14:creationId xmlns:p14="http://schemas.microsoft.com/office/powerpoint/2010/main" val="13552860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diagram of a medical procedure&#10;&#10;Description automatically generated">
            <a:extLst>
              <a:ext uri="{FF2B5EF4-FFF2-40B4-BE49-F238E27FC236}">
                <a16:creationId xmlns:a16="http://schemas.microsoft.com/office/drawing/2014/main" id="{48EA5E4C-6C86-E2B1-D4D7-FDA17352357D}"/>
              </a:ext>
            </a:extLst>
          </p:cNvPr>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4248867" y="103128"/>
            <a:ext cx="3565046" cy="4613736"/>
          </a:xfrm>
          <a:prstGeom prst="rect">
            <a:avLst/>
          </a:prstGeom>
        </p:spPr>
      </p:pic>
      <p:sp>
        <p:nvSpPr>
          <p:cNvPr id="2" name="Title 1">
            <a:extLst>
              <a:ext uri="{FF2B5EF4-FFF2-40B4-BE49-F238E27FC236}">
                <a16:creationId xmlns:a16="http://schemas.microsoft.com/office/drawing/2014/main" id="{41515B4F-264C-9849-A903-1E55A90CFDD6}"/>
              </a:ext>
            </a:extLst>
          </p:cNvPr>
          <p:cNvSpPr>
            <a:spLocks noGrp="1"/>
          </p:cNvSpPr>
          <p:nvPr>
            <p:ph type="title"/>
          </p:nvPr>
        </p:nvSpPr>
        <p:spPr>
          <a:xfrm>
            <a:off x="329248" y="1572942"/>
            <a:ext cx="3678988" cy="1674108"/>
          </a:xfrm>
        </p:spPr>
        <p:txBody>
          <a:bodyPr>
            <a:normAutofit/>
          </a:bodyPr>
          <a:lstStyle/>
          <a:p>
            <a:pPr algn="ctr"/>
            <a:r>
              <a:rPr lang="en-US" sz="2800" dirty="0"/>
              <a:t>Urinary Retention and Safe Catheter Insertion Algorithm</a:t>
            </a:r>
            <a:endParaRPr lang="en-US" dirty="0"/>
          </a:p>
        </p:txBody>
      </p:sp>
    </p:spTree>
    <p:extLst>
      <p:ext uri="{BB962C8B-B14F-4D97-AF65-F5344CB8AC3E}">
        <p14:creationId xmlns:p14="http://schemas.microsoft.com/office/powerpoint/2010/main" val="15755694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9BACB-38A2-8144-6DE2-18DF5641F2AA}"/>
              </a:ext>
            </a:extLst>
          </p:cNvPr>
          <p:cNvSpPr>
            <a:spLocks noGrp="1"/>
          </p:cNvSpPr>
          <p:nvPr>
            <p:ph type="title"/>
          </p:nvPr>
        </p:nvSpPr>
        <p:spPr>
          <a:xfrm>
            <a:off x="274246" y="1904283"/>
            <a:ext cx="3761489" cy="990600"/>
          </a:xfrm>
        </p:spPr>
        <p:txBody>
          <a:bodyPr>
            <a:normAutofit/>
          </a:bodyPr>
          <a:lstStyle/>
          <a:p>
            <a:pPr algn="ctr"/>
            <a:r>
              <a:rPr lang="en-US" sz="2800" dirty="0"/>
              <a:t>Algorithm for </a:t>
            </a:r>
            <a:br>
              <a:rPr lang="en-US" sz="2800" dirty="0"/>
            </a:br>
            <a:r>
              <a:rPr lang="en-US" sz="2800" dirty="0"/>
              <a:t>Voiding Trials</a:t>
            </a:r>
            <a:endParaRPr lang="en-US" dirty="0"/>
          </a:p>
        </p:txBody>
      </p:sp>
      <p:pic>
        <p:nvPicPr>
          <p:cNvPr id="5" name="Picture 4" descr="A diagram of a warning sign&#10;&#10;Description automatically generated with medium confidence">
            <a:extLst>
              <a:ext uri="{FF2B5EF4-FFF2-40B4-BE49-F238E27FC236}">
                <a16:creationId xmlns:a16="http://schemas.microsoft.com/office/drawing/2014/main" id="{24B17B20-4210-BA35-32D2-A98230E82F96}"/>
              </a:ext>
            </a:extLst>
          </p:cNvPr>
          <p:cNvPicPr>
            <a:picLocks noChangeAspect="1"/>
          </p:cNvPicPr>
          <p:nvPr/>
        </p:nvPicPr>
        <p:blipFill rotWithShape="1">
          <a:blip r:embed="rId2" cstate="hqprint">
            <a:extLst>
              <a:ext uri="{28A0092B-C50C-407E-A947-70E740481C1C}">
                <a14:useLocalDpi xmlns:a14="http://schemas.microsoft.com/office/drawing/2010/main"/>
              </a:ext>
            </a:extLst>
          </a:blip>
          <a:srcRect l="4628" t="2868" r="5752" b="1821"/>
          <a:stretch/>
        </p:blipFill>
        <p:spPr>
          <a:xfrm>
            <a:off x="4269491" y="116877"/>
            <a:ext cx="3320716" cy="4572000"/>
          </a:xfrm>
          <a:prstGeom prst="rect">
            <a:avLst/>
          </a:prstGeom>
        </p:spPr>
      </p:pic>
    </p:spTree>
    <p:extLst>
      <p:ext uri="{BB962C8B-B14F-4D97-AF65-F5344CB8AC3E}">
        <p14:creationId xmlns:p14="http://schemas.microsoft.com/office/powerpoint/2010/main" val="13804327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E2B88-04C2-5F3C-C647-B83C7C8B49D2}"/>
              </a:ext>
            </a:extLst>
          </p:cNvPr>
          <p:cNvSpPr>
            <a:spLocks noGrp="1"/>
          </p:cNvSpPr>
          <p:nvPr>
            <p:ph type="title"/>
          </p:nvPr>
        </p:nvSpPr>
        <p:spPr>
          <a:xfrm>
            <a:off x="453763" y="1803448"/>
            <a:ext cx="3856980" cy="1536604"/>
          </a:xfrm>
        </p:spPr>
        <p:txBody>
          <a:bodyPr>
            <a:normAutofit/>
          </a:bodyPr>
          <a:lstStyle/>
          <a:p>
            <a:pPr algn="ctr"/>
            <a:r>
              <a:rPr lang="en-US" sz="2800" dirty="0"/>
              <a:t>10 Practical Tips for Safe Urinary Catheter Insertion Booklet</a:t>
            </a:r>
            <a:endParaRPr lang="en-US" dirty="0"/>
          </a:p>
        </p:txBody>
      </p:sp>
      <p:pic>
        <p:nvPicPr>
          <p:cNvPr id="5" name="Picture 4" descr="A white cover with yellow text and yellow letters&#10;&#10;Description automatically generated">
            <a:extLst>
              <a:ext uri="{FF2B5EF4-FFF2-40B4-BE49-F238E27FC236}">
                <a16:creationId xmlns:a16="http://schemas.microsoft.com/office/drawing/2014/main" id="{84DA738B-6849-8A99-40CA-E3E875A7BAAB}"/>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b="6256"/>
          <a:stretch/>
        </p:blipFill>
        <p:spPr>
          <a:xfrm>
            <a:off x="4627002" y="76599"/>
            <a:ext cx="3190087" cy="4621659"/>
          </a:xfrm>
          <a:prstGeom prst="rect">
            <a:avLst/>
          </a:prstGeom>
        </p:spPr>
      </p:pic>
    </p:spTree>
    <p:extLst>
      <p:ext uri="{BB962C8B-B14F-4D97-AF65-F5344CB8AC3E}">
        <p14:creationId xmlns:p14="http://schemas.microsoft.com/office/powerpoint/2010/main" val="31931184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71EE1-956F-99BE-8563-52B7050CAC39}"/>
              </a:ext>
            </a:extLst>
          </p:cNvPr>
          <p:cNvSpPr>
            <a:spLocks noGrp="1"/>
          </p:cNvSpPr>
          <p:nvPr>
            <p:ph type="title"/>
          </p:nvPr>
        </p:nvSpPr>
        <p:spPr>
          <a:xfrm>
            <a:off x="324279" y="250943"/>
            <a:ext cx="6599035" cy="862836"/>
          </a:xfrm>
        </p:spPr>
        <p:txBody>
          <a:bodyPr/>
          <a:lstStyle/>
          <a:p>
            <a:r>
              <a:rPr lang="en-US" sz="2800" dirty="0" err="1"/>
              <a:t>Coude</a:t>
            </a:r>
            <a:r>
              <a:rPr lang="en-US" sz="2800" dirty="0"/>
              <a:t> Catheter insertion Video</a:t>
            </a:r>
            <a:endParaRPr lang="en-US" dirty="0"/>
          </a:p>
        </p:txBody>
      </p:sp>
      <p:pic>
        <p:nvPicPr>
          <p:cNvPr id="5" name="Picture 4" descr="A white board with black text&#10;&#10;Description automatically generated">
            <a:extLst>
              <a:ext uri="{FF2B5EF4-FFF2-40B4-BE49-F238E27FC236}">
                <a16:creationId xmlns:a16="http://schemas.microsoft.com/office/drawing/2014/main" id="{7AB8F958-9D9B-378B-7D41-12CC1214816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56271" y="745763"/>
            <a:ext cx="6995121" cy="3921674"/>
          </a:xfrm>
          <a:prstGeom prst="rect">
            <a:avLst/>
          </a:prstGeom>
        </p:spPr>
      </p:pic>
      <p:pic>
        <p:nvPicPr>
          <p:cNvPr id="4" name="Picture 3" descr="A qr code with a dinosaur&#10;&#10;Description automatically generated">
            <a:extLst>
              <a:ext uri="{FF2B5EF4-FFF2-40B4-BE49-F238E27FC236}">
                <a16:creationId xmlns:a16="http://schemas.microsoft.com/office/drawing/2014/main" id="{7B34FF33-F593-DDDA-BA21-472A2C84BEAF}"/>
              </a:ext>
            </a:extLst>
          </p:cNvPr>
          <p:cNvPicPr>
            <a:picLocks noChangeAspect="1"/>
          </p:cNvPicPr>
          <p:nvPr/>
        </p:nvPicPr>
        <p:blipFill>
          <a:blip r:embed="rId3"/>
          <a:stretch>
            <a:fillRect/>
          </a:stretch>
        </p:blipFill>
        <p:spPr>
          <a:xfrm>
            <a:off x="6297673" y="122797"/>
            <a:ext cx="1981964" cy="1981964"/>
          </a:xfrm>
          <a:prstGeom prst="rect">
            <a:avLst/>
          </a:prstGeom>
        </p:spPr>
      </p:pic>
    </p:spTree>
    <p:extLst>
      <p:ext uri="{BB962C8B-B14F-4D97-AF65-F5344CB8AC3E}">
        <p14:creationId xmlns:p14="http://schemas.microsoft.com/office/powerpoint/2010/main" val="2107206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32"/>
          <p:cNvSpPr txBox="1">
            <a:spLocks noGrp="1"/>
          </p:cNvSpPr>
          <p:nvPr>
            <p:ph type="title"/>
          </p:nvPr>
        </p:nvSpPr>
        <p:spPr>
          <a:xfrm>
            <a:off x="311700" y="2490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solidFill>
                  <a:schemeClr val="accent6">
                    <a:lumMod val="75000"/>
                  </a:schemeClr>
                </a:solidFill>
              </a:rPr>
              <a:t>Implementing the SUCCESS Project</a:t>
            </a:r>
            <a:endParaRPr dirty="0">
              <a:solidFill>
                <a:schemeClr val="accent6">
                  <a:lumMod val="75000"/>
                </a:schemeClr>
              </a:solidFill>
            </a:endParaRPr>
          </a:p>
        </p:txBody>
      </p:sp>
      <p:sp>
        <p:nvSpPr>
          <p:cNvPr id="295" name="Google Shape;295;p32"/>
          <p:cNvSpPr txBox="1">
            <a:spLocks noGrp="1"/>
          </p:cNvSpPr>
          <p:nvPr>
            <p:ph type="body" idx="1"/>
          </p:nvPr>
        </p:nvSpPr>
        <p:spPr>
          <a:xfrm>
            <a:off x="366701" y="1048896"/>
            <a:ext cx="8241300" cy="3045708"/>
          </a:xfrm>
          <a:prstGeom prst="rect">
            <a:avLst/>
          </a:prstGeom>
        </p:spPr>
        <p:txBody>
          <a:bodyPr spcFirstLastPara="1" wrap="square" lIns="91425" tIns="91425" rIns="91425" bIns="91425" anchor="t" anchorCtr="0">
            <a:noAutofit/>
          </a:bodyPr>
          <a:lstStyle/>
          <a:p>
            <a:pPr marL="0" lvl="0" indent="0" algn="l" rtl="0">
              <a:lnSpc>
                <a:spcPct val="150000"/>
              </a:lnSpc>
              <a:spcAft>
                <a:spcPts val="0"/>
              </a:spcAft>
              <a:buClr>
                <a:schemeClr val="dk1"/>
              </a:buClr>
              <a:buSzPts val="1100"/>
              <a:buFont typeface="Arial"/>
              <a:buNone/>
            </a:pPr>
            <a:r>
              <a:rPr lang="en-US" b="1" dirty="0">
                <a:solidFill>
                  <a:schemeClr val="accent2"/>
                </a:solidFill>
              </a:rPr>
              <a:t>Resources for your SUCCESS kick-off meeting:</a:t>
            </a:r>
          </a:p>
          <a:p>
            <a:pPr marL="285750" indent="-285750">
              <a:lnSpc>
                <a:spcPct val="150000"/>
              </a:lnSpc>
              <a:buClr>
                <a:schemeClr val="dk1"/>
              </a:buClr>
              <a:buSzPts val="1100"/>
              <a:buFont typeface="Arial" panose="020B0604020202020204" pitchFamily="34" charset="0"/>
              <a:buChar char="•"/>
            </a:pPr>
            <a:r>
              <a:rPr lang="en-US" dirty="0">
                <a:solidFill>
                  <a:srgbClr val="002D5E"/>
                </a:solidFill>
              </a:rPr>
              <a:t>Kick-off meeting agenda template</a:t>
            </a:r>
          </a:p>
          <a:p>
            <a:pPr marL="285750" indent="-285750">
              <a:lnSpc>
                <a:spcPct val="150000"/>
              </a:lnSpc>
              <a:buClr>
                <a:schemeClr val="dk1"/>
              </a:buClr>
              <a:buSzPts val="1100"/>
              <a:buFont typeface="Arial" panose="020B0604020202020204" pitchFamily="34" charset="0"/>
              <a:buChar char="•"/>
            </a:pPr>
            <a:r>
              <a:rPr lang="en-US" dirty="0">
                <a:solidFill>
                  <a:srgbClr val="002D5E"/>
                </a:solidFill>
              </a:rPr>
              <a:t>SUCCESS kick-off video</a:t>
            </a:r>
          </a:p>
          <a:p>
            <a:pPr marL="0" indent="0">
              <a:lnSpc>
                <a:spcPct val="150000"/>
              </a:lnSpc>
              <a:buClr>
                <a:schemeClr val="dk1"/>
              </a:buClr>
              <a:buSzPts val="1100"/>
              <a:buNone/>
            </a:pPr>
            <a:endParaRPr lang="en-US" b="1" dirty="0">
              <a:solidFill>
                <a:schemeClr val="accent2"/>
              </a:solidFill>
            </a:endParaRPr>
          </a:p>
          <a:p>
            <a:pPr marL="0" lvl="0" indent="0" algn="l" rtl="0">
              <a:lnSpc>
                <a:spcPct val="150000"/>
              </a:lnSpc>
              <a:spcAft>
                <a:spcPts val="0"/>
              </a:spcAft>
              <a:buClr>
                <a:schemeClr val="dk1"/>
              </a:buClr>
              <a:buSzPts val="1100"/>
              <a:buFont typeface="Arial"/>
              <a:buNone/>
            </a:pPr>
            <a:r>
              <a:rPr lang="en-US" b="1" dirty="0">
                <a:solidFill>
                  <a:schemeClr val="accent2"/>
                </a:solidFill>
              </a:rPr>
              <a:t>Other Implementation Resources:</a:t>
            </a:r>
          </a:p>
          <a:p>
            <a:pPr marL="285750" indent="-285750">
              <a:lnSpc>
                <a:spcPct val="150000"/>
              </a:lnSpc>
              <a:buClr>
                <a:schemeClr val="dk1"/>
              </a:buClr>
              <a:buSzPts val="1100"/>
              <a:buFont typeface="Arial" panose="020B0604020202020204" pitchFamily="34" charset="0"/>
              <a:buChar char="•"/>
            </a:pPr>
            <a:r>
              <a:rPr lang="en-US" dirty="0">
                <a:solidFill>
                  <a:srgbClr val="002D5E"/>
                </a:solidFill>
              </a:rPr>
              <a:t>One-pager SUCCESS flyer with QR codes and screenshots of the tools </a:t>
            </a:r>
          </a:p>
          <a:p>
            <a:pPr marL="285750" indent="-285750">
              <a:lnSpc>
                <a:spcPct val="150000"/>
              </a:lnSpc>
              <a:buClr>
                <a:schemeClr val="dk1"/>
              </a:buClr>
              <a:buSzPts val="1100"/>
              <a:buFont typeface="Arial" panose="020B0604020202020204" pitchFamily="34" charset="0"/>
              <a:buChar char="•"/>
            </a:pPr>
            <a:r>
              <a:rPr lang="en-US" dirty="0">
                <a:solidFill>
                  <a:srgbClr val="002D5E"/>
                </a:solidFill>
              </a:rPr>
              <a:t>Guide to Patient Safety (GPS) self-assessment tool </a:t>
            </a:r>
            <a:endParaRPr dirty="0">
              <a:solidFill>
                <a:srgbClr val="002D5E"/>
              </a:solidFill>
            </a:endParaRPr>
          </a:p>
          <a:p>
            <a:pPr marL="457200" lvl="0" indent="0" algn="l" rtl="0">
              <a:spcBef>
                <a:spcPts val="0"/>
              </a:spcBef>
              <a:spcAft>
                <a:spcPts val="0"/>
              </a:spcAft>
              <a:buClr>
                <a:schemeClr val="dk1"/>
              </a:buClr>
              <a:buSzPts val="1100"/>
              <a:buFont typeface="Arial"/>
              <a:buNone/>
            </a:pPr>
            <a:endParaRPr sz="1500" dirty="0"/>
          </a:p>
          <a:p>
            <a:pPr marL="0" lvl="0" indent="0" algn="l" rtl="0">
              <a:spcBef>
                <a:spcPts val="1200"/>
              </a:spcBef>
              <a:spcAft>
                <a:spcPts val="1200"/>
              </a:spcAft>
              <a:buNone/>
            </a:pPr>
            <a:endParaRPr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32"/>
          <p:cNvSpPr txBox="1">
            <a:spLocks noGrp="1"/>
          </p:cNvSpPr>
          <p:nvPr>
            <p:ph type="title"/>
          </p:nvPr>
        </p:nvSpPr>
        <p:spPr>
          <a:xfrm>
            <a:off x="311700" y="2490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solidFill>
                  <a:schemeClr val="accent6">
                    <a:lumMod val="75000"/>
                  </a:schemeClr>
                </a:solidFill>
              </a:rPr>
              <a:t>Implementing the SUCCESS Project cont.</a:t>
            </a:r>
            <a:endParaRPr dirty="0">
              <a:solidFill>
                <a:schemeClr val="accent6">
                  <a:lumMod val="75000"/>
                </a:schemeClr>
              </a:solidFill>
            </a:endParaRPr>
          </a:p>
        </p:txBody>
      </p:sp>
      <p:sp>
        <p:nvSpPr>
          <p:cNvPr id="295" name="Google Shape;295;p32"/>
          <p:cNvSpPr txBox="1">
            <a:spLocks noGrp="1"/>
          </p:cNvSpPr>
          <p:nvPr>
            <p:ph type="body" idx="1"/>
          </p:nvPr>
        </p:nvSpPr>
        <p:spPr>
          <a:xfrm>
            <a:off x="359826" y="821776"/>
            <a:ext cx="8241300" cy="3798350"/>
          </a:xfrm>
          <a:prstGeom prst="rect">
            <a:avLst/>
          </a:prstGeom>
        </p:spPr>
        <p:txBody>
          <a:bodyPr spcFirstLastPara="1" wrap="square" lIns="91425" tIns="91425" rIns="91425" bIns="91425" anchor="t" anchorCtr="0">
            <a:noAutofit/>
          </a:bodyPr>
          <a:lstStyle/>
          <a:p>
            <a:pPr marL="0" lvl="0" indent="0" algn="l" rtl="0">
              <a:lnSpc>
                <a:spcPct val="150000"/>
              </a:lnSpc>
              <a:spcAft>
                <a:spcPts val="0"/>
              </a:spcAft>
              <a:buClr>
                <a:schemeClr val="dk1"/>
              </a:buClr>
              <a:buSzPts val="1100"/>
              <a:buFont typeface="Arial"/>
              <a:buNone/>
            </a:pPr>
            <a:r>
              <a:rPr lang="en-US" b="1" dirty="0">
                <a:solidFill>
                  <a:schemeClr val="accent2"/>
                </a:solidFill>
              </a:rPr>
              <a:t>Tips:</a:t>
            </a:r>
          </a:p>
          <a:p>
            <a:pPr marL="285750" lvl="0" indent="-285750" algn="l" rtl="0">
              <a:lnSpc>
                <a:spcPct val="150000"/>
              </a:lnSpc>
              <a:spcAft>
                <a:spcPts val="0"/>
              </a:spcAft>
              <a:buClr>
                <a:schemeClr val="dk1"/>
              </a:buClr>
              <a:buSzPts val="1100"/>
              <a:buFont typeface="Arial" panose="020B0604020202020204" pitchFamily="34" charset="0"/>
              <a:buChar char="•"/>
            </a:pPr>
            <a:r>
              <a:rPr lang="en-US" dirty="0">
                <a:solidFill>
                  <a:srgbClr val="002D5E"/>
                </a:solidFill>
              </a:rPr>
              <a:t>Redeployment of bladder scanners and </a:t>
            </a:r>
            <a:r>
              <a:rPr lang="en-US" dirty="0" err="1">
                <a:solidFill>
                  <a:srgbClr val="002D5E"/>
                </a:solidFill>
              </a:rPr>
              <a:t>Coude</a:t>
            </a:r>
            <a:r>
              <a:rPr lang="en-US" dirty="0">
                <a:solidFill>
                  <a:srgbClr val="002D5E"/>
                </a:solidFill>
              </a:rPr>
              <a:t> catheters to areas of highest need</a:t>
            </a:r>
          </a:p>
          <a:p>
            <a:pPr marL="285750" lvl="0" indent="-285750" algn="l" rtl="0">
              <a:lnSpc>
                <a:spcPct val="150000"/>
              </a:lnSpc>
              <a:spcAft>
                <a:spcPts val="0"/>
              </a:spcAft>
              <a:buClr>
                <a:schemeClr val="dk1"/>
              </a:buClr>
              <a:buSzPts val="1100"/>
              <a:buFont typeface="Arial" panose="020B0604020202020204" pitchFamily="34" charset="0"/>
              <a:buChar char="•"/>
            </a:pPr>
            <a:r>
              <a:rPr lang="en-US" dirty="0">
                <a:solidFill>
                  <a:srgbClr val="002D5E"/>
                </a:solidFill>
              </a:rPr>
              <a:t>Implementation of a Difficult Catheter Care Kit to targeted units </a:t>
            </a:r>
          </a:p>
          <a:p>
            <a:pPr marL="285750" lvl="0" indent="-285750" algn="l" rtl="0">
              <a:lnSpc>
                <a:spcPct val="150000"/>
              </a:lnSpc>
              <a:spcAft>
                <a:spcPts val="0"/>
              </a:spcAft>
              <a:buClr>
                <a:schemeClr val="dk1"/>
              </a:buClr>
              <a:buSzPts val="1100"/>
              <a:buFont typeface="Arial" panose="020B0604020202020204" pitchFamily="34" charset="0"/>
              <a:buChar char="•"/>
            </a:pPr>
            <a:r>
              <a:rPr lang="en-US" dirty="0">
                <a:solidFill>
                  <a:srgbClr val="002D5E"/>
                </a:solidFill>
              </a:rPr>
              <a:t>Catheter blitz to introduce toolkit</a:t>
            </a:r>
          </a:p>
          <a:p>
            <a:pPr marL="285750" lvl="0" indent="-285750" algn="l" rtl="0">
              <a:lnSpc>
                <a:spcPct val="150000"/>
              </a:lnSpc>
              <a:spcAft>
                <a:spcPts val="0"/>
              </a:spcAft>
              <a:buClr>
                <a:schemeClr val="dk1"/>
              </a:buClr>
              <a:buSzPts val="1100"/>
              <a:buFont typeface="Arial" panose="020B0604020202020204" pitchFamily="34" charset="0"/>
              <a:buChar char="•"/>
            </a:pPr>
            <a:r>
              <a:rPr lang="en-US" dirty="0">
                <a:solidFill>
                  <a:srgbClr val="002D5E"/>
                </a:solidFill>
              </a:rPr>
              <a:t>Monthly stakeholder meeting</a:t>
            </a:r>
          </a:p>
          <a:p>
            <a:pPr marL="285750" lvl="0" indent="-285750" algn="l" rtl="0">
              <a:lnSpc>
                <a:spcPct val="150000"/>
              </a:lnSpc>
              <a:spcAft>
                <a:spcPts val="0"/>
              </a:spcAft>
              <a:buClr>
                <a:schemeClr val="dk1"/>
              </a:buClr>
              <a:buSzPts val="1100"/>
              <a:buFont typeface="Arial" panose="020B0604020202020204" pitchFamily="34" charset="0"/>
              <a:buChar char="•"/>
            </a:pPr>
            <a:r>
              <a:rPr lang="en-US" dirty="0">
                <a:solidFill>
                  <a:srgbClr val="002D5E"/>
                </a:solidFill>
              </a:rPr>
              <a:t>Introduce project to ED</a:t>
            </a:r>
          </a:p>
          <a:p>
            <a:pPr marL="285750" lvl="0" indent="-285750" algn="l" rtl="0">
              <a:lnSpc>
                <a:spcPct val="150000"/>
              </a:lnSpc>
              <a:spcAft>
                <a:spcPts val="0"/>
              </a:spcAft>
              <a:buClr>
                <a:schemeClr val="dk1"/>
              </a:buClr>
              <a:buSzPts val="1100"/>
              <a:buFont typeface="Arial" panose="020B0604020202020204" pitchFamily="34" charset="0"/>
              <a:buChar char="•"/>
            </a:pPr>
            <a:r>
              <a:rPr lang="en-US" dirty="0">
                <a:solidFill>
                  <a:srgbClr val="002D5E"/>
                </a:solidFill>
              </a:rPr>
              <a:t>Hang posters in surgical rooms</a:t>
            </a:r>
          </a:p>
          <a:p>
            <a:pPr marL="285750" lvl="0" indent="-285750" algn="l" rtl="0">
              <a:lnSpc>
                <a:spcPct val="150000"/>
              </a:lnSpc>
              <a:spcAft>
                <a:spcPts val="0"/>
              </a:spcAft>
              <a:buClr>
                <a:schemeClr val="dk1"/>
              </a:buClr>
              <a:buSzPts val="1100"/>
              <a:buFont typeface="Arial" panose="020B0604020202020204" pitchFamily="34" charset="0"/>
              <a:buChar char="•"/>
            </a:pPr>
            <a:r>
              <a:rPr lang="en-US" dirty="0">
                <a:solidFill>
                  <a:srgbClr val="002D5E"/>
                </a:solidFill>
              </a:rPr>
              <a:t>Keep Urinary Retention and Safe Catheter Insertion Algorithm and 10 Practical Tips for Safe Urinary Catheter Insertion Booklet at nurse stations</a:t>
            </a:r>
            <a:endParaRPr lang="en-US" b="1" dirty="0"/>
          </a:p>
          <a:p>
            <a:pPr marL="0" lvl="0" indent="0" algn="l" rtl="0">
              <a:lnSpc>
                <a:spcPct val="150000"/>
              </a:lnSpc>
              <a:spcAft>
                <a:spcPts val="0"/>
              </a:spcAft>
              <a:buNone/>
            </a:pPr>
            <a:r>
              <a:rPr lang="en-US" b="1" dirty="0">
                <a:solidFill>
                  <a:schemeClr val="accent2"/>
                </a:solidFill>
              </a:rPr>
              <a:t>Share your data:</a:t>
            </a:r>
          </a:p>
          <a:p>
            <a:pPr marL="285750" lvl="0" indent="-285750" algn="l" rtl="0">
              <a:lnSpc>
                <a:spcPct val="150000"/>
              </a:lnSpc>
              <a:spcAft>
                <a:spcPts val="0"/>
              </a:spcAft>
              <a:buFont typeface="Arial" panose="020B0604020202020204" pitchFamily="34" charset="0"/>
              <a:buChar char="•"/>
            </a:pPr>
            <a:r>
              <a:rPr lang="en-US" dirty="0">
                <a:solidFill>
                  <a:srgbClr val="002D5E"/>
                </a:solidFill>
              </a:rPr>
              <a:t>Distribute your SUCCESS data to your leaders and frontline clinicians</a:t>
            </a:r>
            <a:endParaRPr sz="1500" dirty="0"/>
          </a:p>
          <a:p>
            <a:pPr marL="0" lvl="0" indent="0" algn="l" rtl="0">
              <a:spcBef>
                <a:spcPts val="1200"/>
              </a:spcBef>
              <a:spcAft>
                <a:spcPts val="1200"/>
              </a:spcAft>
              <a:buNone/>
            </a:pPr>
            <a:endParaRPr sz="1500" dirty="0"/>
          </a:p>
        </p:txBody>
      </p:sp>
    </p:spTree>
    <p:extLst>
      <p:ext uri="{BB962C8B-B14F-4D97-AF65-F5344CB8AC3E}">
        <p14:creationId xmlns:p14="http://schemas.microsoft.com/office/powerpoint/2010/main" val="31582351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FAF1ABB-C055-152F-B7B0-9C28E3164E34}"/>
              </a:ext>
            </a:extLst>
          </p:cNvPr>
          <p:cNvSpPr>
            <a:spLocks noGrp="1"/>
          </p:cNvSpPr>
          <p:nvPr>
            <p:ph type="title"/>
          </p:nvPr>
        </p:nvSpPr>
        <p:spPr>
          <a:xfrm>
            <a:off x="281121" y="1735985"/>
            <a:ext cx="3170224" cy="1172220"/>
          </a:xfrm>
        </p:spPr>
        <p:txBody>
          <a:bodyPr/>
          <a:lstStyle/>
          <a:p>
            <a:pPr algn="ctr"/>
            <a:r>
              <a:rPr lang="en-US" dirty="0"/>
              <a:t>SUCCESS Data Feedback Report</a:t>
            </a:r>
          </a:p>
        </p:txBody>
      </p:sp>
      <p:pic>
        <p:nvPicPr>
          <p:cNvPr id="8" name="Picture 7" descr="A close-up of a report&#10;&#10;Description automatically generated">
            <a:extLst>
              <a:ext uri="{FF2B5EF4-FFF2-40B4-BE49-F238E27FC236}">
                <a16:creationId xmlns:a16="http://schemas.microsoft.com/office/drawing/2014/main" id="{457654C6-2F97-F0D3-43FF-3957C29A09A6}"/>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3808687" y="110003"/>
            <a:ext cx="3974192" cy="5026622"/>
          </a:xfrm>
          <a:prstGeom prst="rect">
            <a:avLst/>
          </a:prstGeom>
        </p:spPr>
      </p:pic>
    </p:spTree>
    <p:extLst>
      <p:ext uri="{BB962C8B-B14F-4D97-AF65-F5344CB8AC3E}">
        <p14:creationId xmlns:p14="http://schemas.microsoft.com/office/powerpoint/2010/main" val="36123716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33"/>
          <p:cNvSpPr txBox="1">
            <a:spLocks noGrp="1"/>
          </p:cNvSpPr>
          <p:nvPr>
            <p:ph type="title"/>
          </p:nvPr>
        </p:nvSpPr>
        <p:spPr>
          <a:xfrm>
            <a:off x="210375" y="2852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dirty="0">
                <a:solidFill>
                  <a:schemeClr val="accent6">
                    <a:lumMod val="75000"/>
                  </a:schemeClr>
                </a:solidFill>
              </a:rPr>
              <a:t>In Conclusion: </a:t>
            </a:r>
            <a:endParaRPr b="1" dirty="0">
              <a:solidFill>
                <a:schemeClr val="accent6">
                  <a:lumMod val="75000"/>
                </a:schemeClr>
              </a:solidFill>
            </a:endParaRPr>
          </a:p>
        </p:txBody>
      </p:sp>
      <p:sp>
        <p:nvSpPr>
          <p:cNvPr id="301" name="Google Shape;301;p33"/>
          <p:cNvSpPr txBox="1">
            <a:spLocks noGrp="1"/>
          </p:cNvSpPr>
          <p:nvPr>
            <p:ph type="body" idx="1"/>
          </p:nvPr>
        </p:nvSpPr>
        <p:spPr>
          <a:prstGeom prst="rect">
            <a:avLst/>
          </a:prstGeom>
        </p:spPr>
        <p:txBody>
          <a:bodyPr spcFirstLastPara="1" wrap="square" lIns="91425" tIns="91425" rIns="91425" bIns="91425" anchor="t" anchorCtr="0">
            <a:normAutofit/>
          </a:bodyPr>
          <a:lstStyle/>
          <a:p>
            <a:pPr marL="577850" lvl="0" indent="-457200" algn="l" rtl="0">
              <a:spcBef>
                <a:spcPts val="0"/>
              </a:spcBef>
              <a:spcAft>
                <a:spcPts val="0"/>
              </a:spcAft>
              <a:buClr>
                <a:schemeClr val="accent6"/>
              </a:buClr>
              <a:buSzPct val="100000"/>
              <a:buFont typeface="+mj-lt"/>
              <a:buAutoNum type="arabicPeriod"/>
            </a:pPr>
            <a:r>
              <a:rPr lang="en" sz="1800" dirty="0">
                <a:solidFill>
                  <a:srgbClr val="002D5E"/>
                </a:solidFill>
              </a:rPr>
              <a:t>Explained why urinary catheter safety needs to be a priority now. </a:t>
            </a:r>
            <a:endParaRPr sz="1800" dirty="0">
              <a:solidFill>
                <a:srgbClr val="002D5E"/>
              </a:solidFill>
            </a:endParaRPr>
          </a:p>
          <a:p>
            <a:pPr marL="914400" lvl="0" indent="-457200" algn="l" rtl="0">
              <a:spcBef>
                <a:spcPts val="1200"/>
              </a:spcBef>
              <a:spcAft>
                <a:spcPts val="0"/>
              </a:spcAft>
              <a:buFont typeface="+mj-lt"/>
              <a:buAutoNum type="arabicPeriod"/>
            </a:pPr>
            <a:endParaRPr sz="1800" dirty="0">
              <a:solidFill>
                <a:srgbClr val="002D5E"/>
              </a:solidFill>
            </a:endParaRPr>
          </a:p>
          <a:p>
            <a:pPr marL="577850" lvl="0" indent="-457200" algn="l" rtl="0">
              <a:spcBef>
                <a:spcPts val="1200"/>
              </a:spcBef>
              <a:spcAft>
                <a:spcPts val="0"/>
              </a:spcAft>
              <a:buClr>
                <a:schemeClr val="accent6"/>
              </a:buClr>
              <a:buSzPct val="100000"/>
              <a:buFont typeface="+mj-lt"/>
              <a:buAutoNum type="arabicPeriod"/>
            </a:pPr>
            <a:r>
              <a:rPr lang="en" sz="1800" dirty="0">
                <a:solidFill>
                  <a:srgbClr val="002D5E"/>
                </a:solidFill>
              </a:rPr>
              <a:t>Discussed SUCCESS MSQC collaborative data about catheter safety and appropriateness.</a:t>
            </a:r>
            <a:endParaRPr sz="1800" dirty="0">
              <a:solidFill>
                <a:srgbClr val="FF0000"/>
              </a:solidFill>
            </a:endParaRPr>
          </a:p>
          <a:p>
            <a:pPr marL="914400" lvl="0" indent="-457200" algn="l" rtl="0">
              <a:spcBef>
                <a:spcPts val="1200"/>
              </a:spcBef>
              <a:spcAft>
                <a:spcPts val="0"/>
              </a:spcAft>
              <a:buFont typeface="+mj-lt"/>
              <a:buAutoNum type="arabicPeriod"/>
            </a:pPr>
            <a:endParaRPr sz="1800" dirty="0">
              <a:solidFill>
                <a:srgbClr val="002D5E"/>
              </a:solidFill>
            </a:endParaRPr>
          </a:p>
          <a:p>
            <a:pPr marL="577850" lvl="0" indent="-457200" algn="l" rtl="0">
              <a:spcBef>
                <a:spcPts val="1200"/>
              </a:spcBef>
              <a:spcAft>
                <a:spcPts val="0"/>
              </a:spcAft>
              <a:buClr>
                <a:schemeClr val="accent6"/>
              </a:buClr>
              <a:buSzPct val="100000"/>
              <a:buFont typeface="+mj-lt"/>
              <a:buAutoNum type="arabicPeriod"/>
            </a:pPr>
            <a:r>
              <a:rPr lang="en" sz="1800" dirty="0">
                <a:solidFill>
                  <a:srgbClr val="002D5E"/>
                </a:solidFill>
              </a:rPr>
              <a:t>Introduced SUCCESS toolkit items for reducing catheter use, optimize catheter insertion safety and improve the patient experience.</a:t>
            </a:r>
          </a:p>
        </p:txBody>
      </p:sp>
      <p:sp>
        <p:nvSpPr>
          <p:cNvPr id="302" name="Google Shape;302;p33"/>
          <p:cNvSpPr txBox="1"/>
          <p:nvPr/>
        </p:nvSpPr>
        <p:spPr>
          <a:xfrm>
            <a:off x="7825675" y="2972000"/>
            <a:ext cx="2649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5" name="Google Shape;315;p35"/>
          <p:cNvSpPr txBox="1">
            <a:spLocks noGrp="1"/>
          </p:cNvSpPr>
          <p:nvPr>
            <p:ph type="body" idx="1"/>
          </p:nvPr>
        </p:nvSpPr>
        <p:spPr>
          <a:xfrm>
            <a:off x="311700" y="1223783"/>
            <a:ext cx="8520600" cy="3187663"/>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sz="2000" b="1" dirty="0">
                <a:solidFill>
                  <a:schemeClr val="accent2"/>
                </a:solidFill>
              </a:rPr>
              <a:t>For additional information please contact:</a:t>
            </a:r>
          </a:p>
          <a:p>
            <a:pPr marL="0" lvl="0" indent="0" algn="l" rtl="0">
              <a:spcBef>
                <a:spcPts val="0"/>
              </a:spcBef>
              <a:spcAft>
                <a:spcPts val="0"/>
              </a:spcAft>
              <a:buClr>
                <a:schemeClr val="dk1"/>
              </a:buClr>
              <a:buSzPts val="1100"/>
              <a:buFont typeface="Arial"/>
              <a:buNone/>
            </a:pPr>
            <a:endParaRPr sz="2000" b="1" dirty="0">
              <a:solidFill>
                <a:schemeClr val="accent2"/>
              </a:solidFill>
            </a:endParaRPr>
          </a:p>
          <a:p>
            <a:pPr marL="0" lvl="0" indent="0" algn="l" rtl="0">
              <a:spcBef>
                <a:spcPts val="600"/>
              </a:spcBef>
              <a:spcAft>
                <a:spcPts val="600"/>
              </a:spcAft>
              <a:buClr>
                <a:schemeClr val="dk1"/>
              </a:buClr>
              <a:buSzPts val="1100"/>
              <a:buFont typeface="Arial"/>
              <a:buNone/>
            </a:pPr>
            <a:r>
              <a:rPr lang="en-US" sz="1600" dirty="0">
                <a:solidFill>
                  <a:srgbClr val="002D5E"/>
                </a:solidFill>
              </a:rPr>
              <a:t>SUCCESS:    Jennifer Meddings, MD, MSc		</a:t>
            </a:r>
            <a:r>
              <a:rPr lang="en-US" sz="1600" u="sng" dirty="0">
                <a:solidFill>
                  <a:srgbClr val="002D5E"/>
                </a:solidFill>
              </a:rPr>
              <a:t>meddings@med.umich.edu</a:t>
            </a:r>
          </a:p>
          <a:p>
            <a:pPr marL="0" lvl="0" indent="0" algn="l" rtl="0">
              <a:spcBef>
                <a:spcPts val="600"/>
              </a:spcBef>
              <a:spcAft>
                <a:spcPts val="600"/>
              </a:spcAft>
              <a:buClr>
                <a:schemeClr val="dk1"/>
              </a:buClr>
              <a:buSzPts val="1100"/>
              <a:buFont typeface="Arial"/>
              <a:buNone/>
            </a:pPr>
            <a:r>
              <a:rPr lang="en-US" sz="1600" dirty="0">
                <a:solidFill>
                  <a:srgbClr val="002D5E"/>
                </a:solidFill>
              </a:rPr>
              <a:t>			 Jessica Ameling, MPH				</a:t>
            </a:r>
            <a:r>
              <a:rPr lang="en-US" sz="1600" u="sng" dirty="0">
                <a:solidFill>
                  <a:srgbClr val="002D5E"/>
                </a:solidFill>
                <a:hlinkClick r:id="rId3">
                  <a:extLst>
                    <a:ext uri="{A12FA001-AC4F-418D-AE19-62706E023703}">
                      <ahyp:hlinkClr xmlns:ahyp="http://schemas.microsoft.com/office/drawing/2018/hyperlinkcolor" val="tx"/>
                    </a:ext>
                  </a:extLst>
                </a:hlinkClick>
              </a:rPr>
              <a:t>jameling@umich.edu</a:t>
            </a:r>
            <a:endParaRPr lang="en" sz="1600" dirty="0">
              <a:solidFill>
                <a:srgbClr val="002D5E"/>
              </a:solidFill>
            </a:endParaRPr>
          </a:p>
          <a:p>
            <a:pPr marL="0" lvl="0" indent="0" algn="l" rtl="0">
              <a:spcBef>
                <a:spcPts val="600"/>
              </a:spcBef>
              <a:spcAft>
                <a:spcPts val="600"/>
              </a:spcAft>
              <a:buClr>
                <a:schemeClr val="dk1"/>
              </a:buClr>
              <a:buSzPts val="1100"/>
              <a:buFont typeface="Arial"/>
              <a:buNone/>
            </a:pPr>
            <a:endParaRPr lang="en" sz="1600" dirty="0">
              <a:solidFill>
                <a:srgbClr val="002D5E"/>
              </a:solidFill>
            </a:endParaRPr>
          </a:p>
          <a:p>
            <a:pPr marL="0" lvl="0" indent="0" algn="l" rtl="0">
              <a:spcBef>
                <a:spcPts val="600"/>
              </a:spcBef>
              <a:spcAft>
                <a:spcPts val="600"/>
              </a:spcAft>
              <a:buClr>
                <a:schemeClr val="dk1"/>
              </a:buClr>
              <a:buSzPts val="1100"/>
              <a:buFont typeface="Arial"/>
              <a:buNone/>
            </a:pPr>
            <a:r>
              <a:rPr lang="en" sz="1600" dirty="0">
                <a:solidFill>
                  <a:srgbClr val="002D5E"/>
                </a:solidFill>
              </a:rPr>
              <a:t>MSQC:         Samantha Hendren, MD, MPH	</a:t>
            </a:r>
            <a:r>
              <a:rPr lang="en" sz="1600" u="sng" dirty="0">
                <a:solidFill>
                  <a:srgbClr val="002D5E"/>
                </a:solidFill>
                <a:hlinkClick r:id="rId4">
                  <a:extLst>
                    <a:ext uri="{A12FA001-AC4F-418D-AE19-62706E023703}">
                      <ahyp:hlinkClr xmlns:ahyp="http://schemas.microsoft.com/office/drawing/2018/hyperlinkcolor" val="tx"/>
                    </a:ext>
                  </a:extLst>
                </a:hlinkClick>
              </a:rPr>
              <a:t>hendren@med.umich.edu</a:t>
            </a:r>
            <a:endParaRPr sz="1600" dirty="0">
              <a:solidFill>
                <a:srgbClr val="002D5E"/>
              </a:solidFill>
            </a:endParaRPr>
          </a:p>
          <a:p>
            <a:pPr marL="0" lvl="0" indent="0" algn="l" rtl="0">
              <a:spcBef>
                <a:spcPts val="600"/>
              </a:spcBef>
              <a:spcAft>
                <a:spcPts val="600"/>
              </a:spcAft>
              <a:buClr>
                <a:schemeClr val="dk1"/>
              </a:buClr>
              <a:buSzPts val="1100"/>
              <a:buFont typeface="Arial"/>
              <a:buNone/>
            </a:pPr>
            <a:r>
              <a:rPr lang="en" sz="1600" dirty="0">
                <a:solidFill>
                  <a:srgbClr val="002D5E"/>
                </a:solidFill>
              </a:rPr>
              <a:t>                  Cheryl Rocker, MSN, RN			</a:t>
            </a:r>
            <a:r>
              <a:rPr lang="en" sz="1600" u="sng" dirty="0">
                <a:solidFill>
                  <a:srgbClr val="002D5E"/>
                </a:solidFill>
                <a:hlinkClick r:id="rId5">
                  <a:extLst>
                    <a:ext uri="{A12FA001-AC4F-418D-AE19-62706E023703}">
                      <ahyp:hlinkClr xmlns:ahyp="http://schemas.microsoft.com/office/drawing/2018/hyperlinkcolor" val="tx"/>
                    </a:ext>
                  </a:extLst>
                </a:hlinkClick>
              </a:rPr>
              <a:t>ccrocker@med.umich.edu</a:t>
            </a:r>
            <a:endParaRPr sz="1600" dirty="0">
              <a:solidFill>
                <a:srgbClr val="002D5E"/>
              </a:solidFill>
            </a:endParaRPr>
          </a:p>
        </p:txBody>
      </p:sp>
      <p:sp>
        <p:nvSpPr>
          <p:cNvPr id="3" name="Title 2">
            <a:extLst>
              <a:ext uri="{FF2B5EF4-FFF2-40B4-BE49-F238E27FC236}">
                <a16:creationId xmlns:a16="http://schemas.microsoft.com/office/drawing/2014/main" id="{A4D92F58-4FBA-3457-0A6A-31DD3C7D8D7B}"/>
              </a:ext>
            </a:extLst>
          </p:cNvPr>
          <p:cNvSpPr>
            <a:spLocks noGrp="1"/>
          </p:cNvSpPr>
          <p:nvPr>
            <p:ph type="title"/>
          </p:nvPr>
        </p:nvSpPr>
        <p:spPr/>
        <p:txBody>
          <a:bodyPr>
            <a:normAutofit fontScale="90000"/>
          </a:bodyPr>
          <a:lstStyle/>
          <a:p>
            <a:r>
              <a:rPr lang="en-US" dirty="0"/>
              <a:t>Questions?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7456A-CBD4-B12F-67ED-978A1F3BED3E}"/>
              </a:ext>
            </a:extLst>
          </p:cNvPr>
          <p:cNvSpPr>
            <a:spLocks noGrp="1"/>
          </p:cNvSpPr>
          <p:nvPr>
            <p:ph type="title"/>
          </p:nvPr>
        </p:nvSpPr>
        <p:spPr>
          <a:xfrm>
            <a:off x="263272" y="382290"/>
            <a:ext cx="8264237" cy="572700"/>
          </a:xfrm>
        </p:spPr>
        <p:txBody>
          <a:bodyPr>
            <a:normAutofit fontScale="90000"/>
          </a:bodyPr>
          <a:lstStyle/>
          <a:p>
            <a:r>
              <a:rPr lang="en-US" dirty="0"/>
              <a:t>THANK YOU!</a:t>
            </a:r>
          </a:p>
        </p:txBody>
      </p:sp>
      <p:sp>
        <p:nvSpPr>
          <p:cNvPr id="3" name="TextBox 2">
            <a:extLst>
              <a:ext uri="{FF2B5EF4-FFF2-40B4-BE49-F238E27FC236}">
                <a16:creationId xmlns:a16="http://schemas.microsoft.com/office/drawing/2014/main" id="{AE04B152-DB38-A070-1342-B29E86CE0D4E}"/>
              </a:ext>
            </a:extLst>
          </p:cNvPr>
          <p:cNvSpPr txBox="1"/>
          <p:nvPr/>
        </p:nvSpPr>
        <p:spPr>
          <a:xfrm>
            <a:off x="134117" y="3691546"/>
            <a:ext cx="1381913" cy="400110"/>
          </a:xfrm>
          <a:prstGeom prst="rect">
            <a:avLst/>
          </a:prstGeom>
          <a:noFill/>
        </p:spPr>
        <p:txBody>
          <a:bodyPr wrap="square" rtlCol="0">
            <a:spAutoFit/>
          </a:bodyPr>
          <a:lstStyle/>
          <a:p>
            <a:r>
              <a:rPr lang="en-US" sz="1100" dirty="0"/>
              <a:t>Jennifer Meddings</a:t>
            </a:r>
            <a:endParaRPr lang="en-US" sz="1000" dirty="0"/>
          </a:p>
          <a:p>
            <a:r>
              <a:rPr lang="en-US" sz="900" dirty="0">
                <a:solidFill>
                  <a:srgbClr val="000000"/>
                </a:solidFill>
              </a:rPr>
              <a:t>Principal Investigator</a:t>
            </a:r>
          </a:p>
        </p:txBody>
      </p:sp>
      <p:sp>
        <p:nvSpPr>
          <p:cNvPr id="4" name="TextBox 3">
            <a:extLst>
              <a:ext uri="{FF2B5EF4-FFF2-40B4-BE49-F238E27FC236}">
                <a16:creationId xmlns:a16="http://schemas.microsoft.com/office/drawing/2014/main" id="{ACA05F76-CE22-F3B7-92C9-CA038067E50E}"/>
              </a:ext>
            </a:extLst>
          </p:cNvPr>
          <p:cNvSpPr txBox="1"/>
          <p:nvPr/>
        </p:nvSpPr>
        <p:spPr>
          <a:xfrm>
            <a:off x="1751724" y="3691546"/>
            <a:ext cx="1650770" cy="400110"/>
          </a:xfrm>
          <a:prstGeom prst="rect">
            <a:avLst/>
          </a:prstGeom>
          <a:noFill/>
        </p:spPr>
        <p:txBody>
          <a:bodyPr wrap="square" rtlCol="0">
            <a:spAutoFit/>
          </a:bodyPr>
          <a:lstStyle/>
          <a:p>
            <a:r>
              <a:rPr lang="en-US" sz="1100" dirty="0"/>
              <a:t>Jessica Ameling</a:t>
            </a:r>
            <a:endParaRPr lang="en-US" sz="1000" dirty="0"/>
          </a:p>
          <a:p>
            <a:r>
              <a:rPr lang="en-US" sz="900" dirty="0">
                <a:solidFill>
                  <a:srgbClr val="000000"/>
                </a:solidFill>
              </a:rPr>
              <a:t>Project Manager</a:t>
            </a:r>
          </a:p>
        </p:txBody>
      </p:sp>
      <p:sp>
        <p:nvSpPr>
          <p:cNvPr id="5" name="TextBox 4">
            <a:extLst>
              <a:ext uri="{FF2B5EF4-FFF2-40B4-BE49-F238E27FC236}">
                <a16:creationId xmlns:a16="http://schemas.microsoft.com/office/drawing/2014/main" id="{C22DC469-0AD4-7836-A3FE-FDE2B4E865B6}"/>
              </a:ext>
            </a:extLst>
          </p:cNvPr>
          <p:cNvSpPr txBox="1"/>
          <p:nvPr/>
        </p:nvSpPr>
        <p:spPr>
          <a:xfrm>
            <a:off x="3418774" y="3698078"/>
            <a:ext cx="1684213" cy="400110"/>
          </a:xfrm>
          <a:prstGeom prst="rect">
            <a:avLst/>
          </a:prstGeom>
          <a:noFill/>
        </p:spPr>
        <p:txBody>
          <a:bodyPr wrap="square" rtlCol="0">
            <a:spAutoFit/>
          </a:bodyPr>
          <a:lstStyle/>
          <a:p>
            <a:r>
              <a:rPr lang="en-US" sz="1100" dirty="0"/>
              <a:t>Samantha Hendren</a:t>
            </a:r>
            <a:endParaRPr lang="en-US" sz="1000" dirty="0"/>
          </a:p>
          <a:p>
            <a:r>
              <a:rPr lang="en-US" sz="900" dirty="0">
                <a:solidFill>
                  <a:srgbClr val="000000"/>
                </a:solidFill>
              </a:rPr>
              <a:t>MSQC Associate Director</a:t>
            </a:r>
          </a:p>
        </p:txBody>
      </p:sp>
      <p:sp>
        <p:nvSpPr>
          <p:cNvPr id="8" name="TextBox 7">
            <a:extLst>
              <a:ext uri="{FF2B5EF4-FFF2-40B4-BE49-F238E27FC236}">
                <a16:creationId xmlns:a16="http://schemas.microsoft.com/office/drawing/2014/main" id="{2C6BA93C-B2CF-A49E-DC5C-18D9A02EAD74}"/>
              </a:ext>
            </a:extLst>
          </p:cNvPr>
          <p:cNvSpPr txBox="1"/>
          <p:nvPr/>
        </p:nvSpPr>
        <p:spPr>
          <a:xfrm>
            <a:off x="5100002" y="3697619"/>
            <a:ext cx="1808208" cy="400110"/>
          </a:xfrm>
          <a:prstGeom prst="rect">
            <a:avLst/>
          </a:prstGeom>
          <a:noFill/>
        </p:spPr>
        <p:txBody>
          <a:bodyPr wrap="square" rtlCol="0">
            <a:spAutoFit/>
          </a:bodyPr>
          <a:lstStyle/>
          <a:p>
            <a:r>
              <a:rPr lang="en-US" sz="1100" dirty="0"/>
              <a:t>Cheryl Rocker</a:t>
            </a:r>
            <a:endParaRPr lang="en-US" sz="1000" dirty="0"/>
          </a:p>
          <a:p>
            <a:r>
              <a:rPr lang="en-US" sz="900" dirty="0">
                <a:solidFill>
                  <a:srgbClr val="000000"/>
                </a:solidFill>
              </a:rPr>
              <a:t>MSQC Clinical Site Coordinator</a:t>
            </a:r>
          </a:p>
        </p:txBody>
      </p:sp>
      <p:sp>
        <p:nvSpPr>
          <p:cNvPr id="11" name="TextBox 10">
            <a:extLst>
              <a:ext uri="{FF2B5EF4-FFF2-40B4-BE49-F238E27FC236}">
                <a16:creationId xmlns:a16="http://schemas.microsoft.com/office/drawing/2014/main" id="{14967A25-446A-90F7-89BD-7C9735FC3A56}"/>
              </a:ext>
            </a:extLst>
          </p:cNvPr>
          <p:cNvSpPr txBox="1"/>
          <p:nvPr/>
        </p:nvSpPr>
        <p:spPr>
          <a:xfrm>
            <a:off x="6874315" y="3699427"/>
            <a:ext cx="1598693" cy="400110"/>
          </a:xfrm>
          <a:prstGeom prst="rect">
            <a:avLst/>
          </a:prstGeom>
          <a:noFill/>
        </p:spPr>
        <p:txBody>
          <a:bodyPr wrap="square" rtlCol="0">
            <a:spAutoFit/>
          </a:bodyPr>
          <a:lstStyle/>
          <a:p>
            <a:r>
              <a:rPr lang="en-US" sz="1100" dirty="0"/>
              <a:t>Jordan Young</a:t>
            </a:r>
            <a:endParaRPr lang="en-US" sz="1000" dirty="0"/>
          </a:p>
          <a:p>
            <a:r>
              <a:rPr lang="en-US" sz="900" dirty="0">
                <a:solidFill>
                  <a:srgbClr val="000000"/>
                </a:solidFill>
              </a:rPr>
              <a:t>MSQC Project Coordinator</a:t>
            </a:r>
          </a:p>
        </p:txBody>
      </p:sp>
      <p:pic>
        <p:nvPicPr>
          <p:cNvPr id="10" name="Picture 9" descr="A person in a white coat&#10;&#10;Description automatically generated">
            <a:extLst>
              <a:ext uri="{FF2B5EF4-FFF2-40B4-BE49-F238E27FC236}">
                <a16:creationId xmlns:a16="http://schemas.microsoft.com/office/drawing/2014/main" id="{97A89A79-83AA-B012-1614-91631F44CEA0}"/>
              </a:ext>
            </a:extLst>
          </p:cNvPr>
          <p:cNvPicPr>
            <a:picLocks noChangeAspect="1"/>
          </p:cNvPicPr>
          <p:nvPr/>
        </p:nvPicPr>
        <p:blipFill rotWithShape="1">
          <a:blip r:embed="rId3"/>
          <a:srcRect l="17069" t="79" r="14214" b="-79"/>
          <a:stretch/>
        </p:blipFill>
        <p:spPr>
          <a:xfrm>
            <a:off x="3505712" y="1405546"/>
            <a:ext cx="1570869" cy="2286000"/>
          </a:xfrm>
          <a:prstGeom prst="rect">
            <a:avLst/>
          </a:prstGeom>
        </p:spPr>
      </p:pic>
      <p:pic>
        <p:nvPicPr>
          <p:cNvPr id="13" name="Picture 12" descr="A person smiling at the camera&#10;&#10;Description automatically generated">
            <a:extLst>
              <a:ext uri="{FF2B5EF4-FFF2-40B4-BE49-F238E27FC236}">
                <a16:creationId xmlns:a16="http://schemas.microsoft.com/office/drawing/2014/main" id="{BA9F0998-702C-7F1A-3A30-F03F8DED5501}"/>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6888228" y="1412078"/>
            <a:ext cx="1570869" cy="2286000"/>
          </a:xfrm>
          <a:prstGeom prst="rect">
            <a:avLst/>
          </a:prstGeom>
        </p:spPr>
      </p:pic>
      <p:pic>
        <p:nvPicPr>
          <p:cNvPr id="15" name="Picture 14" descr="A person taking a selfie&#10;&#10;Description automatically generated">
            <a:extLst>
              <a:ext uri="{FF2B5EF4-FFF2-40B4-BE49-F238E27FC236}">
                <a16:creationId xmlns:a16="http://schemas.microsoft.com/office/drawing/2014/main" id="{7BD2EA25-0D30-85A0-FCD9-56ED29980A57}"/>
              </a:ext>
            </a:extLst>
          </p:cNvPr>
          <p:cNvPicPr>
            <a:picLocks noChangeAspect="1"/>
          </p:cNvPicPr>
          <p:nvPr/>
        </p:nvPicPr>
        <p:blipFill rotWithShape="1">
          <a:blip r:embed="rId5" cstate="print">
            <a:extLst>
              <a:ext uri="{28A0092B-C50C-407E-A947-70E740481C1C}">
                <a14:useLocalDpi xmlns:a14="http://schemas.microsoft.com/office/drawing/2010/main"/>
              </a:ext>
            </a:extLst>
          </a:blip>
          <a:srcRect/>
          <a:stretch/>
        </p:blipFill>
        <p:spPr>
          <a:xfrm>
            <a:off x="1831625" y="1412078"/>
            <a:ext cx="1570869" cy="2286000"/>
          </a:xfrm>
          <a:prstGeom prst="rect">
            <a:avLst/>
          </a:prstGeom>
        </p:spPr>
      </p:pic>
      <p:pic>
        <p:nvPicPr>
          <p:cNvPr id="17" name="Picture 16" descr="A person in a black suit&#10;&#10;Description automatically generated">
            <a:extLst>
              <a:ext uri="{FF2B5EF4-FFF2-40B4-BE49-F238E27FC236}">
                <a16:creationId xmlns:a16="http://schemas.microsoft.com/office/drawing/2014/main" id="{2C13EC39-CC44-4F92-E2D1-EB0F8DE1F80F}"/>
              </a:ext>
            </a:extLst>
          </p:cNvPr>
          <p:cNvPicPr>
            <a:picLocks noChangeAspect="1"/>
          </p:cNvPicPr>
          <p:nvPr/>
        </p:nvPicPr>
        <p:blipFill rotWithShape="1">
          <a:blip r:embed="rId6" cstate="print">
            <a:extLst>
              <a:ext uri="{28A0092B-C50C-407E-A947-70E740481C1C}">
                <a14:useLocalDpi xmlns:a14="http://schemas.microsoft.com/office/drawing/2010/main"/>
              </a:ext>
            </a:extLst>
          </a:blip>
          <a:srcRect/>
          <a:stretch/>
        </p:blipFill>
        <p:spPr>
          <a:xfrm>
            <a:off x="171340" y="1412078"/>
            <a:ext cx="1570869" cy="2286000"/>
          </a:xfrm>
          <a:prstGeom prst="rect">
            <a:avLst/>
          </a:prstGeom>
        </p:spPr>
      </p:pic>
      <p:pic>
        <p:nvPicPr>
          <p:cNvPr id="19" name="Picture 18" descr="A person with blonde hair wearing a black shirt and grey jacket&#10;&#10;Description automatically generated">
            <a:extLst>
              <a:ext uri="{FF2B5EF4-FFF2-40B4-BE49-F238E27FC236}">
                <a16:creationId xmlns:a16="http://schemas.microsoft.com/office/drawing/2014/main" id="{1C8FAE0E-9018-8A37-DC70-92520A1ABE18}"/>
              </a:ext>
            </a:extLst>
          </p:cNvPr>
          <p:cNvPicPr>
            <a:picLocks noChangeAspect="1"/>
          </p:cNvPicPr>
          <p:nvPr/>
        </p:nvPicPr>
        <p:blipFill rotWithShape="1">
          <a:blip r:embed="rId7" cstate="print">
            <a:extLst>
              <a:ext uri="{28A0092B-C50C-407E-A947-70E740481C1C}">
                <a14:useLocalDpi xmlns:a14="http://schemas.microsoft.com/office/drawing/2010/main"/>
              </a:ext>
            </a:extLst>
          </a:blip>
          <a:srcRect/>
          <a:stretch/>
        </p:blipFill>
        <p:spPr>
          <a:xfrm>
            <a:off x="5196970" y="1405546"/>
            <a:ext cx="1570869" cy="2286000"/>
          </a:xfrm>
          <a:prstGeom prst="rect">
            <a:avLst/>
          </a:prstGeom>
        </p:spPr>
      </p:pic>
    </p:spTree>
    <p:extLst>
      <p:ext uri="{BB962C8B-B14F-4D97-AF65-F5344CB8AC3E}">
        <p14:creationId xmlns:p14="http://schemas.microsoft.com/office/powerpoint/2010/main" val="129460858"/>
      </p:ext>
    </p:extLst>
  </p:cSld>
  <p:clrMapOvr>
    <a:masterClrMapping/>
  </p:clrMapOvr>
</p:sld>
</file>

<file path=ppt/theme/theme1.xml><?xml version="1.0" encoding="utf-8"?>
<a:theme xmlns:a="http://schemas.openxmlformats.org/drawingml/2006/main" name="Facet">
  <a:themeElements>
    <a:clrScheme name="Custom 35">
      <a:dk1>
        <a:srgbClr val="124163"/>
      </a:dk1>
      <a:lt1>
        <a:sysClr val="window" lastClr="FFFFFF"/>
      </a:lt1>
      <a:dk2>
        <a:srgbClr val="578793"/>
      </a:dk2>
      <a:lt2>
        <a:srgbClr val="CEDBE6"/>
      </a:lt2>
      <a:accent1>
        <a:srgbClr val="124163"/>
      </a:accent1>
      <a:accent2>
        <a:srgbClr val="58B6C0"/>
      </a:accent2>
      <a:accent3>
        <a:srgbClr val="75BDA7"/>
      </a:accent3>
      <a:accent4>
        <a:srgbClr val="7A8C8E"/>
      </a:accent4>
      <a:accent5>
        <a:srgbClr val="84ACB6"/>
      </a:accent5>
      <a:accent6>
        <a:srgbClr val="1C6294"/>
      </a:accent6>
      <a:hlink>
        <a:srgbClr val="6B9F25"/>
      </a:hlink>
      <a:folHlink>
        <a:srgbClr val="FFC000"/>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TM02900688[[fn=Facet]]</Template>
  <TotalTime>1705</TotalTime>
  <Words>2562</Words>
  <Application>Microsoft Office PowerPoint</Application>
  <PresentationFormat>On-screen Show (16:9)</PresentationFormat>
  <Paragraphs>284</Paragraphs>
  <Slides>26</Slides>
  <Notes>20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Calibri</vt:lpstr>
      <vt:lpstr>Wingdings 3</vt:lpstr>
      <vt:lpstr>Trebuchet MS</vt:lpstr>
      <vt:lpstr>Arial</vt:lpstr>
      <vt:lpstr>Wingdings</vt:lpstr>
      <vt:lpstr>Roboto</vt:lpstr>
      <vt:lpstr>Facet</vt:lpstr>
      <vt:lpstr>Michigan Surgical Quality Collaborative:  SUCCESS Performance Improvement Project  Project Kick-off Video January 2024</vt:lpstr>
      <vt:lpstr>PowerPoint Presentation</vt:lpstr>
      <vt:lpstr>Purpose of this presentation: </vt:lpstr>
      <vt:lpstr> Why urinary catheter safety needs to be a priority now</vt:lpstr>
      <vt:lpstr>Bottom line:</vt:lpstr>
      <vt:lpstr>Meet Mr. Hurt and Mr. Fine: Identical Patients at Two Different Hospitals </vt:lpstr>
      <vt:lpstr>Mr. Fine </vt:lpstr>
      <vt:lpstr>What do we know about Catheter Appropriateness ?</vt:lpstr>
      <vt:lpstr>What do we know about Catheter Complications &amp; Injury? </vt:lpstr>
      <vt:lpstr>What do we know about Postoperative Urinary Retention (POUR) ? </vt:lpstr>
      <vt:lpstr>2023 SUCCESS Data</vt:lpstr>
      <vt:lpstr>Mr. Fine </vt:lpstr>
      <vt:lpstr>How we can reduce unnecessary catheter use, optimize catheter insertion safety and improve the patient experience?</vt:lpstr>
      <vt:lpstr>Strategies to enhance catheter appropriateness and safety: </vt:lpstr>
      <vt:lpstr>MSQC SUCCESS Key Toolkit Components</vt:lpstr>
      <vt:lpstr>Perioperative Urinary Catheter Use Guide (MAP Poster)</vt:lpstr>
      <vt:lpstr>Urinary Retention and Safe Catheter Insertion Algorithm</vt:lpstr>
      <vt:lpstr>Algorithm for  Voiding Trials</vt:lpstr>
      <vt:lpstr>10 Practical Tips for Safe Urinary Catheter Insertion Booklet</vt:lpstr>
      <vt:lpstr>Coude Catheter insertion Video</vt:lpstr>
      <vt:lpstr>Implementing the SUCCESS Project</vt:lpstr>
      <vt:lpstr>Implementing the SUCCESS Project cont.</vt:lpstr>
      <vt:lpstr>SUCCESS Data Feedback Report</vt:lpstr>
      <vt:lpstr>In Conclusion: </vt:lpstr>
      <vt:lpstr>Questions?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Michigan Surgical Quality Collaborative:  Performance Improvement Project</dc:title>
  <dc:creator>Krapohl, Greta</dc:creator>
  <cp:lastModifiedBy>Engle, Jason</cp:lastModifiedBy>
  <cp:revision>35</cp:revision>
  <dcterms:modified xsi:type="dcterms:W3CDTF">2026-09-18T21:09:52Z</dcterms:modified>
</cp:coreProperties>
</file>